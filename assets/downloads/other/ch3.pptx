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6"/>
  </p:notesMasterIdLst>
  <p:handoutMasterIdLst>
    <p:handoutMasterId r:id="rId87"/>
  </p:handoutMasterIdLst>
  <p:sldIdLst>
    <p:sldId id="335" r:id="rId2"/>
    <p:sldId id="336" r:id="rId3"/>
    <p:sldId id="338" r:id="rId4"/>
    <p:sldId id="339" r:id="rId5"/>
    <p:sldId id="340" r:id="rId6"/>
    <p:sldId id="405" r:id="rId7"/>
    <p:sldId id="341" r:id="rId8"/>
    <p:sldId id="342" r:id="rId9"/>
    <p:sldId id="406" r:id="rId10"/>
    <p:sldId id="343" r:id="rId11"/>
    <p:sldId id="344" r:id="rId12"/>
    <p:sldId id="345" r:id="rId13"/>
    <p:sldId id="407" r:id="rId14"/>
    <p:sldId id="346" r:id="rId15"/>
    <p:sldId id="347" r:id="rId16"/>
    <p:sldId id="348" r:id="rId17"/>
    <p:sldId id="408" r:id="rId18"/>
    <p:sldId id="349" r:id="rId19"/>
    <p:sldId id="350" r:id="rId20"/>
    <p:sldId id="351" r:id="rId21"/>
    <p:sldId id="352" r:id="rId22"/>
    <p:sldId id="353" r:id="rId23"/>
    <p:sldId id="354" r:id="rId24"/>
    <p:sldId id="409" r:id="rId25"/>
    <p:sldId id="356" r:id="rId26"/>
    <p:sldId id="410" r:id="rId27"/>
    <p:sldId id="357" r:id="rId28"/>
    <p:sldId id="411" r:id="rId29"/>
    <p:sldId id="358" r:id="rId30"/>
    <p:sldId id="412" r:id="rId31"/>
    <p:sldId id="413" r:id="rId32"/>
    <p:sldId id="359" r:id="rId33"/>
    <p:sldId id="414" r:id="rId34"/>
    <p:sldId id="403" r:id="rId35"/>
    <p:sldId id="361" r:id="rId36"/>
    <p:sldId id="362" r:id="rId37"/>
    <p:sldId id="415" r:id="rId38"/>
    <p:sldId id="363" r:id="rId39"/>
    <p:sldId id="364" r:id="rId40"/>
    <p:sldId id="365" r:id="rId41"/>
    <p:sldId id="366" r:id="rId42"/>
    <p:sldId id="367" r:id="rId43"/>
    <p:sldId id="404" r:id="rId44"/>
    <p:sldId id="370" r:id="rId45"/>
    <p:sldId id="417" r:id="rId46"/>
    <p:sldId id="418" r:id="rId47"/>
    <p:sldId id="371" r:id="rId48"/>
    <p:sldId id="402" r:id="rId49"/>
    <p:sldId id="373" r:id="rId50"/>
    <p:sldId id="374" r:id="rId51"/>
    <p:sldId id="375" r:id="rId52"/>
    <p:sldId id="377" r:id="rId53"/>
    <p:sldId id="416" r:id="rId54"/>
    <p:sldId id="380" r:id="rId55"/>
    <p:sldId id="419" r:id="rId56"/>
    <p:sldId id="424" r:id="rId57"/>
    <p:sldId id="381" r:id="rId58"/>
    <p:sldId id="425" r:id="rId59"/>
    <p:sldId id="420" r:id="rId60"/>
    <p:sldId id="426" r:id="rId61"/>
    <p:sldId id="427" r:id="rId62"/>
    <p:sldId id="428" r:id="rId63"/>
    <p:sldId id="421" r:id="rId64"/>
    <p:sldId id="382" r:id="rId65"/>
    <p:sldId id="422" r:id="rId66"/>
    <p:sldId id="423" r:id="rId67"/>
    <p:sldId id="383" r:id="rId68"/>
    <p:sldId id="384" r:id="rId69"/>
    <p:sldId id="429" r:id="rId70"/>
    <p:sldId id="385" r:id="rId71"/>
    <p:sldId id="430" r:id="rId72"/>
    <p:sldId id="386" r:id="rId73"/>
    <p:sldId id="387" r:id="rId74"/>
    <p:sldId id="431" r:id="rId75"/>
    <p:sldId id="388" r:id="rId76"/>
    <p:sldId id="389" r:id="rId77"/>
    <p:sldId id="391" r:id="rId78"/>
    <p:sldId id="392" r:id="rId79"/>
    <p:sldId id="432" r:id="rId80"/>
    <p:sldId id="393" r:id="rId81"/>
    <p:sldId id="394" r:id="rId82"/>
    <p:sldId id="395" r:id="rId83"/>
    <p:sldId id="396" r:id="rId84"/>
    <p:sldId id="433" r:id="rId85"/>
  </p:sldIdLst>
  <p:sldSz cx="9144000" cy="6858000" type="screen4x3"/>
  <p:notesSz cx="6997700" cy="9283700"/>
  <p:custShowLst>
    <p:custShow name="Custom Show 1" id="0">
      <p:sldLst>
        <p:sld r:id="rId2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2" autoAdjust="0"/>
    <p:restoredTop sz="95033" autoAdjust="0"/>
  </p:normalViewPr>
  <p:slideViewPr>
    <p:cSldViewPr snapToGrid="0">
      <p:cViewPr>
        <p:scale>
          <a:sx n="82" d="100"/>
          <a:sy n="82" d="100"/>
        </p:scale>
        <p:origin x="1320" y="72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handoutMaster" Target="handoutMasters/handout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5814F0E-33C5-4FFC-97A8-A1EDBAA0258F}" type="slidenum">
              <a:rPr lang="en-US" altLang="en-US" sz="1200"/>
              <a:pPr/>
              <a:t>2</a:t>
            </a:fld>
            <a:endParaRPr lang="en-US" altLang="en-US" sz="1200" dirty="0"/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9A28225-7E5D-4105-AF50-B66487E7EB00}" type="slidenum">
              <a:rPr lang="en-US" altLang="en-US" sz="1200"/>
              <a:pPr/>
              <a:t>3</a:t>
            </a:fld>
            <a:endParaRPr lang="en-US" altLang="en-US" sz="1200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9A28225-7E5D-4105-AF50-B66487E7EB00}" type="slidenum">
              <a:rPr lang="en-US" altLang="en-US" sz="1200"/>
              <a:pPr/>
              <a:t>4</a:t>
            </a:fld>
            <a:endParaRPr lang="en-US" altLang="en-US" sz="1200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20C9E32-697E-489A-B64D-FE4953CC062F}" type="slidenum">
              <a:rPr lang="en-US" altLang="en-US" sz="1200"/>
              <a:pPr/>
              <a:t>5</a:t>
            </a:fld>
            <a:endParaRPr lang="en-US" altLang="en-US" sz="1200" dirty="0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9813B39-7E0E-475A-9EBE-5ED71E411FC7}" type="slidenum">
              <a:rPr lang="en-US" altLang="en-US" sz="1200"/>
              <a:pPr/>
              <a:t>7</a:t>
            </a:fld>
            <a:endParaRPr lang="en-US" altLang="en-US" sz="1200" dirty="0"/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C57A01C-1044-4195-A3E2-2CD774BF6255}" type="slidenum">
              <a:rPr lang="en-US" altLang="en-US" sz="1200"/>
              <a:pPr/>
              <a:t>8</a:t>
            </a:fld>
            <a:endParaRPr lang="en-US" altLang="en-US" sz="1200" dirty="0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6A075BA-FDA7-450B-AD36-61344A2A677E}" type="slidenum">
              <a:rPr lang="en-US" altLang="en-US" sz="1200"/>
              <a:pPr/>
              <a:t>10</a:t>
            </a:fld>
            <a:endParaRPr lang="en-US" altLang="en-US" sz="1200" dirty="0"/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F20BED2-5EAE-4848-8443-B0063BF5F6F2}" type="slidenum">
              <a:rPr lang="en-US" altLang="en-US" sz="1200"/>
              <a:pPr/>
              <a:t>11</a:t>
            </a:fld>
            <a:endParaRPr lang="en-US" altLang="en-US" sz="1200" dirty="0"/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3B0D9D7-5294-4E39-8BC0-4C255919E226}" type="slidenum">
              <a:rPr lang="en-US" altLang="en-US" sz="1200"/>
              <a:pPr/>
              <a:t>12</a:t>
            </a:fld>
            <a:endParaRPr lang="en-US" altLang="en-US" sz="1200" dirty="0"/>
          </a:p>
        </p:txBody>
      </p:sp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BF508FA-5199-4AA3-8922-94158B684B67}" type="slidenum">
              <a:rPr lang="en-US" altLang="en-US" sz="1200"/>
              <a:pPr/>
              <a:t>14</a:t>
            </a:fld>
            <a:endParaRPr lang="en-US" altLang="en-US" sz="1200" dirty="0"/>
          </a:p>
        </p:txBody>
      </p:sp>
      <p:sp>
        <p:nvSpPr>
          <p:cNvPr id="81922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192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0D8CA25-AE75-4191-8B01-FE9755FBC192}" type="slidenum">
              <a:rPr lang="en-US" altLang="en-US" sz="1200"/>
              <a:pPr/>
              <a:t>15</a:t>
            </a:fld>
            <a:endParaRPr lang="en-US" altLang="en-US" sz="1200" dirty="0"/>
          </a:p>
        </p:txBody>
      </p:sp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4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8294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5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295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41C928F-F266-4AE9-9955-5DF263458FBB}" type="slidenum">
              <a:rPr lang="en-US" altLang="en-US" sz="1200"/>
              <a:pPr/>
              <a:t>16</a:t>
            </a:fld>
            <a:endParaRPr lang="en-US" altLang="en-US" sz="1200" dirty="0"/>
          </a:p>
        </p:txBody>
      </p:sp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397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FB4B8FB-1017-465D-AFBF-5BF5BCE81005}" type="slidenum">
              <a:rPr lang="en-US" altLang="en-US" sz="1200"/>
              <a:pPr/>
              <a:t>18</a:t>
            </a:fld>
            <a:endParaRPr lang="en-US" altLang="en-US" sz="1200" dirty="0"/>
          </a:p>
        </p:txBody>
      </p:sp>
      <p:sp>
        <p:nvSpPr>
          <p:cNvPr id="84994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4995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4997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499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499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E7B9E48-CE28-477B-AF14-CB4F875872B7}" type="slidenum">
              <a:rPr lang="en-US" altLang="en-US" sz="1200"/>
              <a:pPr/>
              <a:t>19</a:t>
            </a:fld>
            <a:endParaRPr lang="en-US" altLang="en-US" sz="1200" dirty="0"/>
          </a:p>
        </p:txBody>
      </p:sp>
      <p:sp>
        <p:nvSpPr>
          <p:cNvPr id="8601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1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8602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2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2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602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E067567-7C0E-4623-97F7-3AB1CFA84628}" type="slidenum">
              <a:rPr lang="en-US" altLang="en-US" sz="1200"/>
              <a:pPr/>
              <a:t>20</a:t>
            </a:fld>
            <a:endParaRPr lang="en-US" altLang="en-US" sz="1200" dirty="0"/>
          </a:p>
        </p:txBody>
      </p:sp>
      <p:sp>
        <p:nvSpPr>
          <p:cNvPr id="87042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704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6D0189D-E517-438B-9693-2812E02CF692}" type="slidenum">
              <a:rPr lang="en-US" altLang="en-US" sz="1200"/>
              <a:pPr/>
              <a:t>21</a:t>
            </a:fld>
            <a:endParaRPr lang="en-US" altLang="en-US" sz="1200" dirty="0"/>
          </a:p>
        </p:txBody>
      </p:sp>
      <p:sp>
        <p:nvSpPr>
          <p:cNvPr id="8806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806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806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807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807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6B19D27-1D9D-4EFF-A2A6-3367138C3034}" type="slidenum">
              <a:rPr lang="en-US" altLang="en-US" sz="1200"/>
              <a:pPr/>
              <a:t>22</a:t>
            </a:fld>
            <a:endParaRPr lang="en-US" altLang="en-US" sz="1200" dirty="0"/>
          </a:p>
        </p:txBody>
      </p:sp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0115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0117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011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011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0F971D5-882D-4233-A30D-FAEDE4CA6E84}" type="slidenum">
              <a:rPr lang="en-US" altLang="en-US" sz="1200"/>
              <a:pPr/>
              <a:t>23</a:t>
            </a:fld>
            <a:endParaRPr lang="en-US" altLang="en-US" sz="1200" dirty="0"/>
          </a:p>
        </p:txBody>
      </p:sp>
      <p:sp>
        <p:nvSpPr>
          <p:cNvPr id="9113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114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5B1299F-03B5-4909-AEBA-DE9BE8116957}" type="slidenum">
              <a:rPr lang="en-US" altLang="en-US" sz="1200"/>
              <a:pPr/>
              <a:t>25</a:t>
            </a:fld>
            <a:endParaRPr lang="en-US" altLang="en-US" sz="1200" dirty="0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27041A6-355E-4FC9-8067-194DB47AE9FB}" type="slidenum">
              <a:rPr lang="en-US" altLang="en-US" sz="1200"/>
              <a:pPr/>
              <a:t>27</a:t>
            </a:fld>
            <a:endParaRPr lang="en-US" altLang="en-US" sz="1200" dirty="0"/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364CC0D-9515-4095-81D0-8024523D9047}" type="slidenum">
              <a:rPr lang="en-US" altLang="en-US" sz="1200"/>
              <a:pPr/>
              <a:t>29</a:t>
            </a:fld>
            <a:endParaRPr lang="en-US" altLang="en-US" sz="1200" dirty="0"/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8E32C01-92A2-42F0-A723-C22E35C9436D}" type="slidenum">
              <a:rPr lang="en-US" altLang="en-US" sz="1200"/>
              <a:pPr/>
              <a:t>32</a:t>
            </a:fld>
            <a:endParaRPr lang="en-US" altLang="en-US" sz="1200" dirty="0"/>
          </a:p>
        </p:txBody>
      </p:sp>
      <p:sp>
        <p:nvSpPr>
          <p:cNvPr id="9625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5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9626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6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6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626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7AE236B-D748-4441-B842-77E0AEB2470B}" type="slidenum">
              <a:rPr lang="en-US" altLang="en-US" sz="1200"/>
              <a:pPr/>
              <a:t>34</a:t>
            </a:fld>
            <a:endParaRPr lang="en-US" altLang="en-US" sz="1200" dirty="0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23455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7AE236B-D748-4441-B842-77E0AEB2470B}" type="slidenum">
              <a:rPr lang="en-US" altLang="en-US" sz="1200"/>
              <a:pPr/>
              <a:t>35</a:t>
            </a:fld>
            <a:endParaRPr lang="en-US" altLang="en-US" sz="1200" dirty="0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6591C42-4AD5-4528-9EC3-61D5E9BDFCDD}" type="slidenum">
              <a:rPr lang="en-US" altLang="en-US" sz="1200"/>
              <a:pPr/>
              <a:t>36</a:t>
            </a:fld>
            <a:endParaRPr lang="en-US" altLang="en-US" sz="1200" dirty="0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9DCB16A-F829-4527-A43B-C46817CDE356}" type="slidenum">
              <a:rPr lang="en-US" altLang="en-US" sz="1200"/>
              <a:pPr/>
              <a:t>38</a:t>
            </a:fld>
            <a:endParaRPr lang="en-US" altLang="en-US" sz="1200" dirty="0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A527C20-D984-443D-9364-8D80E7D14902}" type="slidenum">
              <a:rPr lang="en-US" altLang="en-US" sz="1200"/>
              <a:pPr/>
              <a:t>39</a:t>
            </a:fld>
            <a:endParaRPr lang="en-US" altLang="en-US" sz="1200" dirty="0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43D6E09-C3BD-4C9F-8640-BDE33C2397BD}" type="slidenum">
              <a:rPr lang="en-US" altLang="en-US" sz="1200"/>
              <a:pPr/>
              <a:t>40</a:t>
            </a:fld>
            <a:endParaRPr lang="en-US" altLang="en-US" sz="1200" dirty="0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8E38463-D7D2-48E0-9845-AEDC12745945}" type="slidenum">
              <a:rPr lang="en-US" altLang="en-US" sz="1200"/>
              <a:pPr/>
              <a:t>41</a:t>
            </a:fld>
            <a:endParaRPr lang="en-US" altLang="en-US" sz="1200" dirty="0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E36DD89-DA79-48DA-B783-0C850F9C3712}" type="slidenum">
              <a:rPr lang="en-US" altLang="en-US" sz="1200"/>
              <a:pPr/>
              <a:t>42</a:t>
            </a:fld>
            <a:endParaRPr lang="en-US" altLang="en-US" sz="1200" dirty="0"/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79FF149-63CC-4DDD-8621-E03FD326541C}" type="slidenum">
              <a:rPr lang="en-US" altLang="en-US" sz="1200"/>
              <a:pPr/>
              <a:t>43</a:t>
            </a:fld>
            <a:endParaRPr lang="en-US" altLang="en-US" sz="1200" dirty="0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179882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619AA53-6FBE-47B1-A5A9-D4F7E2EB9003}" type="slidenum">
              <a:rPr lang="en-US" altLang="en-US" sz="1200"/>
              <a:pPr/>
              <a:t>44</a:t>
            </a:fld>
            <a:endParaRPr lang="en-US" altLang="en-US" sz="1200" dirty="0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47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02F3513-D1FE-453A-9D62-AB228D88B68A}" type="slidenum">
              <a:rPr lang="en-US" altLang="en-US" sz="1200"/>
              <a:pPr/>
              <a:t>48</a:t>
            </a:fld>
            <a:endParaRPr lang="en-US" altLang="en-US" sz="1200" dirty="0"/>
          </a:p>
        </p:txBody>
      </p:sp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FB0A469-9660-4019-8347-528B1BA28310}" type="slidenum">
              <a:rPr lang="en-US" altLang="en-US" sz="1200"/>
              <a:pPr/>
              <a:t>49</a:t>
            </a:fld>
            <a:endParaRPr lang="en-US" altLang="en-US" sz="1200" dirty="0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50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1EC66B5-496A-4DFA-A4FD-C9C9DB749726}" type="slidenum">
              <a:rPr lang="en-US" altLang="en-US" sz="1200"/>
              <a:pPr/>
              <a:t>51</a:t>
            </a:fld>
            <a:endParaRPr lang="en-US" altLang="en-US" sz="1200" dirty="0"/>
          </a:p>
        </p:txBody>
      </p:sp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587C772-E716-48B1-8B14-2B8B491527E1}" type="slidenum">
              <a:rPr lang="en-US" altLang="en-US" sz="1200"/>
              <a:pPr/>
              <a:t>52</a:t>
            </a:fld>
            <a:endParaRPr lang="en-US" altLang="en-US" sz="1200" dirty="0"/>
          </a:p>
        </p:txBody>
      </p:sp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0277F58-77E1-4C2D-AA8D-E0F71D072D2F}" type="slidenum">
              <a:rPr lang="en-US" altLang="en-US" sz="1200"/>
              <a:pPr/>
              <a:t>54</a:t>
            </a:fld>
            <a:endParaRPr lang="en-US" altLang="en-US" sz="1200" dirty="0"/>
          </a:p>
        </p:txBody>
      </p:sp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410D3E1-634F-440C-A0CF-65534204DEA9}" type="slidenum">
              <a:rPr lang="en-US" altLang="en-US" sz="1200"/>
              <a:pPr/>
              <a:t>57</a:t>
            </a:fld>
            <a:endParaRPr lang="en-US" altLang="en-US" sz="1200" dirty="0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IN" dirty="0"/>
              <a:t>Meaning of not exist: Keep the student if </a:t>
            </a:r>
            <a:r>
              <a:rPr lang="en-IN" b="1" dirty="0"/>
              <a:t>there does NOT EXIST any Biology course that the student has not taken. </a:t>
            </a:r>
          </a:p>
          <a:p>
            <a:r>
              <a:rPr lang="en-IN" b="1" dirty="0"/>
              <a:t>Query: </a:t>
            </a:r>
            <a:r>
              <a:rPr lang="en-IN" dirty="0"/>
              <a:t>For each student </a:t>
            </a:r>
            <a:r>
              <a:rPr lang="en-IN" sz="1200" kern="1200" dirty="0">
                <a:solidFill>
                  <a:schemeClr val="tx1"/>
                </a:solidFill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S</a:t>
            </a:r>
            <a:r>
              <a:rPr lang="en-IN" dirty="0"/>
              <a:t>, take the set of </a:t>
            </a:r>
            <a:r>
              <a:rPr lang="en-IN" b="1" dirty="0"/>
              <a:t>all Biology courses</a:t>
            </a:r>
            <a:r>
              <a:rPr lang="en-IN" dirty="0"/>
              <a:t> and subtract the courses </a:t>
            </a:r>
            <a:r>
              <a:rPr lang="en-IN" b="1" dirty="0"/>
              <a:t>taken by S</a:t>
            </a:r>
            <a:r>
              <a:rPr lang="en-IN" dirty="0"/>
              <a:t>. If </a:t>
            </a:r>
            <a:r>
              <a:rPr lang="en-IN" b="1" dirty="0"/>
              <a:t>nothing remains</a:t>
            </a:r>
            <a:r>
              <a:rPr lang="en-IN" dirty="0"/>
              <a:t>, select that student.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IN" altLang="en-US" dirty="0"/>
              <a:t>Query: </a:t>
            </a:r>
            <a:r>
              <a:rPr lang="en-IN" b="1" dirty="0"/>
              <a:t>Select a student if there is NO Biology course that the student is missing.</a:t>
            </a:r>
            <a:endParaRPr lang="en-IN" dirty="0"/>
          </a:p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56BC4-6083-272D-DB4B-5A0C054F0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7">
            <a:extLst>
              <a:ext uri="{FF2B5EF4-FFF2-40B4-BE49-F238E27FC236}">
                <a16:creationId xmlns:a16="http://schemas.microsoft.com/office/drawing/2014/main" id="{CAE02472-F0BD-4C2F-CD25-A9C4F469E5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410D3E1-634F-440C-A0CF-65534204DEA9}" type="slidenum">
              <a:rPr lang="en-US" altLang="en-US" sz="1200"/>
              <a:pPr/>
              <a:t>58</a:t>
            </a:fld>
            <a:endParaRPr lang="en-US" altLang="en-US" sz="1200" dirty="0"/>
          </a:p>
        </p:txBody>
      </p:sp>
      <p:sp>
        <p:nvSpPr>
          <p:cNvPr id="125954" name="Rectangle 2">
            <a:extLst>
              <a:ext uri="{FF2B5EF4-FFF2-40B4-BE49-F238E27FC236}">
                <a16:creationId xmlns:a16="http://schemas.microsoft.com/office/drawing/2014/main" id="{2D885D8C-9AB4-CBF0-C0B0-7F863A2DC9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A3340839-B94B-5806-9784-4945D97B8A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IN" dirty="0"/>
              <a:t>Meaning of not exist: Keep the student if </a:t>
            </a:r>
            <a:r>
              <a:rPr lang="en-IN" b="1" dirty="0"/>
              <a:t>there does NOT EXIST any Biology course that the student has not taken. </a:t>
            </a:r>
          </a:p>
          <a:p>
            <a:r>
              <a:rPr lang="en-IN" b="1" dirty="0"/>
              <a:t>Query: </a:t>
            </a:r>
            <a:r>
              <a:rPr lang="en-IN" dirty="0"/>
              <a:t>For each student </a:t>
            </a:r>
            <a:r>
              <a:rPr lang="en-IN" sz="1200" kern="1200" dirty="0">
                <a:solidFill>
                  <a:schemeClr val="tx1"/>
                </a:solidFill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S</a:t>
            </a:r>
            <a:r>
              <a:rPr lang="en-IN" dirty="0"/>
              <a:t>, take the set of </a:t>
            </a:r>
            <a:r>
              <a:rPr lang="en-IN" b="1" dirty="0"/>
              <a:t>all Biology courses</a:t>
            </a:r>
            <a:r>
              <a:rPr lang="en-IN" dirty="0"/>
              <a:t> and subtract the courses </a:t>
            </a:r>
            <a:r>
              <a:rPr lang="en-IN" b="1" dirty="0"/>
              <a:t>taken by S</a:t>
            </a:r>
            <a:r>
              <a:rPr lang="en-IN" dirty="0"/>
              <a:t>. If </a:t>
            </a:r>
            <a:r>
              <a:rPr lang="en-IN" b="1" dirty="0"/>
              <a:t>nothing remains</a:t>
            </a:r>
            <a:r>
              <a:rPr lang="en-IN" dirty="0"/>
              <a:t>, select that student.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IN" altLang="en-US" dirty="0"/>
              <a:t>Query: </a:t>
            </a:r>
            <a:r>
              <a:rPr lang="en-IN" b="1" dirty="0"/>
              <a:t>Select a student if there is NO Biology course that the student is missing.</a:t>
            </a:r>
            <a:endParaRPr lang="en-IN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2062852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44FBF46-7A78-4FD0-B340-062C348F6B65}" type="slidenum">
              <a:rPr lang="en-US" altLang="en-US" sz="1200"/>
              <a:pPr/>
              <a:t>64</a:t>
            </a:fld>
            <a:endParaRPr lang="en-US" altLang="en-US" sz="1200" dirty="0"/>
          </a:p>
        </p:txBody>
      </p:sp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67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9F5A96B-D536-4BD1-BFE1-FD6DBF117D8A}" type="slidenum">
              <a:rPr lang="en-US" altLang="en-US" sz="1200"/>
              <a:pPr/>
              <a:t>68</a:t>
            </a:fld>
            <a:endParaRPr lang="en-US" altLang="en-US" sz="1200" dirty="0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C40216D-0A9E-4598-BBBD-B7C39318A82C}" type="slidenum">
              <a:rPr lang="en-US" altLang="en-US" sz="1200"/>
              <a:pPr/>
              <a:t>70</a:t>
            </a:fld>
            <a:endParaRPr lang="en-US" altLang="en-US" sz="1200" dirty="0"/>
          </a:p>
        </p:txBody>
      </p:sp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28C80B3-281C-47A9-A6F3-980AD41E77DF}" type="slidenum">
              <a:rPr lang="en-US" altLang="en-US" sz="1200"/>
              <a:pPr/>
              <a:t>72</a:t>
            </a:fld>
            <a:endParaRPr lang="en-US" altLang="en-US" sz="1200" dirty="0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BD73B76-F558-45CE-871C-8466EA0D0DF2}" type="slidenum">
              <a:rPr lang="en-US" altLang="en-US" sz="1200"/>
              <a:pPr/>
              <a:t>75</a:t>
            </a:fld>
            <a:endParaRPr lang="en-US" altLang="en-US" sz="1200" dirty="0"/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85CE7E0-7666-4352-A4C1-28EF06861AC9}" type="slidenum">
              <a:rPr lang="en-US" altLang="en-US" sz="1200"/>
              <a:pPr/>
              <a:t>76</a:t>
            </a:fld>
            <a:endParaRPr lang="en-US" altLang="en-US" sz="1200" dirty="0"/>
          </a:p>
        </p:txBody>
      </p:sp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C1FEC76-0B84-458E-8A4E-B7ECCB6E1DCF}" type="slidenum">
              <a:rPr lang="en-US" altLang="en-US" sz="1200"/>
              <a:pPr/>
              <a:t>77</a:t>
            </a:fld>
            <a:endParaRPr lang="en-US" altLang="en-US" sz="1200" dirty="0"/>
          </a:p>
        </p:txBody>
      </p:sp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5F31BFB-CE80-49DF-B5B2-8D11C75DEDAB}" type="slidenum">
              <a:rPr lang="en-US" altLang="en-US" sz="1200"/>
              <a:pPr/>
              <a:t>78</a:t>
            </a:fld>
            <a:endParaRPr lang="en-US" altLang="en-US" sz="1200" dirty="0"/>
          </a:p>
        </p:txBody>
      </p:sp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0ED708-B857-4AA3-91E9-C395C0C34058}" type="slidenum">
              <a:rPr lang="en-US" altLang="en-US" sz="1200"/>
              <a:pPr/>
              <a:t>80</a:t>
            </a:fld>
            <a:endParaRPr lang="en-US" altLang="en-US" sz="1200" dirty="0"/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0ED708-B857-4AA3-91E9-C395C0C34058}" type="slidenum">
              <a:rPr lang="en-US" altLang="en-US" sz="1200"/>
              <a:pPr/>
              <a:t>81</a:t>
            </a:fld>
            <a:endParaRPr lang="en-US" altLang="en-US" sz="1200" dirty="0"/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5C62BF7-9C63-497B-BAE2-5CB77526CD21}" type="slidenum">
              <a:rPr lang="en-US" altLang="en-US" sz="1200"/>
              <a:pPr/>
              <a:t>82</a:t>
            </a:fld>
            <a:endParaRPr lang="en-US" altLang="en-US" sz="1200" dirty="0"/>
          </a:p>
        </p:txBody>
      </p:sp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D5F1561-909F-45CB-8FAD-BF76CD539810}" type="slidenum">
              <a:rPr lang="en-US" altLang="en-US" sz="1200"/>
              <a:pPr/>
              <a:t>83</a:t>
            </a:fld>
            <a:endParaRPr lang="en-US" altLang="en-US" sz="1200" dirty="0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8350" y="1093788"/>
            <a:ext cx="7707313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3" y="6613525"/>
            <a:ext cx="44755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3.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3: Introduction to 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Outline</a:t>
            </a:r>
          </a:p>
        </p:txBody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7464"/>
            <a:ext cx="7205218" cy="3542072"/>
          </a:xfrm>
        </p:spPr>
        <p:txBody>
          <a:bodyPr lIns="90488" tIns="44450" rIns="90488" bIns="44450"/>
          <a:lstStyle/>
          <a:p>
            <a:r>
              <a:rPr lang="en-US" altLang="en-US" sz="1700" dirty="0"/>
              <a:t>Overview of The SQL Query Language</a:t>
            </a:r>
          </a:p>
          <a:p>
            <a:r>
              <a:rPr lang="en-US" altLang="en-US" sz="1700" dirty="0"/>
              <a:t>SQL Data Definition</a:t>
            </a:r>
          </a:p>
          <a:p>
            <a:r>
              <a:rPr lang="en-US" altLang="en-US" sz="1700" dirty="0"/>
              <a:t>Basic Query Structure of SQL Queries</a:t>
            </a:r>
          </a:p>
          <a:p>
            <a:r>
              <a:rPr lang="en-US" altLang="en-US" sz="1700" dirty="0"/>
              <a:t>Additional Basic Operations</a:t>
            </a:r>
          </a:p>
          <a:p>
            <a:r>
              <a:rPr lang="en-US" altLang="en-US" sz="1700" dirty="0"/>
              <a:t>Set Operations</a:t>
            </a:r>
          </a:p>
          <a:p>
            <a:r>
              <a:rPr lang="en-US" altLang="en-US" sz="1700" dirty="0"/>
              <a:t>Null Values</a:t>
            </a:r>
          </a:p>
          <a:p>
            <a:r>
              <a:rPr lang="en-US" altLang="en-US" sz="1700" dirty="0"/>
              <a:t>Aggregate Functions</a:t>
            </a:r>
          </a:p>
          <a:p>
            <a:r>
              <a:rPr lang="en-US" altLang="en-US" sz="1700" dirty="0"/>
              <a:t>Nested Subqueries</a:t>
            </a:r>
          </a:p>
          <a:p>
            <a:r>
              <a:rPr lang="en-US" altLang="en-US" sz="1700" dirty="0"/>
              <a:t>Modification of the Database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SQL Parts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27933"/>
            <a:ext cx="7584043" cy="4920168"/>
          </a:xfrm>
        </p:spPr>
        <p:txBody>
          <a:bodyPr/>
          <a:lstStyle/>
          <a:p>
            <a:r>
              <a:rPr lang="en-US" altLang="en-US" sz="1700" dirty="0"/>
              <a:t>DML -- provides the ability to query information from the database and to insert tuples into, delete tuples from, and modify tuples in the database.</a:t>
            </a:r>
          </a:p>
          <a:p>
            <a:r>
              <a:rPr lang="en-US" altLang="en-US" sz="1700" dirty="0"/>
              <a:t>integrity – the  DDL includes commands for specifying integrity constraints.</a:t>
            </a:r>
          </a:p>
          <a:p>
            <a:r>
              <a:rPr lang="en-US" altLang="en-US" sz="1700" dirty="0"/>
              <a:t>View definition -- The DDL  includes commands for defining views.</a:t>
            </a:r>
          </a:p>
          <a:p>
            <a:r>
              <a:rPr lang="en-US" altLang="en-US" sz="1700" dirty="0"/>
              <a:t>Transaction control –includes commands for specifying the beginning and ending of transactions.</a:t>
            </a:r>
          </a:p>
          <a:p>
            <a:r>
              <a:rPr lang="en-US" altLang="en-US" sz="1700" dirty="0"/>
              <a:t>Embedded  SQL  and dynamic SQL -- define how SQL statements can be embedded within general-purpose programming languages.</a:t>
            </a:r>
          </a:p>
          <a:p>
            <a:r>
              <a:rPr lang="en-US" altLang="en-US" sz="1700" dirty="0"/>
              <a:t>Authorization – includes commands for specifying access rights to relations and views.</a:t>
            </a:r>
          </a:p>
          <a:p>
            <a:pPr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Data Definition Language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5320" y="1801115"/>
            <a:ext cx="7042361" cy="2563622"/>
          </a:xfrm>
        </p:spPr>
        <p:txBody>
          <a:bodyPr/>
          <a:lstStyle/>
          <a:p>
            <a:r>
              <a:rPr lang="en-US" altLang="en-US" sz="1700" dirty="0"/>
              <a:t>The schema for each relation.</a:t>
            </a:r>
          </a:p>
          <a:p>
            <a:r>
              <a:rPr lang="en-US" altLang="en-US" sz="1700" dirty="0"/>
              <a:t>The type of values associated with each attribute.</a:t>
            </a:r>
          </a:p>
          <a:p>
            <a:r>
              <a:rPr lang="en-US" altLang="en-US" sz="1700" dirty="0"/>
              <a:t>The Integrity constraints</a:t>
            </a:r>
          </a:p>
          <a:p>
            <a:r>
              <a:rPr lang="en-US" altLang="en-US" sz="1700" dirty="0"/>
              <a:t>The set of indices to be maintained for each relation.</a:t>
            </a:r>
          </a:p>
          <a:p>
            <a:r>
              <a:rPr lang="en-US" altLang="en-US" sz="1700" dirty="0"/>
              <a:t>Security and authorization information for each relation.</a:t>
            </a:r>
          </a:p>
          <a:p>
            <a:r>
              <a:rPr lang="en-US" altLang="en-US" sz="1700" dirty="0"/>
              <a:t>The physical storage structure of each relation on disk.</a:t>
            </a:r>
          </a:p>
        </p:txBody>
      </p: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768350" y="1115365"/>
            <a:ext cx="761217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700" dirty="0"/>
              <a:t>The SQL data-definition language (DDL) allows the specification of information about relations, including: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Domain Types in SQL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55256"/>
            <a:ext cx="7692898" cy="463594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char(n).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Fixed length character string, with user-specified length </a:t>
            </a:r>
            <a:r>
              <a:rPr lang="en-US" altLang="en-US" sz="1700" i="1" dirty="0"/>
              <a:t>n.</a:t>
            </a:r>
            <a:endParaRPr lang="en-US" altLang="en-US" sz="1700" dirty="0"/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varchar(n). 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Variable length character strings, with user-specified maximum length </a:t>
            </a:r>
            <a:r>
              <a:rPr lang="en-US" altLang="en-US" sz="1700" i="1" dirty="0"/>
              <a:t>n.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int.</a:t>
            </a:r>
            <a:r>
              <a:rPr lang="en-US" altLang="en-US" sz="1700" b="1" dirty="0"/>
              <a:t>  </a:t>
            </a:r>
            <a:r>
              <a:rPr lang="en-US" altLang="en-US" sz="1700" dirty="0"/>
              <a:t>Integer (a finite subset of the integers that is machine-dependent).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 err="1">
                <a:solidFill>
                  <a:srgbClr val="002060"/>
                </a:solidFill>
              </a:rPr>
              <a:t>smallint</a:t>
            </a:r>
            <a:r>
              <a:rPr lang="en-US" altLang="en-US" sz="1700" b="1" dirty="0">
                <a:solidFill>
                  <a:srgbClr val="002060"/>
                </a:solidFill>
              </a:rPr>
              <a:t>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Small integer (a machine-dependent subset of the integer domain type).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numeric(</a:t>
            </a:r>
            <a:r>
              <a:rPr lang="en-US" altLang="en-US" sz="1700" b="1" dirty="0" err="1">
                <a:solidFill>
                  <a:srgbClr val="002060"/>
                </a:solidFill>
              </a:rPr>
              <a:t>p,d</a:t>
            </a:r>
            <a:r>
              <a:rPr lang="en-US" altLang="en-US" sz="1700" b="1" dirty="0">
                <a:solidFill>
                  <a:srgbClr val="002060"/>
                </a:solidFill>
              </a:rPr>
              <a:t>).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Fixed point number, with user-specified precision of </a:t>
            </a:r>
            <a:r>
              <a:rPr lang="en-US" altLang="en-US" sz="1700" i="1" dirty="0"/>
              <a:t>p</a:t>
            </a:r>
            <a:r>
              <a:rPr lang="en-US" altLang="en-US" sz="1700" dirty="0"/>
              <a:t> digits, with </a:t>
            </a:r>
            <a:r>
              <a:rPr lang="en-US" altLang="en-US" sz="1700" i="1" dirty="0"/>
              <a:t>d</a:t>
            </a:r>
            <a:r>
              <a:rPr lang="en-US" altLang="en-US" sz="1700" dirty="0"/>
              <a:t> digits to the right of decimal point.  (ex.,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(3,1), allows 44.5 to be stores exactly, but not 444.5 or 0.32)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real, double precision.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Floating point and double-precision floating point numbers, with machine-dependent precision.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float(n).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Floating point number, with user-specified precision of at least </a:t>
            </a:r>
            <a:r>
              <a:rPr lang="en-US" altLang="en-US" sz="1700" i="1" dirty="0"/>
              <a:t>n</a:t>
            </a:r>
            <a:r>
              <a:rPr lang="en-US" altLang="en-US" sz="1700" dirty="0"/>
              <a:t> digits.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A5112-8570-C496-3CD1-626B10066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Domain Types in SQL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82DB23A-62E5-E449-CD36-AE61D4628913}"/>
              </a:ext>
            </a:extLst>
          </p:cNvPr>
          <p:cNvGraphicFramePr>
            <a:graphicFrameLocks noGrp="1"/>
          </p:cNvGraphicFramePr>
          <p:nvPr/>
        </p:nvGraphicFramePr>
        <p:xfrm>
          <a:off x="768350" y="1351121"/>
          <a:ext cx="7707312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9104">
                  <a:extLst>
                    <a:ext uri="{9D8B030D-6E8A-4147-A177-3AD203B41FA5}">
                      <a16:colId xmlns:a16="http://schemas.microsoft.com/office/drawing/2014/main" val="3210367805"/>
                    </a:ext>
                  </a:extLst>
                </a:gridCol>
                <a:gridCol w="2569104">
                  <a:extLst>
                    <a:ext uri="{9D8B030D-6E8A-4147-A177-3AD203B41FA5}">
                      <a16:colId xmlns:a16="http://schemas.microsoft.com/office/drawing/2014/main" val="2141049236"/>
                    </a:ext>
                  </a:extLst>
                </a:gridCol>
                <a:gridCol w="2569104">
                  <a:extLst>
                    <a:ext uri="{9D8B030D-6E8A-4147-A177-3AD203B41FA5}">
                      <a16:colId xmlns:a16="http://schemas.microsoft.com/office/drawing/2014/main" val="36576530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Used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6522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CHAR(n)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Fixed-length 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'IN'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1160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VARCHAR(n)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Variable-length 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'Einstein'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5226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SMALLINT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Small whole numbers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4562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Whole numbers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6290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NUMERIC(p,d)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Exact decimal numbers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75000.50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397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Approximate floating-point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3.14159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6830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DOUBLE 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Approximate floating-point with more 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3.1415926535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7832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FLOAT(n)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Floating-point with specified 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scientific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8023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9606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Create Table Construct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7125"/>
            <a:ext cx="7375906" cy="5054219"/>
          </a:xfrm>
        </p:spPr>
        <p:txBody>
          <a:bodyPr/>
          <a:lstStyle/>
          <a:p>
            <a:pPr>
              <a:tabLst>
                <a:tab pos="1489075" algn="l"/>
                <a:tab pos="1949450" algn="l"/>
                <a:tab pos="3036888" algn="l"/>
              </a:tabLst>
            </a:pPr>
            <a:r>
              <a:rPr kumimoji="0" lang="en-US" altLang="en-US" sz="1700" dirty="0"/>
              <a:t>An SQL relation is defined using the</a:t>
            </a:r>
            <a:r>
              <a:rPr lang="en-US" altLang="en-US" sz="1700" dirty="0"/>
              <a:t> </a:t>
            </a:r>
            <a:r>
              <a:rPr lang="en-US" altLang="en-US" sz="1700" b="1" dirty="0">
                <a:solidFill>
                  <a:srgbClr val="002060"/>
                </a:solidFill>
              </a:rPr>
              <a:t>create table </a:t>
            </a:r>
            <a:r>
              <a:rPr kumimoji="0" lang="en-US" altLang="en-US" sz="1700" dirty="0"/>
              <a:t>command</a:t>
            </a:r>
            <a:r>
              <a:rPr lang="en-US" altLang="en-US" sz="1700" dirty="0"/>
              <a:t>: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create table </a:t>
            </a:r>
            <a:r>
              <a:rPr lang="en-US" altLang="en-US" sz="1700" i="1" dirty="0"/>
              <a:t>r 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i="1" dirty="0"/>
              <a:t>                                   </a:t>
            </a:r>
            <a:r>
              <a:rPr lang="en-US" altLang="en-US" sz="1700" dirty="0"/>
              <a:t>(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</a:t>
            </a:r>
            <a:r>
              <a:rPr lang="en-US" altLang="en-US" sz="1700" i="1" dirty="0"/>
              <a:t>D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 </a:t>
            </a:r>
            <a:r>
              <a:rPr lang="en-US" altLang="en-US" sz="1700" i="1" dirty="0"/>
              <a:t>D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</a:t>
            </a:r>
            <a:r>
              <a:rPr lang="en-US" altLang="en-US" sz="1700" i="1" dirty="0"/>
              <a:t> </a:t>
            </a:r>
            <a:r>
              <a:rPr lang="en-US" altLang="en-US" sz="1700" i="1" dirty="0" err="1"/>
              <a:t>D</a:t>
            </a:r>
            <a:r>
              <a:rPr lang="en-US" altLang="en-US" sz="1700" i="1" baseline="-25000" dirty="0" err="1"/>
              <a:t>n</a:t>
            </a:r>
            <a:r>
              <a:rPr lang="en-US" altLang="en-US" sz="1700" i="1" dirty="0"/>
              <a:t>,</a:t>
            </a:r>
            <a:br>
              <a:rPr lang="en-US" altLang="en-US" sz="1700" i="1" dirty="0"/>
            </a:br>
            <a:r>
              <a:rPr lang="en-US" altLang="en-US" sz="1700" i="1" dirty="0"/>
              <a:t>	             </a:t>
            </a:r>
            <a:r>
              <a:rPr lang="en-US" altLang="en-US" sz="1700" dirty="0"/>
              <a:t>(integrity-constraint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),</a:t>
            </a:r>
            <a:br>
              <a:rPr lang="en-US" altLang="en-US" sz="1700" dirty="0"/>
            </a:br>
            <a:r>
              <a:rPr lang="en-US" altLang="en-US" sz="1700" dirty="0"/>
              <a:t>	                 ...,</a:t>
            </a:r>
            <a:br>
              <a:rPr lang="en-US" altLang="en-US" sz="1700" dirty="0"/>
            </a:br>
            <a:r>
              <a:rPr lang="en-US" altLang="en-US" sz="1700" dirty="0"/>
              <a:t>                               (integrity-</a:t>
            </a:r>
            <a:r>
              <a:rPr lang="en-US" altLang="en-US" sz="1700" dirty="0" err="1"/>
              <a:t>constraint</a:t>
            </a:r>
            <a:r>
              <a:rPr lang="en-US" altLang="en-US" sz="1700" baseline="-25000" dirty="0" err="1"/>
              <a:t>k</a:t>
            </a:r>
            <a:r>
              <a:rPr lang="en-US" altLang="en-US" sz="1700" dirty="0"/>
              <a:t>))</a:t>
            </a:r>
          </a:p>
          <a:p>
            <a:pPr lvl="1"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i="1" dirty="0"/>
              <a:t>r</a:t>
            </a:r>
            <a:r>
              <a:rPr lang="en-US" altLang="en-US" sz="1700" dirty="0"/>
              <a:t> is the name of the relation</a:t>
            </a:r>
          </a:p>
          <a:p>
            <a:pPr lvl="1"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dirty="0"/>
              <a:t>each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i</a:t>
            </a:r>
            <a:r>
              <a:rPr lang="en-US" altLang="en-US" sz="1700" dirty="0"/>
              <a:t> is an attribute name in the schema of relation </a:t>
            </a:r>
            <a:r>
              <a:rPr lang="en-US" altLang="en-US" sz="1700" i="1" dirty="0"/>
              <a:t>r</a:t>
            </a:r>
          </a:p>
          <a:p>
            <a:pPr lvl="1"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i="1" dirty="0"/>
              <a:t>D</a:t>
            </a:r>
            <a:r>
              <a:rPr lang="en-US" altLang="en-US" sz="1700" i="1" baseline="-25000" dirty="0"/>
              <a:t>i</a:t>
            </a:r>
            <a:r>
              <a:rPr lang="en-US" altLang="en-US" sz="1700" dirty="0"/>
              <a:t> is the data type of values in the domain of attribute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i</a:t>
            </a:r>
            <a:endParaRPr lang="en-US" altLang="en-US" sz="1700" dirty="0"/>
          </a:p>
          <a:p>
            <a:pPr>
              <a:tabLst>
                <a:tab pos="1489075" algn="l"/>
                <a:tab pos="1949450" algn="l"/>
                <a:tab pos="3036888" algn="l"/>
              </a:tabLst>
            </a:pPr>
            <a:r>
              <a:rPr kumimoji="0" lang="en-US" altLang="en-US" sz="1700" dirty="0"/>
              <a:t>Example</a:t>
            </a:r>
            <a:r>
              <a:rPr lang="en-US" altLang="en-US" sz="1700" dirty="0"/>
              <a:t>: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dirty="0"/>
              <a:t>		 </a:t>
            </a:r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name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</a:t>
            </a:r>
            <a:r>
              <a:rPr lang="en-US" altLang="en-US" sz="1700" b="1" dirty="0"/>
              <a:t>,</a:t>
            </a:r>
            <a:br>
              <a:rPr lang="en-US" altLang="en-US" sz="1700" b="1" i="1" dirty="0"/>
            </a:br>
            <a:r>
              <a:rPr lang="en-US" altLang="en-US" sz="1700" b="1" i="1" dirty="0"/>
              <a:t>                             </a:t>
            </a:r>
            <a:r>
              <a:rPr lang="en-US" altLang="en-US" sz="1700" i="1" dirty="0"/>
              <a:t>dept_name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(8,2))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129845"/>
            <a:ext cx="8077200" cy="609600"/>
          </a:xfrm>
        </p:spPr>
        <p:txBody>
          <a:bodyPr/>
          <a:lstStyle/>
          <a:p>
            <a:r>
              <a:rPr lang="en-US" altLang="en-US" sz="2800" dirty="0"/>
              <a:t>Integrity Constraints in Create Table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8188" y="1109709"/>
            <a:ext cx="7515796" cy="4781004"/>
          </a:xfrm>
        </p:spPr>
        <p:txBody>
          <a:bodyPr/>
          <a:lstStyle/>
          <a:p>
            <a:r>
              <a:rPr lang="en-US" altLang="en-US" sz="1700" dirty="0"/>
              <a:t>Types of integrity constraints</a:t>
            </a:r>
          </a:p>
          <a:p>
            <a:pPr lvl="1"/>
            <a:r>
              <a:rPr lang="en-US" altLang="en-US" sz="1700" b="1" dirty="0"/>
              <a:t>primary key</a:t>
            </a:r>
            <a:r>
              <a:rPr lang="en-US" altLang="en-US" sz="1700" dirty="0"/>
              <a:t> (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 </a:t>
            </a:r>
            <a:r>
              <a:rPr lang="en-US" altLang="en-US" sz="1700" dirty="0"/>
              <a:t>)</a:t>
            </a:r>
          </a:p>
          <a:p>
            <a:pPr lvl="1"/>
            <a:r>
              <a:rPr lang="en-US" altLang="en-US" sz="1700" b="1" dirty="0"/>
              <a:t>foreign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m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 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r</a:t>
            </a:r>
            <a:endParaRPr lang="en-US" altLang="en-US" sz="1700" b="1" dirty="0"/>
          </a:p>
          <a:p>
            <a:pPr lvl="1"/>
            <a:r>
              <a:rPr lang="en-US" altLang="en-US" sz="1700" b="1" dirty="0"/>
              <a:t>not null</a:t>
            </a:r>
          </a:p>
          <a:p>
            <a:r>
              <a:rPr lang="en-US" altLang="en-US" sz="1700" dirty="0"/>
              <a:t>SQL prevents any update to the database that violates an integrity constraint.</a:t>
            </a:r>
          </a:p>
          <a:p>
            <a:r>
              <a:rPr lang="en-US" altLang="en-US" sz="1700" dirty="0"/>
              <a:t>Example:</a:t>
            </a:r>
          </a:p>
          <a:p>
            <a:pPr>
              <a:buNone/>
            </a:pPr>
            <a:r>
              <a:rPr lang="en-US" altLang="en-US" sz="1700" b="1" dirty="0"/>
              <a:t>         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i="1" dirty="0"/>
              <a:t>name           </a:t>
            </a:r>
            <a:r>
              <a:rPr lang="en-US" altLang="en-US" sz="1700" b="1" dirty="0"/>
              <a:t>varchar</a:t>
            </a:r>
            <a:r>
              <a:rPr lang="en-US" altLang="en-US" sz="1700" dirty="0"/>
              <a:t>(20) </a:t>
            </a:r>
            <a:r>
              <a:rPr lang="en-US" altLang="en-US" sz="1700" b="1" dirty="0"/>
              <a:t>not null,</a:t>
            </a:r>
            <a:br>
              <a:rPr lang="en-US" altLang="en-US" sz="1700" b="1" i="1" dirty="0"/>
            </a:br>
            <a:r>
              <a:rPr lang="en-US" altLang="en-US" sz="1700" b="1" i="1" dirty="0"/>
              <a:t>               </a:t>
            </a:r>
            <a:r>
              <a:rPr lang="en-US" altLang="en-US" sz="1700" i="1" dirty="0"/>
              <a:t>dept_name  </a:t>
            </a:r>
            <a:r>
              <a:rPr lang="en-US" altLang="en-US" sz="1700" b="1" dirty="0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(8,2),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b="1" dirty="0"/>
              <a:t>primary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ID</a:t>
            </a:r>
            <a:r>
              <a:rPr lang="en-US" altLang="en-US" sz="1700" dirty="0"/>
              <a:t>),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b="1" dirty="0"/>
              <a:t>foreign key </a:t>
            </a:r>
            <a:r>
              <a:rPr lang="en-US" altLang="en-US" sz="1700" i="1" dirty="0"/>
              <a:t>(dept_name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department);</a:t>
            </a:r>
          </a:p>
          <a:p>
            <a:pPr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5572A-0C45-386C-B074-4F7821C0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Integrity Constraints in Create Table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02C2B8-743E-73FD-3CBA-AB55CA91440A}"/>
              </a:ext>
            </a:extLst>
          </p:cNvPr>
          <p:cNvGraphicFramePr>
            <a:graphicFrameLocks noGrp="1"/>
          </p:cNvGraphicFramePr>
          <p:nvPr/>
        </p:nvGraphicFramePr>
        <p:xfrm>
          <a:off x="768350" y="2402681"/>
          <a:ext cx="7707312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9104">
                  <a:extLst>
                    <a:ext uri="{9D8B030D-6E8A-4147-A177-3AD203B41FA5}">
                      <a16:colId xmlns:a16="http://schemas.microsoft.com/office/drawing/2014/main" val="1899778762"/>
                    </a:ext>
                  </a:extLst>
                </a:gridCol>
                <a:gridCol w="2569104">
                  <a:extLst>
                    <a:ext uri="{9D8B030D-6E8A-4147-A177-3AD203B41FA5}">
                      <a16:colId xmlns:a16="http://schemas.microsoft.com/office/drawing/2014/main" val="4197953320"/>
                    </a:ext>
                  </a:extLst>
                </a:gridCol>
                <a:gridCol w="2569104">
                  <a:extLst>
                    <a:ext uri="{9D8B030D-6E8A-4147-A177-3AD203B41FA5}">
                      <a16:colId xmlns:a16="http://schemas.microsoft.com/office/drawing/2014/main" val="19196697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Constraint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What does it ensure?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3884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PRIMARY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Every entity can be uniquely identified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two instructors have the same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9671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FOREIGN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Referenced data actually exists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Instructor's department must exist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598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Required data cannot be missing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Instructor must have a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8407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7908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And a Few More Relation Definitions</a:t>
            </a:r>
          </a:p>
        </p:txBody>
      </p:sp>
      <p:sp>
        <p:nvSpPr>
          <p:cNvPr id="11266" name="AutoShape 3"/>
          <p:cNvSpPr>
            <a:spLocks noGrp="1" noChangeAspect="1" noChangeArrowheads="1"/>
          </p:cNvSpPr>
          <p:nvPr>
            <p:ph type="body" idx="1"/>
          </p:nvPr>
        </p:nvSpPr>
        <p:spPr>
          <a:xfrm>
            <a:off x="768350" y="1083076"/>
            <a:ext cx="7754213" cy="4643021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student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  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 not null,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tot_cred</a:t>
            </a:r>
            <a:r>
              <a:rPr lang="en-US" altLang="en-US" sz="1700" dirty="0"/>
              <a:t>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(3,0),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b="1" dirty="0"/>
              <a:t>primary key </a:t>
            </a:r>
            <a:r>
              <a:rPr lang="en-US" altLang="en-US" sz="1700" i="1" dirty="0"/>
              <a:t>(ID),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        foreign key </a:t>
            </a:r>
            <a:r>
              <a:rPr lang="en-US" altLang="en-US" sz="1700" i="1" dirty="0"/>
              <a:t>(dept_name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);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sz="1700" dirty="0"/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takes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(8),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(8),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semester</a:t>
            </a:r>
            <a:r>
              <a:rPr lang="en-US" altLang="en-US" sz="1700" dirty="0"/>
              <a:t>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(6),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     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(4,0),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grade</a:t>
            </a:r>
            <a:r>
              <a:rPr lang="en-US" altLang="en-US" sz="1700" dirty="0"/>
              <a:t>  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(2),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         primary key </a:t>
            </a:r>
            <a:r>
              <a:rPr lang="en-US" altLang="en-US" sz="1700" i="1" dirty="0"/>
              <a:t>(ID, 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i="1" dirty="0"/>
              <a:t>, semester, year)</a:t>
            </a:r>
            <a:r>
              <a:rPr lang="en-US" altLang="en-US" sz="1700" dirty="0"/>
              <a:t> ,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         foreign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ID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b="1" i="1" dirty="0"/>
              <a:t> </a:t>
            </a:r>
            <a:r>
              <a:rPr lang="en-US" altLang="en-US" sz="1700" i="1" dirty="0"/>
              <a:t>student,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b="1" dirty="0"/>
              <a:t>foreign key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i="1" dirty="0"/>
              <a:t>, semester, year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);</a:t>
            </a:r>
          </a:p>
          <a:p>
            <a:pPr>
              <a:lnSpc>
                <a:spcPct val="90000"/>
              </a:lnSpc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And more still</a:t>
            </a:r>
          </a:p>
        </p:txBody>
      </p:sp>
      <p:sp>
        <p:nvSpPr>
          <p:cNvPr id="122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18173"/>
            <a:ext cx="7107682" cy="3709860"/>
          </a:xfrm>
        </p:spPr>
        <p:txBody>
          <a:bodyPr/>
          <a:lstStyle/>
          <a:p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course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(8),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title</a:t>
            </a:r>
            <a:r>
              <a:rPr lang="en-US" altLang="en-US" sz="1700" dirty="0"/>
              <a:t>                  </a:t>
            </a:r>
            <a:r>
              <a:rPr lang="en-US" altLang="en-US" sz="1700" b="1" dirty="0" err="1"/>
              <a:t>varchar</a:t>
            </a:r>
            <a:r>
              <a:rPr lang="en-US" altLang="en-US" sz="1700" b="1" dirty="0"/>
              <a:t>(</a:t>
            </a:r>
            <a:r>
              <a:rPr lang="en-US" altLang="en-US" sz="1700" dirty="0"/>
              <a:t>50),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  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(2,0),</a:t>
            </a:r>
          </a:p>
          <a:p>
            <a:pPr>
              <a:spcBef>
                <a:spcPct val="0"/>
              </a:spcBef>
              <a:buFont typeface="Monotype Sorts" charset="2"/>
              <a:buNone/>
            </a:pPr>
            <a:r>
              <a:rPr lang="en-US" altLang="en-US" sz="1700" dirty="0"/>
              <a:t>             </a:t>
            </a:r>
            <a:r>
              <a:rPr lang="en-US" altLang="en-US" sz="1700" b="1" dirty="0"/>
              <a:t>primary key </a:t>
            </a:r>
            <a:r>
              <a:rPr lang="en-US" altLang="en-US" sz="1700" i="1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),</a:t>
            </a:r>
          </a:p>
          <a:p>
            <a:pPr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</a:t>
            </a:r>
            <a:r>
              <a:rPr lang="en-US" altLang="en-US" sz="1700" dirty="0"/>
              <a:t>        </a:t>
            </a:r>
            <a:r>
              <a:rPr lang="en-US" altLang="en-US" sz="1700" b="1" dirty="0"/>
              <a:t>foreign key </a:t>
            </a:r>
            <a:r>
              <a:rPr lang="en-US" altLang="en-US" sz="1700" i="1" dirty="0"/>
              <a:t>(dept_name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);</a:t>
            </a:r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Updates to tables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83310"/>
            <a:ext cx="7709825" cy="5159375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Insert 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endParaRPr lang="en-US" altLang="en-US" sz="1700" dirty="0"/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insert into </a:t>
            </a:r>
            <a:r>
              <a:rPr lang="en-US" altLang="en-US" sz="1700" i="1" dirty="0"/>
              <a:t>instructor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</a:t>
            </a:r>
            <a:r>
              <a:rPr lang="en-US" altLang="ja-JP" sz="1700" dirty="0"/>
              <a:t>'</a:t>
            </a:r>
            <a:r>
              <a:rPr lang="en-US" altLang="en-US" sz="1700" dirty="0"/>
              <a:t>10211</a:t>
            </a:r>
            <a:r>
              <a:rPr lang="en-US" altLang="ja-JP" sz="1700" dirty="0"/>
              <a:t>'</a:t>
            </a:r>
            <a:r>
              <a:rPr lang="en-US" altLang="en-US" sz="1700" dirty="0"/>
              <a:t>, </a:t>
            </a:r>
            <a:r>
              <a:rPr lang="en-US" altLang="ja-JP" sz="1700" dirty="0"/>
              <a:t>'</a:t>
            </a:r>
            <a:r>
              <a:rPr lang="en-US" altLang="en-US" sz="1700" dirty="0"/>
              <a:t>Smith</a:t>
            </a:r>
            <a:r>
              <a:rPr lang="en-US" altLang="ja-JP" sz="1700" dirty="0"/>
              <a:t>'</a:t>
            </a:r>
            <a:r>
              <a:rPr lang="en-US" altLang="en-US" sz="1700" dirty="0"/>
              <a:t>, </a:t>
            </a:r>
            <a:r>
              <a:rPr lang="en-US" altLang="ja-JP" sz="1700" dirty="0"/>
              <a:t>'</a:t>
            </a:r>
            <a:r>
              <a:rPr lang="en-US" altLang="en-US" sz="1700" dirty="0"/>
              <a:t>Biology</a:t>
            </a:r>
            <a:r>
              <a:rPr lang="en-US" altLang="ja-JP" sz="1700" dirty="0"/>
              <a:t>'</a:t>
            </a:r>
            <a:r>
              <a:rPr lang="en-US" altLang="en-US" sz="1700" dirty="0"/>
              <a:t>, 66000);</a:t>
            </a:r>
          </a:p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Delete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dirty="0"/>
              <a:t>Remove all tuples from the </a:t>
            </a:r>
            <a:r>
              <a:rPr lang="en-US" altLang="en-US" sz="1700" i="1" dirty="0"/>
              <a:t>student</a:t>
            </a:r>
            <a:r>
              <a:rPr lang="en-US" altLang="en-US" sz="1700" dirty="0"/>
              <a:t> relation</a:t>
            </a:r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delete from </a:t>
            </a:r>
            <a:r>
              <a:rPr lang="en-US" altLang="en-US" sz="1700" i="1" dirty="0"/>
              <a:t>student  </a:t>
            </a:r>
          </a:p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Drop Table</a:t>
            </a: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drop table </a:t>
            </a:r>
            <a:r>
              <a:rPr lang="en-US" altLang="en-US" sz="1700" i="1" dirty="0"/>
              <a:t>r</a:t>
            </a:r>
          </a:p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Alter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dirty="0"/>
              <a:t> </a:t>
            </a: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alter table </a:t>
            </a:r>
            <a:r>
              <a:rPr lang="en-US" altLang="en-US" sz="1700" i="1" dirty="0"/>
              <a:t>r </a:t>
            </a:r>
            <a:r>
              <a:rPr lang="en-US" altLang="en-US" sz="1700" b="1" dirty="0"/>
              <a:t>add </a:t>
            </a:r>
            <a:r>
              <a:rPr lang="en-US" altLang="en-US" sz="1700" i="1" dirty="0"/>
              <a:t>A D</a:t>
            </a:r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i="1" dirty="0"/>
              <a:t> </a:t>
            </a:r>
            <a:r>
              <a:rPr lang="en-US" altLang="en-US" sz="1700" dirty="0"/>
              <a:t>where </a:t>
            </a:r>
            <a:r>
              <a:rPr lang="en-US" altLang="en-US" sz="1700" i="1" dirty="0"/>
              <a:t>A</a:t>
            </a:r>
            <a:r>
              <a:rPr lang="en-US" altLang="en-US" sz="1700" dirty="0"/>
              <a:t> is the name of the attribute to be added to relation </a:t>
            </a:r>
            <a:r>
              <a:rPr lang="en-US" altLang="en-US" sz="1700" i="1" dirty="0"/>
              <a:t>r 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D</a:t>
            </a:r>
            <a:r>
              <a:rPr lang="en-US" altLang="en-US" sz="1700" dirty="0"/>
              <a:t> is the domain of </a:t>
            </a:r>
            <a:r>
              <a:rPr lang="en-US" altLang="en-US" sz="1700" i="1" dirty="0"/>
              <a:t>A.</a:t>
            </a:r>
            <a:endParaRPr lang="en-US" altLang="en-US" sz="1700" dirty="0"/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dirty="0"/>
              <a:t>All exiting tuples in the relation are assigned </a:t>
            </a:r>
            <a:r>
              <a:rPr lang="en-US" altLang="en-US" sz="1700" i="1" dirty="0"/>
              <a:t>null</a:t>
            </a:r>
            <a:r>
              <a:rPr lang="en-US" altLang="en-US" sz="1700" dirty="0"/>
              <a:t> as the value for the new attribute.  </a:t>
            </a:r>
          </a:p>
          <a:p>
            <a:pPr lvl="1">
              <a:lnSpc>
                <a:spcPct val="110000"/>
              </a:lnSpc>
              <a:tabLst>
                <a:tab pos="2232025" algn="l"/>
              </a:tabLst>
            </a:pPr>
            <a:r>
              <a:rPr lang="en-US" altLang="en-US" sz="1700" b="1" dirty="0"/>
              <a:t>alter table </a:t>
            </a:r>
            <a:r>
              <a:rPr lang="en-US" altLang="en-US" sz="1700" i="1" dirty="0"/>
              <a:t>r</a:t>
            </a:r>
            <a:r>
              <a:rPr lang="en-US" altLang="en-US" sz="1700" b="1" dirty="0"/>
              <a:t> drop</a:t>
            </a:r>
            <a:r>
              <a:rPr lang="en-US" altLang="en-US" sz="1700" i="1" dirty="0"/>
              <a:t> A     </a:t>
            </a:r>
          </a:p>
          <a:p>
            <a:pPr lvl="2">
              <a:lnSpc>
                <a:spcPct val="110000"/>
              </a:lnSpc>
              <a:tabLst>
                <a:tab pos="2232025" algn="l"/>
              </a:tabLst>
            </a:pPr>
            <a:r>
              <a:rPr lang="en-US" altLang="en-US" sz="1700" dirty="0"/>
              <a:t>where </a:t>
            </a:r>
            <a:r>
              <a:rPr lang="en-US" altLang="en-US" sz="1700" i="1" dirty="0"/>
              <a:t>A</a:t>
            </a:r>
            <a:r>
              <a:rPr lang="en-US" altLang="en-US" sz="1700" dirty="0"/>
              <a:t> is the name of an attribute of relation</a:t>
            </a:r>
            <a:r>
              <a:rPr lang="en-US" altLang="en-US" sz="1700" i="1" dirty="0"/>
              <a:t> r</a:t>
            </a:r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dirty="0"/>
              <a:t>Dropping of attributes not supported by many databases.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38831-5499-8328-1FE7-22A64856F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Updates to tables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D1785A-2440-1A2D-F12F-E05BD58B6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943881"/>
              </p:ext>
            </p:extLst>
          </p:nvPr>
        </p:nvGraphicFramePr>
        <p:xfrm>
          <a:off x="768350" y="2631281"/>
          <a:ext cx="7707312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53656">
                  <a:extLst>
                    <a:ext uri="{9D8B030D-6E8A-4147-A177-3AD203B41FA5}">
                      <a16:colId xmlns:a16="http://schemas.microsoft.com/office/drawing/2014/main" val="3546210797"/>
                    </a:ext>
                  </a:extLst>
                </a:gridCol>
                <a:gridCol w="3853656">
                  <a:extLst>
                    <a:ext uri="{9D8B030D-6E8A-4147-A177-3AD203B41FA5}">
                      <a16:colId xmlns:a16="http://schemas.microsoft.com/office/drawing/2014/main" val="146948013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What it changes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26541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Adds rows/data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076477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Removes rows/data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727316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ALTER 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Changes table 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603329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DROP 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Removes the entire 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3810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8720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Basic Query Structure </a:t>
            </a:r>
          </a:p>
        </p:txBody>
      </p:sp>
      <p:sp>
        <p:nvSpPr>
          <p:cNvPr id="143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133810" cy="462810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A typical SQL query has the form:</a:t>
            </a:r>
            <a:br>
              <a:rPr lang="en-US" altLang="en-US" sz="1700" dirty="0"/>
            </a:b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from</a:t>
            </a:r>
            <a:r>
              <a:rPr lang="en-US" altLang="en-US" sz="1700" dirty="0"/>
              <a:t>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m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P</a:t>
            </a:r>
            <a:br>
              <a:rPr lang="en-US" altLang="en-US" sz="1700" i="1" dirty="0"/>
            </a:b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i="1" dirty="0"/>
              <a:t>A</a:t>
            </a:r>
            <a:r>
              <a:rPr lang="en-US" altLang="en-US" sz="1700" i="1" baseline="-25000" dirty="0"/>
              <a:t>i </a:t>
            </a:r>
            <a:r>
              <a:rPr lang="en-US" altLang="en-US" sz="1700" dirty="0"/>
              <a:t>represents an attribute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i</a:t>
            </a:r>
            <a:r>
              <a:rPr lang="en-US" altLang="en-US" sz="1700" i="1" baseline="-25000" dirty="0"/>
              <a:t> </a:t>
            </a:r>
            <a:r>
              <a:rPr lang="en-US" altLang="en-US" sz="1700" dirty="0"/>
              <a:t>represents a relation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i="1" dirty="0"/>
              <a:t>P</a:t>
            </a:r>
            <a:r>
              <a:rPr lang="en-US" altLang="en-US" sz="1700" dirty="0"/>
              <a:t> is a predicate.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The result of an SQL query is a relation.</a:t>
            </a: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select Clause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594414" cy="452621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/>
              <a:t>select</a:t>
            </a:r>
            <a:r>
              <a:rPr lang="en-US" altLang="en-US" sz="1700" dirty="0"/>
              <a:t> clause lists the attributes desired in the result of a query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corresponds to the projection operation of the relational algebra</a:t>
            </a:r>
          </a:p>
          <a:p>
            <a:pPr>
              <a:lnSpc>
                <a:spcPct val="110000"/>
              </a:lnSpc>
              <a:tabLst>
                <a:tab pos="2055813" algn="l"/>
              </a:tabLst>
            </a:pPr>
            <a:r>
              <a:rPr lang="en-US" altLang="en-US" sz="1700" dirty="0"/>
              <a:t>Example: find the names of all instructors: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name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 algn="just">
              <a:tabLst>
                <a:tab pos="2055813" algn="l"/>
              </a:tabLst>
            </a:pPr>
            <a:r>
              <a:rPr lang="en-US" altLang="en-US" sz="1700" dirty="0"/>
              <a:t>NOTE: SQL names are case insensitive (i.e., you may use upper- or lower-case letters.)  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E.g., 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≡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≡ </a:t>
            </a:r>
            <a:r>
              <a:rPr lang="en-US" altLang="en-US" sz="1700" i="1" dirty="0"/>
              <a:t>name</a:t>
            </a: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select Clause (Cont.)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106488"/>
            <a:ext cx="7585537" cy="4876800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SQL allows duplicates in relations as well as in query results.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To force the elimination of duplicates, insert the keyword </a:t>
            </a:r>
            <a:r>
              <a:rPr lang="en-US" altLang="en-US" sz="1700" b="1" dirty="0">
                <a:solidFill>
                  <a:srgbClr val="002060"/>
                </a:solidFill>
              </a:rPr>
              <a:t>distinct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after select</a:t>
            </a:r>
            <a:r>
              <a:rPr lang="en-US" altLang="en-US" sz="1700" b="1" dirty="0"/>
              <a:t>.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department names of all instructors, and remove duplicates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select distinct </a:t>
            </a:r>
            <a:r>
              <a:rPr lang="en-US" altLang="en-US" sz="1700" i="1" dirty="0"/>
              <a:t>dept_name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The keyword </a:t>
            </a:r>
            <a:r>
              <a:rPr lang="en-US" altLang="en-US" sz="1700" b="1" dirty="0"/>
              <a:t>all </a:t>
            </a:r>
            <a:r>
              <a:rPr lang="en-US" altLang="en-US" sz="1700" dirty="0"/>
              <a:t>specifies that duplicates should not be removed.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select all</a:t>
            </a:r>
            <a:r>
              <a:rPr lang="en-US" altLang="en-US" sz="1700" dirty="0"/>
              <a:t> </a:t>
            </a:r>
            <a:r>
              <a:rPr lang="en-US" altLang="en-US" sz="1700" i="1" dirty="0"/>
              <a:t>dept_name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D9960E4-FF8C-45DD-9C24-C644DF7941A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967" r="32712" b="12784"/>
          <a:stretch/>
        </p:blipFill>
        <p:spPr>
          <a:xfrm>
            <a:off x="6216445" y="3429000"/>
            <a:ext cx="1143000" cy="2844764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864E2-BBC0-D8F7-BE07-424CA3BCB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select Clause (Cont.)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1A6CB-8A73-9B48-E2AC-0BC781258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SELECT DISTINCT </a:t>
            </a:r>
            <a:r>
              <a:rPr lang="en-IN" dirty="0" err="1"/>
              <a:t>dept_name</a:t>
            </a:r>
            <a:r>
              <a:rPr lang="en-IN" dirty="0"/>
              <a:t>, salary FROM instructor;</a:t>
            </a:r>
          </a:p>
          <a:p>
            <a:r>
              <a:rPr lang="en-IN" dirty="0"/>
              <a:t>SQL does </a:t>
            </a:r>
            <a:r>
              <a:rPr lang="en-IN" b="1" dirty="0"/>
              <a:t>not</a:t>
            </a:r>
            <a:r>
              <a:rPr lang="en-IN" dirty="0"/>
              <a:t> independently remove duplicate departments and duplicate salaries.</a:t>
            </a:r>
          </a:p>
          <a:p>
            <a:r>
              <a:rPr lang="en-IN" dirty="0"/>
              <a:t>It considers the </a:t>
            </a:r>
            <a:r>
              <a:rPr lang="en-IN" b="1" dirty="0"/>
              <a:t>entire combination of selected columns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FDF55C0-4E45-1646-20D6-492D7F2B83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49494"/>
              </p:ext>
            </p:extLst>
          </p:nvPr>
        </p:nvGraphicFramePr>
        <p:xfrm>
          <a:off x="768350" y="2568354"/>
          <a:ext cx="7707312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53656">
                  <a:extLst>
                    <a:ext uri="{9D8B030D-6E8A-4147-A177-3AD203B41FA5}">
                      <a16:colId xmlns:a16="http://schemas.microsoft.com/office/drawing/2014/main" val="2002000332"/>
                    </a:ext>
                  </a:extLst>
                </a:gridCol>
                <a:gridCol w="3853656">
                  <a:extLst>
                    <a:ext uri="{9D8B030D-6E8A-4147-A177-3AD203B41FA5}">
                      <a16:colId xmlns:a16="http://schemas.microsoft.com/office/drawing/2014/main" val="331151723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 err="1"/>
                        <a:t>dept_name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salary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457336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Physics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95000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463775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Physics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87000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9699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Physics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dirty="0"/>
                        <a:t>95000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150020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07CBA9A-AB22-32C1-301E-CC6076526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028859"/>
              </p:ext>
            </p:extLst>
          </p:nvPr>
        </p:nvGraphicFramePr>
        <p:xfrm>
          <a:off x="718344" y="4283474"/>
          <a:ext cx="7707312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53656">
                  <a:extLst>
                    <a:ext uri="{9D8B030D-6E8A-4147-A177-3AD203B41FA5}">
                      <a16:colId xmlns:a16="http://schemas.microsoft.com/office/drawing/2014/main" val="2758655659"/>
                    </a:ext>
                  </a:extLst>
                </a:gridCol>
                <a:gridCol w="3853656">
                  <a:extLst>
                    <a:ext uri="{9D8B030D-6E8A-4147-A177-3AD203B41FA5}">
                      <a16:colId xmlns:a16="http://schemas.microsoft.com/office/drawing/2014/main" val="364209381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dept_name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salary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108887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Physics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95000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08885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Physics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dirty="0"/>
                        <a:t>87000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475572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1473EA-2E63-42FB-CB83-4FB381ABFC58}"/>
              </a:ext>
            </a:extLst>
          </p:cNvPr>
          <p:cNvSpPr txBox="1"/>
          <p:nvPr/>
        </p:nvSpPr>
        <p:spPr>
          <a:xfrm>
            <a:off x="718344" y="5632834"/>
            <a:ext cx="79733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Helvetica" panose="020B0604020202020204" pitchFamily="34" charset="0"/>
              </a:rPr>
              <a:t>DISTINCT</a:t>
            </a:r>
            <a:r>
              <a:rPr lang="en-IN" b="1" dirty="0"/>
              <a:t> applies to the complete selected row, not individually to each column.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2854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select Clause (Cont.)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9"/>
            <a:ext cx="7523393" cy="5001704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An asterisk in the select clause denotes “all attributes”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b="1" dirty="0"/>
              <a:t>			select </a:t>
            </a:r>
            <a:r>
              <a:rPr lang="en-US" altLang="en-US" sz="1700" dirty="0"/>
              <a:t>*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 dirty="0"/>
              <a:t>SELECT name, 'Instructor' AS </a:t>
            </a:r>
            <a:r>
              <a:rPr lang="en-US" altLang="en-US" dirty="0" err="1"/>
              <a:t>person_type</a:t>
            </a:r>
            <a:r>
              <a:rPr lang="en-US" altLang="en-US" dirty="0"/>
              <a:t> FROM instructor;</a:t>
            </a:r>
          </a:p>
          <a:p>
            <a:pPr>
              <a:tabLst>
                <a:tab pos="2055813" algn="l"/>
              </a:tabLst>
            </a:pPr>
            <a:endParaRPr lang="en-US" altLang="en-US" sz="1700" i="1" dirty="0"/>
          </a:p>
          <a:p>
            <a:pPr>
              <a:tabLst>
                <a:tab pos="2055813" algn="l"/>
              </a:tabLst>
            </a:pPr>
            <a:endParaRPr lang="en-US" altLang="en-US" sz="1700" i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E88DE21-73A0-A5CF-EDE6-1BAA6C3D6E98}"/>
              </a:ext>
            </a:extLst>
          </p:cNvPr>
          <p:cNvGraphicFramePr>
            <a:graphicFrameLocks noGrp="1"/>
          </p:cNvGraphicFramePr>
          <p:nvPr/>
        </p:nvGraphicFramePr>
        <p:xfrm>
          <a:off x="768350" y="2814161"/>
          <a:ext cx="7707312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53656">
                  <a:extLst>
                    <a:ext uri="{9D8B030D-6E8A-4147-A177-3AD203B41FA5}">
                      <a16:colId xmlns:a16="http://schemas.microsoft.com/office/drawing/2014/main" val="1654602984"/>
                    </a:ext>
                  </a:extLst>
                </a:gridCol>
                <a:gridCol w="3853656">
                  <a:extLst>
                    <a:ext uri="{9D8B030D-6E8A-4147-A177-3AD203B41FA5}">
                      <a16:colId xmlns:a16="http://schemas.microsoft.com/office/drawing/2014/main" val="395151524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person_type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738668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Einstein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Instructor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864254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Instructor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829488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Instructor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026551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01699"/>
            <a:ext cx="8077200" cy="609600"/>
          </a:xfrm>
        </p:spPr>
        <p:txBody>
          <a:bodyPr lIns="90488" tIns="44450" rIns="90488" bIns="44450" anchor="ctr"/>
          <a:lstStyle/>
          <a:p>
            <a:r>
              <a:rPr lang="en-US" altLang="en-US" sz="2800" dirty="0"/>
              <a:t>The select Clause (Cont.)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585536" cy="4514024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select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clause can contain arithmetic expressions involving the operation, +, –, </a:t>
            </a:r>
            <a:r>
              <a:rPr lang="en-US" altLang="en-US" sz="1700" dirty="0">
                <a:latin typeface="Symbol" panose="05050102010706020507" pitchFamily="18" charset="2"/>
              </a:rPr>
              <a:t></a:t>
            </a:r>
            <a:r>
              <a:rPr lang="en-US" altLang="en-US" sz="1700" dirty="0"/>
              <a:t>, and /, and operating on constants or attributes of tuples.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The query: 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b="1" dirty="0"/>
              <a:t>	                  select</a:t>
            </a:r>
            <a:r>
              <a:rPr lang="en-US" altLang="en-US" sz="1700" dirty="0"/>
              <a:t> </a:t>
            </a:r>
            <a:r>
              <a:rPr lang="en-US" altLang="en-US" sz="1700" i="1" dirty="0"/>
              <a:t>ID, name, salary/12</a:t>
            </a:r>
            <a:br>
              <a:rPr lang="en-US" altLang="en-US" sz="1700" dirty="0"/>
            </a:br>
            <a:r>
              <a:rPr lang="en-US" altLang="en-US" sz="1700" dirty="0"/>
              <a:t>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i="1" dirty="0"/>
              <a:t>	</a:t>
            </a:r>
            <a:r>
              <a:rPr lang="en-US" altLang="en-US" sz="1700" dirty="0"/>
              <a:t>would return a relation that is the same as the </a:t>
            </a:r>
            <a:r>
              <a:rPr lang="en-US" altLang="en-US" sz="1700" i="1" dirty="0"/>
              <a:t>instructor </a:t>
            </a:r>
            <a:r>
              <a:rPr lang="en-US" altLang="en-US" sz="1700" dirty="0"/>
              <a:t>relation, except that the value of the attribute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is divided by 12.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Can rename “s</a:t>
            </a:r>
            <a:r>
              <a:rPr lang="en-US" altLang="en-US" sz="1700" i="1" dirty="0"/>
              <a:t>alary/12” </a:t>
            </a:r>
            <a:r>
              <a:rPr lang="en-US" altLang="en-US" sz="1700" dirty="0"/>
              <a:t>using the </a:t>
            </a:r>
            <a:r>
              <a:rPr lang="en-US" altLang="en-US" sz="1700" b="1" dirty="0"/>
              <a:t>as </a:t>
            </a:r>
            <a:r>
              <a:rPr lang="en-US" altLang="en-US" sz="1700" dirty="0"/>
              <a:t>clause: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i="1" dirty="0"/>
              <a:t>	       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ID, name, salary/12  </a:t>
            </a:r>
            <a:r>
              <a:rPr lang="en-US" altLang="en-US" sz="1700" b="1" dirty="0"/>
              <a:t>as </a:t>
            </a:r>
            <a:r>
              <a:rPr lang="en-US" altLang="en-US" sz="1700" i="1" dirty="0" err="1"/>
              <a:t>monthly_salary</a:t>
            </a:r>
            <a:br>
              <a:rPr lang="en-US" altLang="en-US" sz="1700" i="1" dirty="0"/>
            </a:br>
            <a:endParaRPr lang="en-US" altLang="en-US" sz="1700" dirty="0"/>
          </a:p>
          <a:p>
            <a:pPr lvl="1">
              <a:tabLst>
                <a:tab pos="2055813" algn="l"/>
              </a:tabLst>
            </a:pPr>
            <a:endParaRPr lang="en-US" altLang="en-US" dirty="0"/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endParaRPr lang="en-US" altLang="en-US" dirty="0"/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where Clause</a:t>
            </a:r>
          </a:p>
        </p:txBody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692898" cy="4876800"/>
          </a:xfrm>
        </p:spPr>
        <p:txBody>
          <a:bodyPr lIns="90488" tIns="44450" rIns="90488" bIns="44450"/>
          <a:lstStyle/>
          <a:p>
            <a:pPr>
              <a:tabLst>
                <a:tab pos="1311275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where</a:t>
            </a:r>
            <a:r>
              <a:rPr lang="en-US" altLang="en-US" sz="1700" b="1" dirty="0"/>
              <a:t> </a:t>
            </a:r>
            <a:r>
              <a:rPr lang="en-US" altLang="en-US" sz="1700" dirty="0"/>
              <a:t>clause specifies conditions that the result must satisfy</a:t>
            </a:r>
          </a:p>
          <a:p>
            <a:pPr lvl="1">
              <a:tabLst>
                <a:tab pos="1311275" algn="l"/>
              </a:tabLst>
            </a:pPr>
            <a:r>
              <a:rPr lang="en-US" altLang="en-US" sz="1700" dirty="0"/>
              <a:t>Corresponds to the selection predicate of the relational algebra.  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To find all instructors in Comp. Sci. dept</a:t>
            </a:r>
          </a:p>
          <a:p>
            <a:pPr>
              <a:buFont typeface="Monotype Sorts" charset="2"/>
              <a:buNone/>
              <a:tabLst>
                <a:tab pos="1311275" algn="l"/>
              </a:tabLst>
            </a:pPr>
            <a:r>
              <a:rPr lang="en-US" altLang="en-US" sz="1700" b="1" dirty="0"/>
              <a:t>		select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dept_name =</a:t>
            </a:r>
            <a:r>
              <a:rPr lang="en-US" altLang="en-US" sz="1700" dirty="0"/>
              <a:t> </a:t>
            </a:r>
            <a:r>
              <a:rPr lang="en-US" altLang="en-US" sz="1700" i="1" dirty="0"/>
              <a:t>'</a:t>
            </a:r>
            <a:r>
              <a:rPr lang="en-US" altLang="ja-JP" sz="1700" dirty="0"/>
              <a:t>Comp. Sci.'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SQL allows the use of the logical connectives </a:t>
            </a:r>
            <a:r>
              <a:rPr lang="en-US" altLang="en-US" sz="1700" b="1" dirty="0"/>
              <a:t> and, or, </a:t>
            </a:r>
            <a:r>
              <a:rPr lang="en-US" altLang="en-US" sz="1700" dirty="0"/>
              <a:t>and </a:t>
            </a:r>
            <a:r>
              <a:rPr lang="en-US" altLang="en-US" sz="1700" b="1" dirty="0"/>
              <a:t>not </a:t>
            </a:r>
            <a:endParaRPr lang="en-US" altLang="en-US" sz="1700" dirty="0"/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The operands of the logical connectives can be expressions involving the comparison operators &lt;, &lt;=, &gt;, &gt;=, =, and &lt;&gt;.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Comparisons can be applied to results of arithmetic expressions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To find all instructors in Comp. Sci. dept with salary &gt; 70000</a:t>
            </a:r>
          </a:p>
          <a:p>
            <a:pPr lvl="1">
              <a:buFont typeface="Monotype Sorts" charset="2"/>
              <a:buNone/>
              <a:tabLst>
                <a:tab pos="1311275" algn="l"/>
              </a:tabLst>
            </a:pPr>
            <a:r>
              <a:rPr lang="en-US" altLang="en-US" sz="1700" b="1" dirty="0"/>
              <a:t>	select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dept_name =</a:t>
            </a:r>
            <a:r>
              <a:rPr lang="en-US" altLang="en-US" sz="1700" dirty="0"/>
              <a:t> </a:t>
            </a:r>
            <a:r>
              <a:rPr lang="en-US" altLang="en-US" sz="1700" i="1" dirty="0"/>
              <a:t>'</a:t>
            </a:r>
            <a:r>
              <a:rPr lang="en-US" altLang="ja-JP" sz="1700" dirty="0"/>
              <a:t>Comp. Sci.'</a:t>
            </a:r>
            <a:r>
              <a:rPr lang="en-US" altLang="ja-JP" sz="1700" i="1" dirty="0"/>
              <a:t>  </a:t>
            </a:r>
            <a:r>
              <a:rPr lang="en-US" altLang="ja-JP" sz="1700" b="1" dirty="0"/>
              <a:t>and </a:t>
            </a:r>
            <a:r>
              <a:rPr lang="en-US" altLang="ja-JP" sz="1700" i="1" dirty="0"/>
              <a:t>salary </a:t>
            </a:r>
            <a:r>
              <a:rPr lang="en-US" altLang="ja-JP" sz="1700" dirty="0"/>
              <a:t>&gt; 70000</a:t>
            </a:r>
          </a:p>
          <a:p>
            <a:pPr>
              <a:buFont typeface="Monotype Sorts" charset="2"/>
              <a:buNone/>
              <a:tabLst>
                <a:tab pos="1311275" algn="l"/>
              </a:tabLst>
            </a:pPr>
            <a:endParaRPr lang="en-US" altLang="en-US" sz="17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B4B9C5-28CB-44C6-BCAD-BA8A2C19164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307" t="787" r="41816" b="37397"/>
          <a:stretch/>
        </p:blipFill>
        <p:spPr>
          <a:xfrm>
            <a:off x="7109157" y="4682613"/>
            <a:ext cx="1090307" cy="1157748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/>
              <a:t>The from Clause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603292" cy="4867592"/>
          </a:xfrm>
        </p:spPr>
        <p:txBody>
          <a:bodyPr lIns="90488" tIns="44450" rIns="90488" bIns="44450"/>
          <a:lstStyle/>
          <a:p>
            <a:pPr>
              <a:tabLst>
                <a:tab pos="635000" algn="l"/>
                <a:tab pos="2403475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from</a:t>
            </a:r>
            <a:r>
              <a:rPr lang="en-US" altLang="en-US" sz="1700" b="1" dirty="0"/>
              <a:t> </a:t>
            </a:r>
            <a:r>
              <a:rPr lang="en-US" altLang="en-US" sz="1700" dirty="0"/>
              <a:t>clause lists the relations involved in the query</a:t>
            </a:r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sz="1700" dirty="0"/>
              <a:t>Corresponds to the Cartesian product operation of the relational algebra.</a:t>
            </a:r>
          </a:p>
          <a:p>
            <a:pPr>
              <a:tabLst>
                <a:tab pos="635000" algn="l"/>
                <a:tab pos="2403475" algn="l"/>
              </a:tabLst>
            </a:pPr>
            <a:r>
              <a:rPr lang="en-US" altLang="en-US" sz="1700" dirty="0"/>
              <a:t>Find the Cartesian product </a:t>
            </a:r>
            <a:r>
              <a:rPr lang="en-US" altLang="en-US" sz="1700" i="1" dirty="0"/>
              <a:t>instructor X teaches</a:t>
            </a:r>
            <a:endParaRPr lang="en-US" altLang="en-US" sz="1700" dirty="0"/>
          </a:p>
          <a:p>
            <a:pPr>
              <a:buFont typeface="Monotype Sorts" charset="2"/>
              <a:buNone/>
              <a:tabLst>
                <a:tab pos="635000" algn="l"/>
                <a:tab pos="2403475" algn="l"/>
              </a:tabLst>
            </a:pPr>
            <a:r>
              <a:rPr lang="en-US" altLang="en-US" sz="1700" b="1" dirty="0"/>
              <a:t>			select </a:t>
            </a:r>
            <a:r>
              <a:rPr lang="en-US" altLang="en-US" sz="1700" dirty="0">
                <a:latin typeface="Symbol" panose="05050102010706020507" pitchFamily="18" charset="2"/>
              </a:rPr>
              <a:t>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instructor, teaches</a:t>
            </a:r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sz="1700" dirty="0"/>
              <a:t>generates every possible instructor – teaches pair, with all attributes from both relations.</a:t>
            </a:r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sz="1700" dirty="0"/>
              <a:t>For common attributes (e.g., </a:t>
            </a:r>
            <a:r>
              <a:rPr lang="en-US" altLang="en-US" sz="1700" i="1" dirty="0"/>
              <a:t>ID</a:t>
            </a:r>
            <a:r>
              <a:rPr lang="en-US" altLang="en-US" sz="1700" dirty="0"/>
              <a:t>), the attributes  in the resulting table are renamed using the  relation name (e.g., </a:t>
            </a:r>
            <a:r>
              <a:rPr lang="en-US" altLang="en-US" sz="1700" i="1" dirty="0"/>
              <a:t>instructor.ID</a:t>
            </a:r>
            <a:r>
              <a:rPr lang="en-US" altLang="en-US" sz="1700" dirty="0"/>
              <a:t>)</a:t>
            </a:r>
          </a:p>
          <a:p>
            <a:pPr>
              <a:tabLst>
                <a:tab pos="635000" algn="l"/>
                <a:tab pos="2403475" algn="l"/>
              </a:tabLst>
            </a:pPr>
            <a:r>
              <a:rPr lang="en-US" altLang="en-US" sz="1700" dirty="0"/>
              <a:t>Cartesian product not very useful directly, but useful combined with where-clause condition (selection operation in relational algebra).</a:t>
            </a:r>
          </a:p>
          <a:p>
            <a:pPr>
              <a:buFont typeface="Monotype Sorts" charset="2"/>
              <a:buNone/>
              <a:tabLst>
                <a:tab pos="635000" algn="l"/>
                <a:tab pos="2403475" algn="l"/>
              </a:tabLst>
            </a:pPr>
            <a:r>
              <a:rPr lang="en-US" altLang="en-US" i="1" dirty="0"/>
              <a:t>	</a:t>
            </a: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Examples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2" y="1106489"/>
            <a:ext cx="4821288" cy="452621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Find the names of all instructors who have taught some course and the </a:t>
            </a:r>
            <a:r>
              <a:rPr lang="en-US" altLang="en-US" sz="1700" dirty="0" err="1"/>
              <a:t>course_id</a:t>
            </a: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i="1" dirty="0"/>
              <a:t>name, 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 , teaches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instructor.ID = teaches.ID 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names of all instructors in the Art  department who have taught some course and the </a:t>
            </a:r>
            <a:r>
              <a:rPr lang="en-US" altLang="en-US" sz="1700" dirty="0" err="1"/>
              <a:t>course_id</a:t>
            </a: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i="1" dirty="0"/>
              <a:t>name, 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 , teaches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instructor.ID = teaches.ID  </a:t>
            </a:r>
            <a:br>
              <a:rPr lang="en-US" altLang="en-US" sz="1700" i="1" dirty="0"/>
            </a:br>
            <a:r>
              <a:rPr lang="en-US" altLang="en-US" sz="1700" i="1" dirty="0"/>
              <a:t>          </a:t>
            </a:r>
            <a:r>
              <a:rPr lang="en-US" altLang="en-US" sz="1700" b="1" i="1" dirty="0"/>
              <a:t>and</a:t>
            </a:r>
            <a:r>
              <a:rPr lang="en-US" altLang="en-US" sz="1700" i="1" dirty="0"/>
              <a:t>  instructor. dept_name = </a:t>
            </a:r>
            <a:r>
              <a:rPr lang="en-US" altLang="en-US" sz="1700" dirty="0"/>
              <a:t>'Art'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endParaRPr lang="en-US" altLang="en-US" sz="17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75A09EE-C151-4256-9EE2-5AAE5DB9B98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705" t="875" r="32623" b="14122"/>
          <a:stretch/>
        </p:blipFill>
        <p:spPr>
          <a:xfrm>
            <a:off x="6113206" y="1106489"/>
            <a:ext cx="2322871" cy="4262249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89667"/>
            <a:ext cx="8077200" cy="609600"/>
          </a:xfrm>
        </p:spPr>
        <p:txBody>
          <a:bodyPr lIns="90488" tIns="44450" rIns="90488" bIns="44450" anchor="ctr"/>
          <a:lstStyle/>
          <a:p>
            <a:r>
              <a:rPr lang="en-US" altLang="en-US" sz="2800" dirty="0"/>
              <a:t>The Rename Operation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55257"/>
            <a:ext cx="7760830" cy="4675272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The SQL allows renaming relations and attributes using the </a:t>
            </a:r>
            <a:r>
              <a:rPr lang="en-US" altLang="en-US" sz="1700" b="1" dirty="0"/>
              <a:t>as </a:t>
            </a:r>
            <a:r>
              <a:rPr lang="en-US" altLang="en-US" sz="1700" dirty="0"/>
              <a:t>clause: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i="1" dirty="0"/>
              <a:t>		old-name </a:t>
            </a:r>
            <a:r>
              <a:rPr lang="en-US" altLang="en-US" sz="1700" b="1" dirty="0"/>
              <a:t>as</a:t>
            </a:r>
            <a:r>
              <a:rPr lang="en-US" altLang="en-US" sz="1700" i="1" dirty="0"/>
              <a:t> new-name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dirty="0"/>
              <a:t>SELECT name AS </a:t>
            </a:r>
            <a:r>
              <a:rPr lang="en-US" altLang="en-US" dirty="0" err="1"/>
              <a:t>instructor_name</a:t>
            </a:r>
            <a:r>
              <a:rPr lang="en-US" altLang="en-US" dirty="0"/>
              <a:t> FROM instructor;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names of all instructors who have a higher salary than </a:t>
            </a:r>
            <a:br>
              <a:rPr lang="en-US" altLang="en-US" sz="1700" dirty="0"/>
            </a:br>
            <a:r>
              <a:rPr lang="en-US" altLang="en-US" sz="1700" dirty="0"/>
              <a:t>some instructor in 'Comp. Sci'.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b="1" dirty="0"/>
              <a:t>select distinct </a:t>
            </a:r>
            <a:r>
              <a:rPr lang="en-US" altLang="en-US" sz="1700" i="1" dirty="0"/>
              <a:t>T.name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T, instructor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S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 err="1"/>
              <a:t>T.salary</a:t>
            </a:r>
            <a:r>
              <a:rPr lang="en-US" altLang="en-US" sz="1700" i="1" dirty="0"/>
              <a:t> &gt; </a:t>
            </a:r>
            <a:r>
              <a:rPr lang="en-US" altLang="en-US" sz="1700" i="1" dirty="0" err="1"/>
              <a:t>S.salary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S.dept_name</a:t>
            </a:r>
            <a:r>
              <a:rPr lang="en-US" altLang="en-US" sz="1700" i="1" dirty="0"/>
              <a:t> = 'Comp. Sci.’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Keyword </a:t>
            </a:r>
            <a:r>
              <a:rPr lang="en-US" altLang="en-US" sz="1700" b="1" dirty="0"/>
              <a:t>as</a:t>
            </a:r>
            <a:r>
              <a:rPr lang="en-US" altLang="en-US" sz="1700" dirty="0"/>
              <a:t> is optional and may be omitted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i="1" dirty="0"/>
              <a:t>instructor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 ≡ instructor</a:t>
            </a:r>
            <a:r>
              <a:rPr lang="en-US" altLang="en-US" sz="1700" b="1" dirty="0"/>
              <a:t> </a:t>
            </a:r>
            <a:r>
              <a:rPr lang="en-US" altLang="en-US" sz="1700" i="1" dirty="0"/>
              <a:t>T</a:t>
            </a:r>
          </a:p>
          <a:p>
            <a:pPr>
              <a:tabLst>
                <a:tab pos="2055813" algn="l"/>
              </a:tabLst>
            </a:pPr>
            <a:r>
              <a:rPr lang="en-IN" dirty="0"/>
              <a:t>Aliases are especially useful when the same table must participate more than once in a query, because each occurrence needs a different name so that its attributes can be distinguished.</a:t>
            </a:r>
            <a:endParaRPr lang="en-US" altLang="en-US" sz="1700" dirty="0"/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1463D-CE21-5670-E993-0B0A8891B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Rename Operation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2B267F-F5C9-847A-A806-511BB5B39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809674"/>
              </p:ext>
            </p:extLst>
          </p:nvPr>
        </p:nvGraphicFramePr>
        <p:xfrm>
          <a:off x="768350" y="713330"/>
          <a:ext cx="7707312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6828">
                  <a:extLst>
                    <a:ext uri="{9D8B030D-6E8A-4147-A177-3AD203B41FA5}">
                      <a16:colId xmlns:a16="http://schemas.microsoft.com/office/drawing/2014/main" val="2386110831"/>
                    </a:ext>
                  </a:extLst>
                </a:gridCol>
                <a:gridCol w="1926828">
                  <a:extLst>
                    <a:ext uri="{9D8B030D-6E8A-4147-A177-3AD203B41FA5}">
                      <a16:colId xmlns:a16="http://schemas.microsoft.com/office/drawing/2014/main" val="67890028"/>
                    </a:ext>
                  </a:extLst>
                </a:gridCol>
                <a:gridCol w="1926828">
                  <a:extLst>
                    <a:ext uri="{9D8B030D-6E8A-4147-A177-3AD203B41FA5}">
                      <a16:colId xmlns:a16="http://schemas.microsoft.com/office/drawing/2014/main" val="3231750942"/>
                    </a:ext>
                  </a:extLst>
                </a:gridCol>
                <a:gridCol w="1926828">
                  <a:extLst>
                    <a:ext uri="{9D8B030D-6E8A-4147-A177-3AD203B41FA5}">
                      <a16:colId xmlns:a16="http://schemas.microsoft.com/office/drawing/2014/main" val="21577683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dept_name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salary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556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Einstein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Physics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95,000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2585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90,000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9477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Katz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Comp. Sci.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75,000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0256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Srinivasan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Comp. Sci.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1784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Mozart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Music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40,000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04895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86A6707-5A7D-9B2F-246D-8D7B13DEA7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24539"/>
              </p:ext>
            </p:extLst>
          </p:nvPr>
        </p:nvGraphicFramePr>
        <p:xfrm>
          <a:off x="718344" y="3174022"/>
          <a:ext cx="7707312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53656">
                  <a:extLst>
                    <a:ext uri="{9D8B030D-6E8A-4147-A177-3AD203B41FA5}">
                      <a16:colId xmlns:a16="http://schemas.microsoft.com/office/drawing/2014/main" val="2021403738"/>
                    </a:ext>
                  </a:extLst>
                </a:gridCol>
                <a:gridCol w="3853656">
                  <a:extLst>
                    <a:ext uri="{9D8B030D-6E8A-4147-A177-3AD203B41FA5}">
                      <a16:colId xmlns:a16="http://schemas.microsoft.com/office/drawing/2014/main" val="84809143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S.name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S.salary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166343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Katz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75,000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10485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Srinivasan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dirty="0"/>
                        <a:t>65,000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02956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F3F0D27-A1E0-3F54-6ABC-9F0FF767DA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452919"/>
              </p:ext>
            </p:extLst>
          </p:nvPr>
        </p:nvGraphicFramePr>
        <p:xfrm>
          <a:off x="718344" y="4623317"/>
          <a:ext cx="7707313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07313">
                  <a:extLst>
                    <a:ext uri="{9D8B030D-6E8A-4147-A177-3AD203B41FA5}">
                      <a16:colId xmlns:a16="http://schemas.microsoft.com/office/drawing/2014/main" val="29783166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4956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Einstein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7319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8296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Katz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5248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18468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String Operations</a:t>
            </a:r>
          </a:p>
        </p:txBody>
      </p:sp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04024"/>
            <a:ext cx="7638802" cy="4648136"/>
          </a:xfrm>
        </p:spPr>
        <p:txBody>
          <a:bodyPr/>
          <a:lstStyle/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SQL includes a string-matching operator for comparisons on character strings.  The operator </a:t>
            </a:r>
            <a:r>
              <a:rPr lang="en-US" altLang="en-US" sz="1700" b="1" dirty="0"/>
              <a:t>like</a:t>
            </a:r>
            <a:r>
              <a:rPr lang="en-US" altLang="en-US" sz="1700" dirty="0"/>
              <a:t> uses patterns that are described using two special characters: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percent ( % ).  The % character matches any substring.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underscore ( _ ).  The _ character matches any character.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Find the names of all instructors whose name includes the substring “</a:t>
            </a:r>
            <a:r>
              <a:rPr lang="en-US" altLang="en-US" sz="1700" dirty="0" err="1"/>
              <a:t>dar</a:t>
            </a:r>
            <a:r>
              <a:rPr lang="en-US" altLang="en-US" sz="1700" dirty="0"/>
              <a:t>”.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700" b="1" dirty="0"/>
              <a:t>	se</a:t>
            </a:r>
            <a:r>
              <a:rPr lang="en-US" altLang="en-US" sz="1700" dirty="0"/>
              <a:t>le</a:t>
            </a:r>
            <a:r>
              <a:rPr lang="en-US" altLang="en-US" sz="1700" b="1" dirty="0"/>
              <a:t>ct </a:t>
            </a:r>
            <a:r>
              <a:rPr lang="en-US" altLang="en-US" sz="1700" i="1" dirty="0"/>
              <a:t>name</a:t>
            </a:r>
            <a:r>
              <a:rPr lang="en-US" altLang="en-US" i="1" dirty="0"/>
              <a:t>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r>
              <a:rPr lang="en-US" altLang="en-US" i="1" dirty="0"/>
              <a:t> </a:t>
            </a:r>
            <a:r>
              <a:rPr lang="en-US" altLang="en-US" sz="1700" b="1" dirty="0"/>
              <a:t>where</a:t>
            </a:r>
            <a:r>
              <a:rPr lang="en-US" altLang="en-US" sz="1700" b="1" i="1" dirty="0"/>
              <a:t> </a:t>
            </a:r>
            <a:r>
              <a:rPr lang="en-US" altLang="en-US" sz="1700" i="1" dirty="0"/>
              <a:t>name </a:t>
            </a:r>
            <a:r>
              <a:rPr lang="en-US" altLang="en-US" sz="1700" b="1" dirty="0"/>
              <a:t>like </a:t>
            </a:r>
            <a:r>
              <a:rPr lang="en-US" altLang="en-US" sz="1700" b="1" dirty="0">
                <a:latin typeface="Century Gothic" panose="020B0502020202020204" pitchFamily="34" charset="0"/>
              </a:rPr>
              <a:t>'</a:t>
            </a:r>
            <a:r>
              <a:rPr lang="en-US" altLang="en-US" sz="1700" dirty="0"/>
              <a:t>%</a:t>
            </a:r>
            <a:r>
              <a:rPr lang="en-US" altLang="en-US" sz="1700" dirty="0" err="1"/>
              <a:t>dar</a:t>
            </a:r>
            <a:r>
              <a:rPr lang="en-US" altLang="en-US" sz="1700" dirty="0"/>
              <a:t>%</a:t>
            </a:r>
            <a:r>
              <a:rPr lang="en-US" altLang="en-US" sz="1700" dirty="0">
                <a:latin typeface="Century Gothic" panose="020B0502020202020204" pitchFamily="34" charset="0"/>
              </a:rPr>
              <a:t>' 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endParaRPr lang="en-US" altLang="en-US" sz="17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7436BA-3CB6-942B-D64C-6D2B2368AF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9124662"/>
              </p:ext>
            </p:extLst>
          </p:nvPr>
        </p:nvGraphicFramePr>
        <p:xfrm>
          <a:off x="953294" y="3664649"/>
          <a:ext cx="7707312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9104">
                  <a:extLst>
                    <a:ext uri="{9D8B030D-6E8A-4147-A177-3AD203B41FA5}">
                      <a16:colId xmlns:a16="http://schemas.microsoft.com/office/drawing/2014/main" val="14204179"/>
                    </a:ext>
                  </a:extLst>
                </a:gridCol>
                <a:gridCol w="2569104">
                  <a:extLst>
                    <a:ext uri="{9D8B030D-6E8A-4147-A177-3AD203B41FA5}">
                      <a16:colId xmlns:a16="http://schemas.microsoft.com/office/drawing/2014/main" val="1322911432"/>
                    </a:ext>
                  </a:extLst>
                </a:gridCol>
                <a:gridCol w="2569104">
                  <a:extLst>
                    <a:ext uri="{9D8B030D-6E8A-4147-A177-3AD203B41FA5}">
                      <a16:colId xmlns:a16="http://schemas.microsoft.com/office/drawing/2014/main" val="1168435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Pattern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 matches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110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'dar%'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Starts with dar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darwin, darren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7533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'%dar'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Ends with dar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sundar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672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'%dar%'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Contains dar anywhere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sundar, darwin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975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'%'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Any string pattern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virtually any non-NULL string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56101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CD2D6-E10B-483C-D4E0-01AA2667A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String Operations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3A1CA1-348D-7713-EAAC-F8A87E3B020F}"/>
              </a:ext>
            </a:extLst>
          </p:cNvPr>
          <p:cNvSpPr txBox="1"/>
          <p:nvPr/>
        </p:nvSpPr>
        <p:spPr>
          <a:xfrm>
            <a:off x="768350" y="3743632"/>
            <a:ext cx="7861146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Match the string “100%”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700" b="1" dirty="0"/>
              <a:t>like </a:t>
            </a:r>
            <a:r>
              <a:rPr lang="en-US" altLang="en-US" sz="1700" b="1" dirty="0">
                <a:latin typeface="Century Gothic" panose="020B0502020202020204" pitchFamily="34" charset="0"/>
              </a:rPr>
              <a:t>'</a:t>
            </a:r>
            <a:r>
              <a:rPr lang="en-US" altLang="ja-JP" sz="1700" dirty="0"/>
              <a:t>100 \%</a:t>
            </a:r>
            <a:r>
              <a:rPr lang="en-US" altLang="ja-JP" sz="1700" dirty="0">
                <a:latin typeface="Century Gothic" panose="020B0502020202020204" pitchFamily="34" charset="0"/>
              </a:rPr>
              <a:t>' </a:t>
            </a:r>
            <a:r>
              <a:rPr lang="en-US" altLang="ja-JP" sz="1700" dirty="0"/>
              <a:t> </a:t>
            </a:r>
            <a:r>
              <a:rPr lang="en-US" altLang="ja-JP" sz="1700" b="1" dirty="0"/>
              <a:t>escape  </a:t>
            </a:r>
            <a:r>
              <a:rPr lang="en-US" altLang="ja-JP" sz="1700" b="1" dirty="0">
                <a:latin typeface="Century Gothic" panose="020B0502020202020204" pitchFamily="34" charset="0"/>
              </a:rPr>
              <a:t>'</a:t>
            </a:r>
            <a:r>
              <a:rPr lang="en-US" altLang="ja-JP" sz="1700" dirty="0"/>
              <a:t>\</a:t>
            </a:r>
            <a:r>
              <a:rPr lang="en-US" altLang="ja-JP" sz="1700" dirty="0">
                <a:latin typeface="Century Gothic" panose="020B0502020202020204" pitchFamily="34" charset="0"/>
              </a:rPr>
              <a:t>' </a:t>
            </a:r>
            <a:r>
              <a:rPr lang="en-US" altLang="en-US" sz="1700" dirty="0"/>
              <a:t>in that above we use backslash (\) as the escape character.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2A90350-52EC-D6B7-B21E-BC9F5A6A6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351" y="1093788"/>
            <a:ext cx="7382592" cy="215085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WHERE name LIKE '</a:t>
            </a:r>
            <a:r>
              <a:rPr lang="en-US" dirty="0" err="1"/>
              <a:t>A_i</a:t>
            </a:r>
            <a:r>
              <a:rPr lang="en-US" dirty="0"/>
              <a:t>’</a:t>
            </a:r>
          </a:p>
          <a:p>
            <a:pPr marL="0" indent="0">
              <a:buNone/>
            </a:pPr>
            <a:r>
              <a:rPr lang="en-IN" dirty="0"/>
              <a:t>Amit?   ✗</a:t>
            </a:r>
          </a:p>
          <a:p>
            <a:pPr marL="0" indent="0">
              <a:buNone/>
            </a:pPr>
            <a:r>
              <a:rPr lang="en-IN" dirty="0"/>
              <a:t>Ali     ✓</a:t>
            </a:r>
          </a:p>
          <a:p>
            <a:pPr marL="0" indent="0">
              <a:buNone/>
            </a:pPr>
            <a:r>
              <a:rPr lang="en-IN" dirty="0"/>
              <a:t>Ani     ✓</a:t>
            </a:r>
          </a:p>
          <a:p>
            <a:pPr marL="0" indent="0">
              <a:buNone/>
            </a:pPr>
            <a:r>
              <a:rPr lang="en-IN" dirty="0"/>
              <a:t>Axi     ✓</a:t>
            </a:r>
          </a:p>
          <a:p>
            <a:pPr marL="0" indent="0">
              <a:buNone/>
            </a:pPr>
            <a:r>
              <a:rPr lang="en-IN" dirty="0"/>
              <a:t>Ai      ✗</a:t>
            </a:r>
          </a:p>
        </p:txBody>
      </p:sp>
    </p:spTree>
    <p:extLst>
      <p:ext uri="{BB962C8B-B14F-4D97-AF65-F5344CB8AC3E}">
        <p14:creationId xmlns:p14="http://schemas.microsoft.com/office/powerpoint/2010/main" val="29052031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String Operations (Cont.)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434616" cy="4379912"/>
          </a:xfrm>
        </p:spPr>
        <p:txBody>
          <a:bodyPr/>
          <a:lstStyle/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Patterns are case sensitive. 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Pattern matching examples: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'Intro%' matches any string beginning with “Intro”.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'%Comp%' matches any string containing “Comp” as a substring.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'_ _ _' matches any string of exactly three characters.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'_ _ _ %' matches any string of at least three characters.</a:t>
            </a:r>
          </a:p>
          <a:p>
            <a:pPr lvl="1"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SQL supports a variety of string operations such as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concatenation (using “||”)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converting from upper to lower case (and vice versa)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finding string length, extracting substrings, etc.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3EB84-B424-06EE-AA73-49918061F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String Operations (Cont.)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25989-E8F0-3441-68A2-849E8AF32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SELECT </a:t>
            </a:r>
            <a:r>
              <a:rPr lang="en-IN" dirty="0" err="1"/>
              <a:t>first_name</a:t>
            </a:r>
            <a:r>
              <a:rPr lang="en-IN" dirty="0"/>
              <a:t> || </a:t>
            </a:r>
            <a:r>
              <a:rPr lang="en-IN" dirty="0" err="1"/>
              <a:t>last_name</a:t>
            </a:r>
            <a:r>
              <a:rPr lang="en-IN" dirty="0"/>
              <a:t> FROM student;</a:t>
            </a:r>
          </a:p>
          <a:p>
            <a:r>
              <a:rPr lang="en-US" dirty="0"/>
              <a:t>SELECT </a:t>
            </a:r>
            <a:r>
              <a:rPr lang="en-US" dirty="0" err="1"/>
              <a:t>first_name</a:t>
            </a:r>
            <a:r>
              <a:rPr lang="en-US" dirty="0"/>
              <a:t> || ' ' || </a:t>
            </a:r>
            <a:r>
              <a:rPr lang="en-US" dirty="0" err="1"/>
              <a:t>last_name</a:t>
            </a:r>
            <a:r>
              <a:rPr lang="en-US" dirty="0"/>
              <a:t> AS </a:t>
            </a:r>
            <a:r>
              <a:rPr lang="en-US" dirty="0" err="1"/>
              <a:t>full_name</a:t>
            </a:r>
            <a:r>
              <a:rPr lang="en-US" dirty="0"/>
              <a:t> FROM student;</a:t>
            </a:r>
          </a:p>
          <a:p>
            <a:r>
              <a:rPr lang="en-US" dirty="0"/>
              <a:t>SELECT CONCAT(</a:t>
            </a:r>
            <a:r>
              <a:rPr lang="en-US" dirty="0" err="1"/>
              <a:t>first_name</a:t>
            </a:r>
            <a:r>
              <a:rPr lang="en-US" dirty="0"/>
              <a:t>, ' ', </a:t>
            </a:r>
            <a:r>
              <a:rPr lang="en-US" dirty="0" err="1"/>
              <a:t>last_name</a:t>
            </a:r>
            <a:r>
              <a:rPr lang="en-US" dirty="0"/>
              <a:t>) AS </a:t>
            </a:r>
            <a:r>
              <a:rPr lang="en-US" dirty="0" err="1"/>
              <a:t>full_name</a:t>
            </a:r>
            <a:r>
              <a:rPr lang="en-US" dirty="0"/>
              <a:t> FROM student;</a:t>
            </a:r>
          </a:p>
          <a:p>
            <a:r>
              <a:rPr lang="en-IN" dirty="0"/>
              <a:t>SELECT LOWER('SHIRAZ KHURANA’);</a:t>
            </a:r>
          </a:p>
          <a:p>
            <a:r>
              <a:rPr lang="en-US" dirty="0"/>
              <a:t>SELECT UPPER(name) FROM instructor;</a:t>
            </a:r>
          </a:p>
          <a:p>
            <a:r>
              <a:rPr lang="en-US" dirty="0"/>
              <a:t>SELECT CHAR_LENGTH(name) FROM instructor;</a:t>
            </a:r>
          </a:p>
          <a:p>
            <a:r>
              <a:rPr lang="en-US" dirty="0"/>
              <a:t>SELECT name, CHAR_LENGTH(name) AS </a:t>
            </a:r>
            <a:r>
              <a:rPr lang="en-US" dirty="0" err="1"/>
              <a:t>name_length</a:t>
            </a:r>
            <a:r>
              <a:rPr lang="en-US" dirty="0"/>
              <a:t> FROM instructor;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27742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Ordering the Display of Tuples</a:t>
            </a:r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8075"/>
            <a:ext cx="7522211" cy="4085717"/>
          </a:xfrm>
        </p:spPr>
        <p:txBody>
          <a:bodyPr/>
          <a:lstStyle/>
          <a:p>
            <a:pPr>
              <a:tabLst>
                <a:tab pos="906463" algn="l"/>
              </a:tabLst>
            </a:pPr>
            <a:r>
              <a:rPr lang="en-US" altLang="en-US" sz="1700" dirty="0"/>
              <a:t>List in alphabetic order the names of all instructors </a:t>
            </a:r>
          </a:p>
          <a:p>
            <a:pPr>
              <a:buFont typeface="Monotype Sorts" charset="2"/>
              <a:buNone/>
              <a:tabLst>
                <a:tab pos="906463" algn="l"/>
              </a:tabLst>
            </a:pPr>
            <a:r>
              <a:rPr lang="en-US" altLang="en-US" sz="1700" dirty="0"/>
              <a:t>              </a:t>
            </a:r>
            <a:r>
              <a:rPr lang="en-US" altLang="en-US" sz="1700" b="1" dirty="0"/>
              <a:t>select distinct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  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dirty="0"/>
              <a:t>	</a:t>
            </a:r>
            <a:r>
              <a:rPr lang="en-US" altLang="en-US" sz="1700" b="1" dirty="0"/>
              <a:t>order by </a:t>
            </a:r>
            <a:r>
              <a:rPr lang="en-US" altLang="en-US" sz="1700" i="1" dirty="0"/>
              <a:t>name</a:t>
            </a:r>
            <a:endParaRPr lang="en-US" altLang="en-US" sz="1700" dirty="0"/>
          </a:p>
          <a:p>
            <a:pPr>
              <a:tabLst>
                <a:tab pos="906463" algn="l"/>
              </a:tabLst>
            </a:pPr>
            <a:r>
              <a:rPr lang="en-US" altLang="en-US" sz="1700" dirty="0"/>
              <a:t>We may specify </a:t>
            </a:r>
            <a:r>
              <a:rPr lang="en-US" altLang="en-US" sz="1700" b="1" dirty="0" err="1">
                <a:solidFill>
                  <a:srgbClr val="002060"/>
                </a:solidFill>
              </a:rPr>
              <a:t>desc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for descending order or </a:t>
            </a:r>
            <a:r>
              <a:rPr lang="en-US" altLang="en-US" sz="1700" b="1" dirty="0" err="1">
                <a:solidFill>
                  <a:srgbClr val="002060"/>
                </a:solidFill>
              </a:rPr>
              <a:t>asc</a:t>
            </a:r>
            <a:r>
              <a:rPr lang="en-US" altLang="en-US" sz="1700" dirty="0"/>
              <a:t> for ascending order, for each attribute; ascending order is the default.</a:t>
            </a:r>
          </a:p>
          <a:p>
            <a:pPr lvl="1">
              <a:tabLst>
                <a:tab pos="906463" algn="l"/>
              </a:tabLst>
            </a:pPr>
            <a:r>
              <a:rPr lang="en-US" altLang="en-US" sz="1700" dirty="0"/>
              <a:t>Example:  </a:t>
            </a:r>
            <a:r>
              <a:rPr lang="en-US" altLang="en-US" sz="1700" b="1" dirty="0"/>
              <a:t>order by</a:t>
            </a:r>
            <a:r>
              <a:rPr lang="en-US" altLang="en-US" sz="1700" dirty="0"/>
              <a:t>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</a:t>
            </a:r>
            <a:r>
              <a:rPr lang="en-US" altLang="en-US" sz="1700" b="1" dirty="0" err="1"/>
              <a:t>desc</a:t>
            </a:r>
            <a:endParaRPr lang="en-US" altLang="en-US" sz="1700" b="1" dirty="0"/>
          </a:p>
          <a:p>
            <a:pPr>
              <a:tabLst>
                <a:tab pos="906463" algn="l"/>
              </a:tabLst>
            </a:pPr>
            <a:r>
              <a:rPr lang="en-US" altLang="en-US" sz="1700" dirty="0"/>
              <a:t>Can sort on multiple attributes</a:t>
            </a:r>
          </a:p>
          <a:p>
            <a:pPr lvl="1">
              <a:tabLst>
                <a:tab pos="906463" algn="l"/>
              </a:tabLst>
            </a:pPr>
            <a:r>
              <a:rPr lang="en-US" altLang="en-US" sz="1700" dirty="0"/>
              <a:t>Example: </a:t>
            </a:r>
            <a:r>
              <a:rPr lang="en-US" altLang="en-US" sz="1700" b="1" dirty="0"/>
              <a:t>order by 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, name</a:t>
            </a:r>
          </a:p>
          <a:p>
            <a:pPr lvl="1">
              <a:tabLst>
                <a:tab pos="906463" algn="l"/>
              </a:tabLst>
            </a:pPr>
            <a:r>
              <a:rPr lang="en-IN" dirty="0"/>
              <a:t>Sort by A first; when A is the same for several rows, use B to decide their order.</a:t>
            </a:r>
            <a:endParaRPr lang="en-US" alt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1F05B-7698-3DA2-0D33-9749063EE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Ordering the Display of Tuples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F0BECBB-D2D0-831D-AC07-5DB8A53BF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820765"/>
              </p:ext>
            </p:extLst>
          </p:nvPr>
        </p:nvGraphicFramePr>
        <p:xfrm>
          <a:off x="837176" y="924401"/>
          <a:ext cx="7707312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53656">
                  <a:extLst>
                    <a:ext uri="{9D8B030D-6E8A-4147-A177-3AD203B41FA5}">
                      <a16:colId xmlns:a16="http://schemas.microsoft.com/office/drawing/2014/main" val="3192337764"/>
                    </a:ext>
                  </a:extLst>
                </a:gridCol>
                <a:gridCol w="3853656">
                  <a:extLst>
                    <a:ext uri="{9D8B030D-6E8A-4147-A177-3AD203B41FA5}">
                      <a16:colId xmlns:a16="http://schemas.microsoft.com/office/drawing/2014/main" val="103590452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dept_name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100591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Srinivasan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Comp. Sci.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133018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Einstein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Physics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010794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Katz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Comp. Sci.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40185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Physics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186466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Brandt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Comp. Sci.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48457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A83BF12-C7DF-76B6-E951-509F6CF56635}"/>
              </a:ext>
            </a:extLst>
          </p:cNvPr>
          <p:cNvSpPr txBox="1"/>
          <p:nvPr/>
        </p:nvSpPr>
        <p:spPr>
          <a:xfrm>
            <a:off x="2286000" y="3281845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ORDER BY </a:t>
            </a:r>
            <a:r>
              <a:rPr lang="en-IN" dirty="0" err="1"/>
              <a:t>dept_name</a:t>
            </a:r>
            <a:r>
              <a:rPr lang="en-IN" dirty="0"/>
              <a:t>, name;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66C77C-3CBC-52E6-CEB0-221F34E4AF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905891"/>
              </p:ext>
            </p:extLst>
          </p:nvPr>
        </p:nvGraphicFramePr>
        <p:xfrm>
          <a:off x="768350" y="3783283"/>
          <a:ext cx="7707312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53656">
                  <a:extLst>
                    <a:ext uri="{9D8B030D-6E8A-4147-A177-3AD203B41FA5}">
                      <a16:colId xmlns:a16="http://schemas.microsoft.com/office/drawing/2014/main" val="582483617"/>
                    </a:ext>
                  </a:extLst>
                </a:gridCol>
                <a:gridCol w="3853656">
                  <a:extLst>
                    <a:ext uri="{9D8B030D-6E8A-4147-A177-3AD203B41FA5}">
                      <a16:colId xmlns:a16="http://schemas.microsoft.com/office/drawing/2014/main" val="40782667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dept_name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3029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Comp. Sci.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Brandt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23002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Comp. Sci.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Katz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943289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Comp. Sci.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Srinivasan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06306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Physics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Einstein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782562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Physics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Gold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488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977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D0782-8F8D-BDD0-B71E-1BB440EA4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Ordering the Display of Tuples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099FE4-CDCC-1FF0-85E1-E1D3D195BEF4}"/>
              </a:ext>
            </a:extLst>
          </p:cNvPr>
          <p:cNvSpPr txBox="1"/>
          <p:nvPr/>
        </p:nvSpPr>
        <p:spPr>
          <a:xfrm>
            <a:off x="825909" y="813534"/>
            <a:ext cx="74921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</a:t>
            </a:r>
            <a:r>
              <a:rPr lang="en-IN" dirty="0" err="1"/>
              <a:t>dept_name</a:t>
            </a:r>
            <a:r>
              <a:rPr lang="en-IN" dirty="0"/>
              <a:t>, name, salary FROM instructor ORDER BY </a:t>
            </a:r>
            <a:r>
              <a:rPr lang="en-IN" dirty="0" err="1"/>
              <a:t>dept_name</a:t>
            </a:r>
            <a:r>
              <a:rPr lang="en-IN" dirty="0"/>
              <a:t> ASC, salary DESC;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9829622-0066-003F-6671-CC2ED9FB5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157461"/>
              </p:ext>
            </p:extLst>
          </p:nvPr>
        </p:nvGraphicFramePr>
        <p:xfrm>
          <a:off x="718343" y="1484768"/>
          <a:ext cx="7707312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9104">
                  <a:extLst>
                    <a:ext uri="{9D8B030D-6E8A-4147-A177-3AD203B41FA5}">
                      <a16:colId xmlns:a16="http://schemas.microsoft.com/office/drawing/2014/main" val="4075687608"/>
                    </a:ext>
                  </a:extLst>
                </a:gridCol>
                <a:gridCol w="2569104">
                  <a:extLst>
                    <a:ext uri="{9D8B030D-6E8A-4147-A177-3AD203B41FA5}">
                      <a16:colId xmlns:a16="http://schemas.microsoft.com/office/drawing/2014/main" val="3271506484"/>
                    </a:ext>
                  </a:extLst>
                </a:gridCol>
                <a:gridCol w="2569104">
                  <a:extLst>
                    <a:ext uri="{9D8B030D-6E8A-4147-A177-3AD203B41FA5}">
                      <a16:colId xmlns:a16="http://schemas.microsoft.com/office/drawing/2014/main" val="17343652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dept_name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salary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216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Comp. Sci.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Katz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75000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1155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Comp. Sci.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Brandt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92000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9100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Comp. Sci.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Srinivasan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8888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Physics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Einstein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95000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6241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Physics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87000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518145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1194F3E-922E-29BE-0732-9C32A4BE98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584906"/>
              </p:ext>
            </p:extLst>
          </p:nvPr>
        </p:nvGraphicFramePr>
        <p:xfrm>
          <a:off x="718343" y="3962569"/>
          <a:ext cx="7707312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9104">
                  <a:extLst>
                    <a:ext uri="{9D8B030D-6E8A-4147-A177-3AD203B41FA5}">
                      <a16:colId xmlns:a16="http://schemas.microsoft.com/office/drawing/2014/main" val="640349105"/>
                    </a:ext>
                  </a:extLst>
                </a:gridCol>
                <a:gridCol w="2569104">
                  <a:extLst>
                    <a:ext uri="{9D8B030D-6E8A-4147-A177-3AD203B41FA5}">
                      <a16:colId xmlns:a16="http://schemas.microsoft.com/office/drawing/2014/main" val="1940522177"/>
                    </a:ext>
                  </a:extLst>
                </a:gridCol>
                <a:gridCol w="2569104">
                  <a:extLst>
                    <a:ext uri="{9D8B030D-6E8A-4147-A177-3AD203B41FA5}">
                      <a16:colId xmlns:a16="http://schemas.microsoft.com/office/drawing/2014/main" val="37925645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dept_name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salary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199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Comp. Sci.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Brandt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92000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674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Comp. Sci.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Katz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75000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6533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Comp. Sci.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Srinivasan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3841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Physics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Einstein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95000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2124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Physics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87000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5466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11286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Where Clause Predicates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436866" cy="4665046"/>
          </a:xfrm>
        </p:spPr>
        <p:txBody>
          <a:bodyPr lIns="90488" tIns="44450" rIns="90488" bIns="44450"/>
          <a:lstStyle/>
          <a:p>
            <a:r>
              <a:rPr lang="en-US" altLang="en-US" sz="1700" dirty="0"/>
              <a:t>SQL includes a </a:t>
            </a:r>
            <a:r>
              <a:rPr lang="en-US" altLang="en-US" sz="1700" b="1" dirty="0">
                <a:solidFill>
                  <a:srgbClr val="002060"/>
                </a:solidFill>
              </a:rPr>
              <a:t>between</a:t>
            </a:r>
            <a:r>
              <a:rPr lang="en-US" altLang="en-US" sz="1700" dirty="0"/>
              <a:t> comparison operator</a:t>
            </a:r>
          </a:p>
          <a:p>
            <a:r>
              <a:rPr lang="en-US" altLang="en-US" sz="1700" dirty="0"/>
              <a:t>Example:  Find the names of all instructors with salary between $90,000 and $100,000 (that is, </a:t>
            </a:r>
            <a:r>
              <a:rPr lang="en-US" altLang="en-US" sz="1700" dirty="0">
                <a:latin typeface="Symbol" panose="05050102010706020507" pitchFamily="18" charset="2"/>
              </a:rPr>
              <a:t> </a:t>
            </a:r>
            <a:r>
              <a:rPr lang="en-US" altLang="en-US" sz="1700" dirty="0"/>
              <a:t>$90,000 and </a:t>
            </a:r>
            <a:r>
              <a:rPr lang="en-US" altLang="en-US" sz="1700" dirty="0">
                <a:latin typeface="Symbol" panose="05050102010706020507" pitchFamily="18" charset="2"/>
              </a:rPr>
              <a:t> </a:t>
            </a:r>
            <a:r>
              <a:rPr lang="en-US" altLang="en-US" sz="1700" dirty="0"/>
              <a:t>$100,000)</a:t>
            </a:r>
          </a:p>
          <a:p>
            <a:pPr lvl="1"/>
            <a:r>
              <a:rPr lang="en-US" altLang="en-US" sz="1700" b="1" dirty="0"/>
              <a:t>select</a:t>
            </a:r>
            <a:r>
              <a:rPr lang="en-US" altLang="en-US" sz="1700" i="1" dirty="0"/>
              <a:t> name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salary </a:t>
            </a:r>
            <a:r>
              <a:rPr lang="en-US" altLang="en-US" sz="1700" b="1" dirty="0"/>
              <a:t>between </a:t>
            </a:r>
            <a:r>
              <a:rPr lang="en-US" altLang="en-US" sz="1700" dirty="0"/>
              <a:t>90000 </a:t>
            </a:r>
            <a:r>
              <a:rPr lang="en-US" altLang="en-US" sz="1700" b="1" dirty="0"/>
              <a:t>and </a:t>
            </a:r>
            <a:r>
              <a:rPr lang="en-US" altLang="en-US" sz="1700" dirty="0"/>
              <a:t>100000</a:t>
            </a:r>
          </a:p>
          <a:p>
            <a:r>
              <a:rPr lang="en-US" altLang="en-US" sz="1700" dirty="0"/>
              <a:t>Tuple comparison</a:t>
            </a:r>
          </a:p>
          <a:p>
            <a:pPr lvl="1"/>
            <a:r>
              <a:rPr kumimoji="0" lang="en-US" altLang="en-US" sz="1700" b="1" dirty="0"/>
              <a:t>select </a:t>
            </a:r>
            <a:r>
              <a:rPr kumimoji="0" lang="en-US" altLang="en-US" sz="1700" i="1" dirty="0"/>
              <a:t>name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 err="1"/>
              <a:t>course_id</a:t>
            </a:r>
            <a:br>
              <a:rPr kumimoji="0" lang="en-US" altLang="en-US" sz="1700" i="1" dirty="0"/>
            </a:b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instructor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teaches</a:t>
            </a:r>
            <a:br>
              <a:rPr kumimoji="0" lang="en-US" altLang="en-US" sz="1700" i="1" dirty="0"/>
            </a:br>
            <a:r>
              <a:rPr kumimoji="0" lang="en-US" altLang="en-US" sz="1700" b="1" dirty="0"/>
              <a:t>where </a:t>
            </a:r>
            <a:r>
              <a:rPr kumimoji="0" lang="en-US" altLang="en-US" sz="1700" dirty="0"/>
              <a:t>(</a:t>
            </a:r>
            <a:r>
              <a:rPr kumimoji="0" lang="en-US" altLang="en-US" sz="1700" i="1" dirty="0"/>
              <a:t>instructor</a:t>
            </a:r>
            <a:r>
              <a:rPr kumimoji="0" lang="en-US" altLang="en-US" sz="1700" dirty="0"/>
              <a:t>.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dept_name</a:t>
            </a:r>
            <a:r>
              <a:rPr kumimoji="0" lang="en-US" altLang="en-US" sz="1700" dirty="0"/>
              <a:t>) = (</a:t>
            </a:r>
            <a:r>
              <a:rPr kumimoji="0" lang="en-US" altLang="en-US" sz="1700" i="1" dirty="0"/>
              <a:t>teaches</a:t>
            </a:r>
            <a:r>
              <a:rPr kumimoji="0" lang="en-US" altLang="en-US" sz="1700" dirty="0"/>
              <a:t>.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, 'Biology’);</a:t>
            </a:r>
          </a:p>
          <a:p>
            <a:pPr lvl="1"/>
            <a:r>
              <a:rPr kumimoji="0" lang="en-US" altLang="en-US" dirty="0"/>
              <a:t>SELECT name, </a:t>
            </a:r>
            <a:r>
              <a:rPr kumimoji="0" lang="en-US" altLang="en-US" dirty="0" err="1"/>
              <a:t>course_id</a:t>
            </a:r>
            <a:r>
              <a:rPr kumimoji="0" lang="en-US" altLang="en-US" dirty="0"/>
              <a:t> FROM instructor, teaches WHERE instructor.ID = teaches.ID  AND </a:t>
            </a:r>
            <a:r>
              <a:rPr kumimoji="0" lang="en-US" altLang="en-US" dirty="0" err="1"/>
              <a:t>dept_name</a:t>
            </a:r>
            <a:r>
              <a:rPr kumimoji="0" lang="en-US" altLang="en-US" dirty="0"/>
              <a:t> = 'Biology';</a:t>
            </a:r>
            <a:endParaRPr kumimoji="0" lang="en-US" altLang="en-US" sz="1700" dirty="0"/>
          </a:p>
          <a:p>
            <a:pPr lvl="1"/>
            <a:endParaRPr kumimoji="0" lang="en-US" altLang="en-US" sz="1700" dirty="0">
              <a:latin typeface="Times New Roman" panose="02020603050405020304" pitchFamily="18" charset="0"/>
            </a:endParaRPr>
          </a:p>
          <a:p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4F49B-22CC-0C2B-8973-6E8E45ED3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Where Clause Predicates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949EAB-517C-9361-E35C-0D74216ED6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3312"/>
              </p:ext>
            </p:extLst>
          </p:nvPr>
        </p:nvGraphicFramePr>
        <p:xfrm>
          <a:off x="856841" y="1073852"/>
          <a:ext cx="7707312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9104">
                  <a:extLst>
                    <a:ext uri="{9D8B030D-6E8A-4147-A177-3AD203B41FA5}">
                      <a16:colId xmlns:a16="http://schemas.microsoft.com/office/drawing/2014/main" val="828650408"/>
                    </a:ext>
                  </a:extLst>
                </a:gridCol>
                <a:gridCol w="2569104">
                  <a:extLst>
                    <a:ext uri="{9D8B030D-6E8A-4147-A177-3AD203B41FA5}">
                      <a16:colId xmlns:a16="http://schemas.microsoft.com/office/drawing/2014/main" val="1803872387"/>
                    </a:ext>
                  </a:extLst>
                </a:gridCol>
                <a:gridCol w="2569104">
                  <a:extLst>
                    <a:ext uri="{9D8B030D-6E8A-4147-A177-3AD203B41FA5}">
                      <a16:colId xmlns:a16="http://schemas.microsoft.com/office/drawing/2014/main" val="22490530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dept_name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6392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7120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Physics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6329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Ravi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Biology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498030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093D06E-CAF4-A044-3679-656ECDC22F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488071"/>
              </p:ext>
            </p:extLst>
          </p:nvPr>
        </p:nvGraphicFramePr>
        <p:xfrm>
          <a:off x="856841" y="2670610"/>
          <a:ext cx="7707312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53656">
                  <a:extLst>
                    <a:ext uri="{9D8B030D-6E8A-4147-A177-3AD203B41FA5}">
                      <a16:colId xmlns:a16="http://schemas.microsoft.com/office/drawing/2014/main" val="3073523004"/>
                    </a:ext>
                  </a:extLst>
                </a:gridCol>
                <a:gridCol w="3853656">
                  <a:extLst>
                    <a:ext uri="{9D8B030D-6E8A-4147-A177-3AD203B41FA5}">
                      <a16:colId xmlns:a16="http://schemas.microsoft.com/office/drawing/2014/main" val="234335989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course_id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688153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BIO-101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235146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BIO-201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330884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PHY-101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189903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BIO-301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032694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110A208-C2F4-05C0-0BA0-E4FE0ED45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477116"/>
              </p:ext>
            </p:extLst>
          </p:nvPr>
        </p:nvGraphicFramePr>
        <p:xfrm>
          <a:off x="856841" y="4888767"/>
          <a:ext cx="7707312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53656">
                  <a:extLst>
                    <a:ext uri="{9D8B030D-6E8A-4147-A177-3AD203B41FA5}">
                      <a16:colId xmlns:a16="http://schemas.microsoft.com/office/drawing/2014/main" val="1776963155"/>
                    </a:ext>
                  </a:extLst>
                </a:gridCol>
                <a:gridCol w="3853656">
                  <a:extLst>
                    <a:ext uri="{9D8B030D-6E8A-4147-A177-3AD203B41FA5}">
                      <a16:colId xmlns:a16="http://schemas.microsoft.com/office/drawing/2014/main" val="62666824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course_id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53915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BIO-101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959227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BIO-201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35443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Ravi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BIO-301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5976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96583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Operations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5375"/>
            <a:ext cx="7668514" cy="4903788"/>
          </a:xfrm>
        </p:spPr>
        <p:txBody>
          <a:bodyPr/>
          <a:lstStyle/>
          <a:p>
            <a:r>
              <a:rPr lang="en-US" altLang="en-US" sz="1700" dirty="0"/>
              <a:t>Find courses that ran in Fall 2017 or in Spring 2018</a:t>
            </a:r>
          </a:p>
          <a:p>
            <a:pPr marL="0" indent="0">
              <a:buNone/>
            </a:pPr>
            <a:r>
              <a:rPr lang="en-US" altLang="en-US" sz="1700" dirty="0"/>
              <a:t>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2017)</a:t>
            </a:r>
            <a:br>
              <a:rPr lang="en-US" altLang="en-US" sz="1600" dirty="0"/>
            </a:br>
            <a:r>
              <a:rPr lang="en-US" altLang="en-US" sz="1600" dirty="0"/>
              <a:t>           </a:t>
            </a:r>
            <a:r>
              <a:rPr lang="en-US" altLang="en-US" sz="1600" b="1" dirty="0"/>
              <a:t>union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2018)</a:t>
            </a:r>
            <a:endParaRPr lang="en-US" altLang="en-US" sz="1700" dirty="0"/>
          </a:p>
          <a:p>
            <a:r>
              <a:rPr lang="en-US" altLang="en-US" sz="1700" dirty="0"/>
              <a:t>Find courses that ran in Fall 2017 and in Spring 2018</a:t>
            </a:r>
          </a:p>
          <a:p>
            <a:pPr marL="0" indent="0">
              <a:buNone/>
            </a:pPr>
            <a:r>
              <a:rPr lang="en-US" altLang="en-US" sz="1700" dirty="0"/>
              <a:t>         </a:t>
            </a:r>
            <a:r>
              <a:rPr lang="en-US" altLang="en-US" sz="2000" dirty="0"/>
              <a:t>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2017)</a:t>
            </a:r>
            <a:br>
              <a:rPr lang="en-US" altLang="en-US" sz="1600" dirty="0"/>
            </a:br>
            <a:r>
              <a:rPr lang="en-US" altLang="en-US" sz="1600" dirty="0"/>
              <a:t>           </a:t>
            </a:r>
            <a:r>
              <a:rPr lang="en-US" altLang="en-US" sz="1600" b="1" dirty="0"/>
              <a:t>intersect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2018)</a:t>
            </a:r>
            <a:endParaRPr lang="en-US" altLang="en-US" sz="1700" dirty="0"/>
          </a:p>
          <a:p>
            <a:r>
              <a:rPr lang="en-US" altLang="en-US" sz="1700" dirty="0"/>
              <a:t>Find courses that ran in Fall 2017 but not in Spring 2018</a:t>
            </a:r>
          </a:p>
          <a:p>
            <a:pPr marL="0" indent="0">
              <a:buNone/>
            </a:pPr>
            <a:r>
              <a:rPr lang="en-US" altLang="en-US" sz="2000" dirty="0"/>
              <a:t>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2017)</a:t>
            </a:r>
            <a:br>
              <a:rPr lang="en-US" altLang="en-US" sz="1600" dirty="0"/>
            </a:br>
            <a:r>
              <a:rPr lang="en-US" altLang="en-US" sz="1600" dirty="0"/>
              <a:t>           </a:t>
            </a:r>
            <a:r>
              <a:rPr lang="en-US" altLang="en-US" sz="1600" b="1" dirty="0"/>
              <a:t>except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2018)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3045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Operations (Cont.)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19759"/>
            <a:ext cx="7647680" cy="3647313"/>
          </a:xfrm>
        </p:spPr>
        <p:txBody>
          <a:bodyPr/>
          <a:lstStyle/>
          <a:p>
            <a:r>
              <a:rPr lang="en-US" altLang="en-US" sz="1700" dirty="0"/>
              <a:t>Set operations </a:t>
            </a:r>
            <a:r>
              <a:rPr lang="en-US" altLang="en-US" sz="1700" b="1" dirty="0">
                <a:solidFill>
                  <a:srgbClr val="002060"/>
                </a:solidFill>
              </a:rPr>
              <a:t>union</a:t>
            </a:r>
            <a:r>
              <a:rPr lang="en-US" altLang="en-US" sz="1700" b="1" dirty="0"/>
              <a:t>, </a:t>
            </a:r>
            <a:r>
              <a:rPr lang="en-US" altLang="en-US" sz="1700" b="1" dirty="0">
                <a:solidFill>
                  <a:srgbClr val="002060"/>
                </a:solidFill>
              </a:rPr>
              <a:t>intersect</a:t>
            </a:r>
            <a:r>
              <a:rPr lang="en-US" altLang="en-US" sz="1700" b="1" dirty="0"/>
              <a:t>, </a:t>
            </a:r>
            <a:r>
              <a:rPr lang="en-US" altLang="en-US" sz="1700" dirty="0"/>
              <a:t>and </a:t>
            </a:r>
            <a:r>
              <a:rPr lang="en-US" altLang="en-US" sz="1700" b="1" dirty="0">
                <a:solidFill>
                  <a:srgbClr val="002060"/>
                </a:solidFill>
              </a:rPr>
              <a:t>except 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Each of the above operations automatically eliminates duplicates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To retain all duplicates use the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union all</a:t>
            </a:r>
            <a:r>
              <a:rPr lang="en-US" altLang="en-US" sz="1700" dirty="0">
                <a:solidFill>
                  <a:srgbClr val="002060"/>
                </a:solidFill>
                <a:sym typeface="Symbol" panose="05050102010706020507" pitchFamily="18" charset="2"/>
              </a:rPr>
              <a:t>,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intersect all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except all</a:t>
            </a:r>
            <a:r>
              <a:rPr lang="en-US" altLang="en-US" sz="1700" dirty="0">
                <a:solidFill>
                  <a:srgbClr val="002060"/>
                </a:solidFill>
                <a:sym typeface="Symbol" panose="05050102010706020507" pitchFamily="18" charset="2"/>
              </a:rPr>
              <a:t>.</a:t>
            </a:r>
            <a:b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</a:br>
            <a:endParaRPr lang="en-US" altLang="en-US" sz="1700" dirty="0">
              <a:solidFill>
                <a:srgbClr val="00206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Null Values</a:t>
            </a:r>
          </a:p>
        </p:txBody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612169" cy="4648136"/>
          </a:xfrm>
        </p:spPr>
        <p:txBody>
          <a:bodyPr/>
          <a:lstStyle/>
          <a:p>
            <a:r>
              <a:rPr lang="en-US" altLang="en-US" sz="1700" dirty="0"/>
              <a:t>It is possible for tuples to have a null value, denoted by </a:t>
            </a:r>
            <a:r>
              <a:rPr lang="en-US" altLang="en-US" sz="1700" b="1" dirty="0"/>
              <a:t>null</a:t>
            </a:r>
            <a:r>
              <a:rPr lang="en-US" altLang="en-US" sz="1700" dirty="0"/>
              <a:t>, for some of their attributes</a:t>
            </a:r>
          </a:p>
          <a:p>
            <a:r>
              <a:rPr lang="en-US" altLang="en-US" sz="1700" b="1" dirty="0"/>
              <a:t>null</a:t>
            </a:r>
            <a:r>
              <a:rPr lang="en-US" altLang="en-US" sz="1700" dirty="0"/>
              <a:t> signifies an unknown value or that a value does not exist.</a:t>
            </a:r>
          </a:p>
          <a:p>
            <a:r>
              <a:rPr lang="en-US" altLang="en-US" sz="1700" dirty="0"/>
              <a:t>The result of any arithmetic expression involving </a:t>
            </a:r>
            <a:r>
              <a:rPr lang="en-US" altLang="en-US" sz="1700" b="1" dirty="0"/>
              <a:t>null</a:t>
            </a:r>
            <a:r>
              <a:rPr lang="en-US" altLang="en-US" sz="1700" dirty="0"/>
              <a:t> is </a:t>
            </a:r>
            <a:r>
              <a:rPr lang="en-US" altLang="en-US" sz="1700" b="1" dirty="0"/>
              <a:t>null</a:t>
            </a:r>
          </a:p>
          <a:p>
            <a:pPr lvl="1"/>
            <a:r>
              <a:rPr lang="en-US" altLang="en-US" sz="1700" dirty="0"/>
              <a:t>Example:  5 + </a:t>
            </a:r>
            <a:r>
              <a:rPr lang="en-US" altLang="en-US" sz="1700" b="1" dirty="0"/>
              <a:t>null</a:t>
            </a:r>
            <a:r>
              <a:rPr lang="en-US" altLang="en-US" sz="1700" dirty="0"/>
              <a:t>  returns </a:t>
            </a:r>
            <a:r>
              <a:rPr lang="en-US" altLang="en-US" sz="1700" b="1" dirty="0"/>
              <a:t>null</a:t>
            </a:r>
          </a:p>
          <a:p>
            <a:r>
              <a:rPr lang="en-US" altLang="en-US" sz="1700" dirty="0"/>
              <a:t>The predicate  </a:t>
            </a:r>
            <a:r>
              <a:rPr lang="en-US" altLang="en-US" sz="1700" b="1" dirty="0"/>
              <a:t>is null</a:t>
            </a:r>
            <a:r>
              <a:rPr lang="en-US" altLang="en-US" sz="1700" dirty="0"/>
              <a:t> can be used to check for null values.</a:t>
            </a:r>
          </a:p>
          <a:p>
            <a:pPr lvl="1"/>
            <a:r>
              <a:rPr lang="en-US" altLang="en-US" sz="1700" dirty="0"/>
              <a:t>Example: Find all instructors whose salary is null</a:t>
            </a:r>
            <a:r>
              <a:rPr lang="en-US" altLang="en-US" sz="1700" i="1" dirty="0"/>
              <a:t>.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		select</a:t>
            </a:r>
            <a:r>
              <a:rPr lang="en-US" altLang="en-US" sz="1700" i="1" dirty="0"/>
              <a:t> 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</a:t>
            </a:r>
            <a:r>
              <a:rPr lang="en-US" altLang="en-US" sz="1700" i="1" dirty="0"/>
              <a:t> 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salary </a:t>
            </a:r>
            <a:r>
              <a:rPr lang="en-US" altLang="en-US" sz="1700" b="1" dirty="0"/>
              <a:t>is null</a:t>
            </a:r>
            <a:endParaRPr lang="en-US" altLang="en-US" sz="1700" dirty="0"/>
          </a:p>
          <a:p>
            <a:r>
              <a:rPr lang="en-US" altLang="en-US" sz="1700" dirty="0"/>
              <a:t>The predicate </a:t>
            </a:r>
            <a:r>
              <a:rPr lang="en-US" altLang="en-US" sz="1700" b="1" dirty="0"/>
              <a:t>is not null </a:t>
            </a:r>
            <a:r>
              <a:rPr lang="en-US" altLang="en-US" sz="1700" dirty="0"/>
              <a:t>succeeds if the value on which it is applied is not null.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27116-7BC3-7F68-441A-3D7D2C25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Null Values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6FDB4A3-7F72-D489-373A-407D56F4BC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447626"/>
              </p:ext>
            </p:extLst>
          </p:nvPr>
        </p:nvGraphicFramePr>
        <p:xfrm>
          <a:off x="768350" y="2128361"/>
          <a:ext cx="7707312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53656">
                  <a:extLst>
                    <a:ext uri="{9D8B030D-6E8A-4147-A177-3AD203B41FA5}">
                      <a16:colId xmlns:a16="http://schemas.microsoft.com/office/drawing/2014/main" val="1504583167"/>
                    </a:ext>
                  </a:extLst>
                </a:gridCol>
                <a:gridCol w="3853656">
                  <a:extLst>
                    <a:ext uri="{9D8B030D-6E8A-4147-A177-3AD203B41FA5}">
                      <a16:colId xmlns:a16="http://schemas.microsoft.com/office/drawing/2014/main" val="401901915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Expression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3198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Unknown/missing/not applicable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107893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5 +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69467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salary IS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Salary is missing/unknown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27545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salary IS 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Salary has a non-NULL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803864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salary =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Do not use for NULL checking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63525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salary &lt;&gt;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Do not use for NULL checking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405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55678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120650"/>
            <a:ext cx="8077200" cy="609600"/>
          </a:xfrm>
        </p:spPr>
        <p:txBody>
          <a:bodyPr/>
          <a:lstStyle/>
          <a:p>
            <a:r>
              <a:rPr lang="en-US" altLang="en-US" sz="2800" dirty="0"/>
              <a:t>Null Values (Cont.)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06489"/>
            <a:ext cx="7563776" cy="4818824"/>
          </a:xfrm>
        </p:spPr>
        <p:txBody>
          <a:bodyPr/>
          <a:lstStyle/>
          <a:p>
            <a:r>
              <a:rPr lang="en-US" altLang="en-US" sz="1700" dirty="0"/>
              <a:t>SQL treats as </a:t>
            </a:r>
            <a:r>
              <a:rPr lang="en-US" altLang="en-US" sz="1700" b="1" dirty="0"/>
              <a:t>unknown</a:t>
            </a:r>
            <a:r>
              <a:rPr lang="en-US" altLang="en-US" sz="1700" dirty="0"/>
              <a:t> the result of any comparison involving a null value (other than predicates </a:t>
            </a:r>
            <a:r>
              <a:rPr lang="en-US" altLang="en-US" sz="1700" b="1" dirty="0"/>
              <a:t>is null </a:t>
            </a:r>
            <a:r>
              <a:rPr lang="en-US" altLang="en-US" sz="1700" dirty="0"/>
              <a:t>and  </a:t>
            </a:r>
            <a:r>
              <a:rPr lang="en-US" altLang="en-US" sz="1700" b="1" dirty="0"/>
              <a:t>is not null</a:t>
            </a:r>
            <a:r>
              <a:rPr lang="en-US" altLang="en-US" sz="1700" dirty="0"/>
              <a:t>).</a:t>
            </a:r>
          </a:p>
          <a:p>
            <a:pPr lvl="1"/>
            <a:r>
              <a:rPr lang="en-US" altLang="en-US" sz="1700" dirty="0"/>
              <a:t>Example</a:t>
            </a:r>
            <a:r>
              <a:rPr lang="en-US" altLang="en-US" sz="1700" i="1" dirty="0"/>
              <a:t>: 5 &lt;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  </a:t>
            </a:r>
            <a:r>
              <a:rPr lang="en-US" altLang="en-US" sz="1700" dirty="0"/>
              <a:t>or</a:t>
            </a:r>
            <a:r>
              <a:rPr lang="en-US" altLang="en-US" sz="1700" i="1" dirty="0"/>
              <a:t>  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&lt;&gt;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   </a:t>
            </a:r>
            <a:r>
              <a:rPr lang="en-US" altLang="en-US" sz="1700" dirty="0"/>
              <a:t>or</a:t>
            </a:r>
            <a:r>
              <a:rPr lang="en-US" altLang="en-US" sz="1700" i="1" dirty="0"/>
              <a:t>   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= </a:t>
            </a:r>
            <a:r>
              <a:rPr lang="en-US" altLang="en-US" sz="1700" b="1" dirty="0"/>
              <a:t>null</a:t>
            </a:r>
            <a:endParaRPr lang="en-US" altLang="en-US" sz="1700" dirty="0"/>
          </a:p>
          <a:p>
            <a:r>
              <a:rPr lang="en-US" altLang="en-US" sz="1700" dirty="0"/>
              <a:t>The predicate in a </a:t>
            </a:r>
            <a:r>
              <a:rPr lang="en-US" altLang="en-US" sz="1700" b="1" dirty="0"/>
              <a:t>where</a:t>
            </a:r>
            <a:r>
              <a:rPr lang="en-US" altLang="en-US" sz="1700" dirty="0"/>
              <a:t> clause can involve Boolean operations (</a:t>
            </a:r>
            <a:r>
              <a:rPr lang="en-US" altLang="en-US" sz="1700" b="1" dirty="0"/>
              <a:t>and</a:t>
            </a:r>
            <a:r>
              <a:rPr lang="en-US" altLang="en-US" sz="1700" dirty="0"/>
              <a:t>, </a:t>
            </a:r>
            <a:r>
              <a:rPr lang="en-US" altLang="en-US" sz="1700" b="1" dirty="0"/>
              <a:t>or</a:t>
            </a:r>
            <a:r>
              <a:rPr lang="en-US" altLang="en-US" sz="1700" dirty="0"/>
              <a:t>, </a:t>
            </a:r>
            <a:r>
              <a:rPr lang="en-US" altLang="en-US" sz="1700" b="1" dirty="0"/>
              <a:t>not</a:t>
            </a:r>
            <a:r>
              <a:rPr lang="en-US" altLang="en-US" sz="1700" dirty="0"/>
              <a:t>); thus the definitions of the Boolean operations need to be  extended to deal with the value </a:t>
            </a:r>
            <a:r>
              <a:rPr lang="en-US" altLang="en-US" sz="1700" b="1" dirty="0"/>
              <a:t>unknown</a:t>
            </a:r>
            <a:r>
              <a:rPr lang="en-US" altLang="en-US" sz="1700" dirty="0"/>
              <a:t>.</a:t>
            </a:r>
          </a:p>
          <a:p>
            <a:pPr lvl="1"/>
            <a:r>
              <a:rPr lang="en-US" altLang="en-US" sz="1700" b="1" dirty="0"/>
              <a:t>and </a:t>
            </a:r>
            <a:r>
              <a:rPr lang="en-US" altLang="en-US" sz="1700" dirty="0"/>
              <a:t>:</a:t>
            </a:r>
            <a:r>
              <a:rPr lang="en-US" altLang="en-US" sz="1700" i="1" dirty="0"/>
              <a:t> (true</a:t>
            </a:r>
            <a:r>
              <a:rPr lang="en-US" altLang="en-US" sz="1700" b="1" dirty="0"/>
              <a:t> and </a:t>
            </a:r>
            <a:r>
              <a:rPr lang="en-US" altLang="en-US" sz="1700" i="1" dirty="0"/>
              <a:t>unknown)  = unknown,    </a:t>
            </a:r>
            <a:br>
              <a:rPr lang="en-US" altLang="en-US" sz="1700" i="1" dirty="0"/>
            </a:br>
            <a:r>
              <a:rPr lang="en-US" altLang="en-US" sz="1700" i="1" dirty="0"/>
              <a:t>          (false</a:t>
            </a:r>
            <a:r>
              <a:rPr lang="en-US" altLang="en-US" sz="1700" b="1" dirty="0"/>
              <a:t> and </a:t>
            </a:r>
            <a:r>
              <a:rPr lang="en-US" altLang="en-US" sz="1700" i="1" dirty="0"/>
              <a:t>unknown) = false,</a:t>
            </a:r>
            <a:br>
              <a:rPr lang="en-US" altLang="en-US" sz="1700" i="1" dirty="0"/>
            </a:br>
            <a:r>
              <a:rPr lang="en-US" altLang="en-US" sz="1700" i="1" dirty="0"/>
              <a:t>          (unknown </a:t>
            </a:r>
            <a:r>
              <a:rPr lang="en-US" altLang="en-US" sz="1700" b="1" dirty="0"/>
              <a:t>and</a:t>
            </a:r>
            <a:r>
              <a:rPr lang="en-US" altLang="en-US" sz="1700" i="1" dirty="0"/>
              <a:t> unknown) = unknown</a:t>
            </a:r>
            <a:endParaRPr lang="en-US" altLang="en-US" sz="1700" dirty="0"/>
          </a:p>
          <a:p>
            <a:pPr lvl="1"/>
            <a:r>
              <a:rPr lang="en-US" altLang="en-US" sz="1700" b="1" dirty="0"/>
              <a:t>or:    </a:t>
            </a:r>
            <a:r>
              <a:rPr lang="en-US" altLang="en-US" sz="1700" dirty="0"/>
              <a:t> (</a:t>
            </a:r>
            <a:r>
              <a:rPr lang="en-US" altLang="en-US" sz="1700" i="1" dirty="0"/>
              <a:t>unknown</a:t>
            </a:r>
            <a:r>
              <a:rPr lang="en-US" altLang="en-US" sz="1700" dirty="0"/>
              <a:t> </a:t>
            </a:r>
            <a:r>
              <a:rPr lang="en-US" altLang="en-US" sz="1700" b="1" dirty="0"/>
              <a:t>or</a:t>
            </a:r>
            <a:r>
              <a:rPr lang="en-US" altLang="en-US" sz="1700" dirty="0"/>
              <a:t> </a:t>
            </a:r>
            <a:r>
              <a:rPr lang="en-US" altLang="en-US" sz="1700" i="1" dirty="0"/>
              <a:t>true</a:t>
            </a:r>
            <a:r>
              <a:rPr lang="en-US" altLang="en-US" sz="1700" dirty="0"/>
              <a:t>)   = </a:t>
            </a:r>
            <a:r>
              <a:rPr lang="en-US" altLang="en-US" sz="1700" i="1" dirty="0"/>
              <a:t>true</a:t>
            </a:r>
            <a:r>
              <a:rPr lang="en-US" altLang="en-US" sz="1700" dirty="0"/>
              <a:t>,</a:t>
            </a:r>
            <a:br>
              <a:rPr lang="en-US" altLang="en-US" sz="1700" dirty="0"/>
            </a:br>
            <a:r>
              <a:rPr lang="en-US" altLang="en-US" sz="1700" dirty="0"/>
              <a:t>          (</a:t>
            </a:r>
            <a:r>
              <a:rPr lang="en-US" altLang="en-US" sz="1700" i="1" dirty="0"/>
              <a:t>unknown</a:t>
            </a:r>
            <a:r>
              <a:rPr lang="en-US" altLang="en-US" sz="1700" dirty="0"/>
              <a:t> </a:t>
            </a:r>
            <a:r>
              <a:rPr lang="en-US" altLang="en-US" sz="1700" b="1" dirty="0"/>
              <a:t>or</a:t>
            </a:r>
            <a:r>
              <a:rPr lang="en-US" altLang="en-US" sz="1700" dirty="0"/>
              <a:t> </a:t>
            </a:r>
            <a:r>
              <a:rPr lang="en-US" altLang="en-US" sz="1700" i="1" dirty="0"/>
              <a:t>false</a:t>
            </a:r>
            <a:r>
              <a:rPr lang="en-US" altLang="en-US" sz="1700" dirty="0"/>
              <a:t>)  = </a:t>
            </a:r>
            <a:r>
              <a:rPr lang="en-US" altLang="en-US" sz="1700" i="1" dirty="0"/>
              <a:t>unknown</a:t>
            </a:r>
            <a:br>
              <a:rPr lang="en-US" altLang="en-US" sz="1700" dirty="0"/>
            </a:br>
            <a:r>
              <a:rPr lang="en-US" altLang="en-US" sz="1700" dirty="0"/>
              <a:t>          (</a:t>
            </a:r>
            <a:r>
              <a:rPr lang="en-US" altLang="en-US" sz="1700" i="1" dirty="0"/>
              <a:t>unknown </a:t>
            </a:r>
            <a:r>
              <a:rPr lang="en-US" altLang="en-US" sz="1700" b="1" dirty="0"/>
              <a:t>or</a:t>
            </a:r>
            <a:r>
              <a:rPr lang="en-US" altLang="en-US" sz="1700" i="1" dirty="0"/>
              <a:t> unknown) = unknown</a:t>
            </a:r>
          </a:p>
          <a:p>
            <a:r>
              <a:rPr lang="en-US" altLang="en-US" sz="1700" dirty="0"/>
              <a:t>Result of </a:t>
            </a:r>
            <a:r>
              <a:rPr lang="en-US" altLang="en-US" sz="1700" b="1" dirty="0"/>
              <a:t>where </a:t>
            </a:r>
            <a:r>
              <a:rPr lang="en-US" altLang="en-US" sz="1700" dirty="0"/>
              <a:t>clause predicate is treated as </a:t>
            </a:r>
            <a:r>
              <a:rPr lang="en-US" altLang="en-US" sz="1700" i="1" dirty="0"/>
              <a:t>false </a:t>
            </a:r>
            <a:r>
              <a:rPr lang="en-US" altLang="en-US" sz="1700" dirty="0"/>
              <a:t>if it evaluates to </a:t>
            </a:r>
            <a:r>
              <a:rPr lang="en-US" altLang="en-US" sz="1700" i="1" dirty="0"/>
              <a:t>unknown</a:t>
            </a:r>
            <a:endParaRPr lang="en-US" altLang="en-US" sz="1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253986" cy="3795204"/>
          </a:xfrm>
        </p:spPr>
        <p:txBody>
          <a:bodyPr/>
          <a:lstStyle/>
          <a:p>
            <a:pPr>
              <a:tabLst>
                <a:tab pos="2222500" algn="l"/>
              </a:tabLst>
            </a:pPr>
            <a:r>
              <a:rPr lang="en-US" altLang="en-US" sz="1700" dirty="0"/>
              <a:t>These functions operate on the multiset of values of a column of a relation, and return a value</a:t>
            </a:r>
          </a:p>
          <a:p>
            <a:pPr>
              <a:buFont typeface="Monotype Sorts" charset="2"/>
              <a:buNone/>
              <a:tabLst>
                <a:tab pos="2222500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: </a:t>
            </a:r>
            <a:r>
              <a:rPr lang="en-US" altLang="en-US" sz="1700" dirty="0"/>
              <a:t>average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min:  </a:t>
            </a:r>
            <a:r>
              <a:rPr lang="en-US" altLang="en-US" sz="1700" dirty="0"/>
              <a:t>minimum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max:  </a:t>
            </a:r>
            <a:r>
              <a:rPr lang="en-US" altLang="en-US" sz="1700" dirty="0"/>
              <a:t>maximum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sum:  </a:t>
            </a:r>
            <a:r>
              <a:rPr lang="en-US" altLang="en-US" sz="1700" dirty="0"/>
              <a:t>sum of values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count:  </a:t>
            </a:r>
            <a:r>
              <a:rPr lang="en-US" altLang="en-US" sz="1700" dirty="0"/>
              <a:t>number of values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 Examples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8075"/>
            <a:ext cx="7681913" cy="4805045"/>
          </a:xfrm>
        </p:spPr>
        <p:txBody>
          <a:bodyPr/>
          <a:lstStyle/>
          <a:p>
            <a:pPr>
              <a:tabLst>
                <a:tab pos="1711325" algn="l"/>
              </a:tabLst>
            </a:pPr>
            <a:r>
              <a:rPr lang="en-US" altLang="en-US" sz="1700" dirty="0"/>
              <a:t>Find the average salary of instructors in the Computer Science department </a:t>
            </a:r>
          </a:p>
          <a:p>
            <a:pPr lvl="1">
              <a:tabLst>
                <a:tab pos="1711325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= 'Comp. Sci.';</a:t>
            </a:r>
          </a:p>
          <a:p>
            <a:pPr>
              <a:tabLst>
                <a:tab pos="1711325" algn="l"/>
              </a:tabLst>
            </a:pPr>
            <a:r>
              <a:rPr kumimoji="0" lang="en-US" altLang="en-US" sz="1700" dirty="0"/>
              <a:t>Find the total number of instructors who teach a course in the Spring 2018 semester</a:t>
            </a:r>
          </a:p>
          <a:p>
            <a:pPr lvl="1">
              <a:tabLst>
                <a:tab pos="1711325" algn="l"/>
              </a:tabLst>
            </a:pPr>
            <a:r>
              <a:rPr kumimoji="0" lang="en-US" altLang="en-US" sz="1700" b="1" dirty="0"/>
              <a:t>select count </a:t>
            </a:r>
            <a:r>
              <a:rPr kumimoji="0" lang="en-US" altLang="en-US" sz="1700" dirty="0"/>
              <a:t>(</a:t>
            </a:r>
            <a:r>
              <a:rPr kumimoji="0" lang="en-US" altLang="en-US" sz="1700" b="1" dirty="0"/>
              <a:t>distinct 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)</a:t>
            </a:r>
            <a:br>
              <a:rPr kumimoji="0" lang="en-US" altLang="en-US" sz="1700" dirty="0"/>
            </a:b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teaches</a:t>
            </a:r>
            <a:br>
              <a:rPr kumimoji="0" lang="en-US" altLang="en-US" sz="1700" i="1" dirty="0"/>
            </a:br>
            <a:r>
              <a:rPr kumimoji="0" lang="en-US" altLang="en-US" sz="1700" b="1" dirty="0"/>
              <a:t>where </a:t>
            </a:r>
            <a:r>
              <a:rPr kumimoji="0" lang="en-US" altLang="en-US" sz="1700" i="1" dirty="0"/>
              <a:t>semester </a:t>
            </a:r>
            <a:r>
              <a:rPr kumimoji="0" lang="en-US" altLang="en-US" sz="1700" dirty="0"/>
              <a:t>= 'Spring' </a:t>
            </a:r>
            <a:r>
              <a:rPr kumimoji="0" lang="en-US" altLang="en-US" sz="1700" b="1" dirty="0"/>
              <a:t>and </a:t>
            </a:r>
            <a:r>
              <a:rPr kumimoji="0" lang="en-US" altLang="en-US" sz="1700" i="1" dirty="0"/>
              <a:t>year </a:t>
            </a:r>
            <a:r>
              <a:rPr kumimoji="0" lang="en-US" altLang="en-US" sz="1700" dirty="0"/>
              <a:t>= 2018;</a:t>
            </a:r>
          </a:p>
          <a:p>
            <a:pPr>
              <a:tabLst>
                <a:tab pos="1711325" algn="l"/>
              </a:tabLst>
            </a:pPr>
            <a:r>
              <a:rPr kumimoji="0" lang="en-US" altLang="en-US" sz="1700" dirty="0"/>
              <a:t>Find the number of tuples in the </a:t>
            </a:r>
            <a:r>
              <a:rPr kumimoji="0" lang="en-US" altLang="en-US" sz="1700" i="1" dirty="0"/>
              <a:t>course </a:t>
            </a:r>
            <a:r>
              <a:rPr kumimoji="0" lang="en-US" altLang="en-US" sz="1700" dirty="0"/>
              <a:t>relation</a:t>
            </a:r>
          </a:p>
          <a:p>
            <a:pPr lvl="1">
              <a:tabLst>
                <a:tab pos="1711325" algn="l"/>
              </a:tabLst>
            </a:pPr>
            <a:r>
              <a:rPr kumimoji="0" lang="en-US" altLang="en-US" sz="1700" b="1" dirty="0"/>
              <a:t>select count </a:t>
            </a:r>
            <a:r>
              <a:rPr kumimoji="0" lang="en-US" altLang="en-US" sz="1700" dirty="0"/>
              <a:t>(*)</a:t>
            </a:r>
            <a:br>
              <a:rPr kumimoji="0" lang="en-US" altLang="en-US" sz="1700" dirty="0"/>
            </a:b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course</a:t>
            </a:r>
            <a:r>
              <a:rPr kumimoji="0" lang="en-US" altLang="en-US" sz="1700" dirty="0"/>
              <a:t>;</a:t>
            </a:r>
          </a:p>
          <a:p>
            <a:pPr lvl="1">
              <a:buNone/>
              <a:tabLst>
                <a:tab pos="1711325" algn="l"/>
              </a:tabLst>
            </a:pPr>
            <a:endParaRPr kumimoji="0" lang="en-US" altLang="en-US" dirty="0"/>
          </a:p>
          <a:p>
            <a:pPr>
              <a:tabLst>
                <a:tab pos="1711325" algn="l"/>
              </a:tabLst>
            </a:pPr>
            <a:endParaRPr lang="en-US" altLang="en-US" dirty="0"/>
          </a:p>
        </p:txBody>
      </p:sp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758825" y="2813050"/>
            <a:ext cx="7681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800"/>
              <a:t>   </a:t>
            </a:r>
            <a:endParaRPr lang="en-US" altLang="en-US" sz="16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 – Group By</a:t>
            </a:r>
          </a:p>
        </p:txBody>
      </p:sp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23939"/>
            <a:ext cx="7900162" cy="1292542"/>
          </a:xfrm>
        </p:spPr>
        <p:txBody>
          <a:bodyPr/>
          <a:lstStyle/>
          <a:p>
            <a:pPr>
              <a:tabLst>
                <a:tab pos="625475" algn="l"/>
              </a:tabLst>
            </a:pPr>
            <a:r>
              <a:rPr lang="en-US" altLang="en-US" sz="1700" dirty="0"/>
              <a:t>Find the average salary of instructors in each department</a:t>
            </a:r>
          </a:p>
          <a:p>
            <a:pPr lvl="1">
              <a:tabLst>
                <a:tab pos="625475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avg_salary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;</a:t>
            </a:r>
          </a:p>
          <a:p>
            <a:pPr lvl="1">
              <a:buNone/>
              <a:tabLst>
                <a:tab pos="625475" algn="l"/>
              </a:tabLst>
            </a:pPr>
            <a:endParaRPr lang="en-US" altLang="en-US" sz="1700" dirty="0"/>
          </a:p>
          <a:p>
            <a:pPr lvl="1">
              <a:tabLst>
                <a:tab pos="625475" algn="l"/>
              </a:tabLst>
            </a:pPr>
            <a:endParaRPr lang="en-US" altLang="en-US" dirty="0"/>
          </a:p>
          <a:p>
            <a:pPr lvl="1">
              <a:tabLst>
                <a:tab pos="625475" algn="l"/>
              </a:tabLst>
            </a:pPr>
            <a:endParaRPr lang="en-US" alt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696F0C8-535A-4899-86A4-1FC72B33C244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771" t="2012" r="19587" b="13353"/>
          <a:stretch/>
        </p:blipFill>
        <p:spPr>
          <a:xfrm>
            <a:off x="641556" y="2528706"/>
            <a:ext cx="3930444" cy="341553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1B06BB8-D7A3-4C3D-838A-568EB83A706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1384" t="3188" r="31718" b="23128"/>
          <a:stretch/>
        </p:blipFill>
        <p:spPr>
          <a:xfrm>
            <a:off x="5346097" y="2528706"/>
            <a:ext cx="2426304" cy="223149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Aggregation (Cont.)</a:t>
            </a:r>
          </a:p>
        </p:txBody>
      </p:sp>
      <p:sp>
        <p:nvSpPr>
          <p:cNvPr id="38914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656321" cy="3344099"/>
          </a:xfrm>
        </p:spPr>
        <p:txBody>
          <a:bodyPr/>
          <a:lstStyle/>
          <a:p>
            <a:r>
              <a:rPr lang="en-US" altLang="en-US" sz="1700" dirty="0"/>
              <a:t>Attributes in 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clause outside of aggregate functions must appear in </a:t>
            </a:r>
            <a:r>
              <a:rPr lang="en-US" altLang="en-US" sz="1700" b="1" dirty="0"/>
              <a:t>group by</a:t>
            </a:r>
            <a:r>
              <a:rPr lang="en-US" altLang="en-US" sz="1700" dirty="0"/>
              <a:t> list</a:t>
            </a:r>
          </a:p>
          <a:p>
            <a:pPr lvl="1"/>
            <a:r>
              <a:rPr lang="en-US" altLang="en-US" sz="1700" dirty="0"/>
              <a:t>/* erroneous query */</a:t>
            </a:r>
            <a:br>
              <a:rPr lang="en-US" altLang="en-US" sz="1700" dirty="0"/>
            </a:b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ID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;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/>
          <p:cNvSpPr>
            <a:spLocks noGrp="1" noChangeArrowheads="1"/>
          </p:cNvSpPr>
          <p:nvPr>
            <p:ph type="title"/>
          </p:nvPr>
        </p:nvSpPr>
        <p:spPr>
          <a:xfrm>
            <a:off x="923925" y="96838"/>
            <a:ext cx="8077200" cy="609600"/>
          </a:xfrm>
        </p:spPr>
        <p:txBody>
          <a:bodyPr/>
          <a:lstStyle/>
          <a:p>
            <a:r>
              <a:rPr lang="en-US" altLang="en-US" sz="2800" dirty="0"/>
              <a:t>Aggregate Functions – Having Clause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0114" y="1193800"/>
            <a:ext cx="3132958" cy="3231895"/>
          </a:xfrm>
        </p:spPr>
        <p:txBody>
          <a:bodyPr/>
          <a:lstStyle/>
          <a:p>
            <a:pPr>
              <a:tabLst>
                <a:tab pos="1489075" algn="l"/>
              </a:tabLst>
            </a:pPr>
            <a:r>
              <a:rPr lang="en-US" altLang="en-US" sz="1700" dirty="0"/>
              <a:t>Find the names and average salaries of all departments whose average salary is greater than 42000</a:t>
            </a:r>
          </a:p>
          <a:p>
            <a:pPr>
              <a:tabLst>
                <a:tab pos="1489075" algn="l"/>
              </a:tabLst>
            </a:pPr>
            <a:endParaRPr lang="en-US" altLang="en-US" sz="1700" dirty="0"/>
          </a:p>
          <a:p>
            <a:pPr>
              <a:tabLst>
                <a:tab pos="1489075" algn="l"/>
              </a:tabLst>
            </a:pPr>
            <a:endParaRPr lang="en-US" altLang="en-US" sz="1700" dirty="0"/>
          </a:p>
          <a:p>
            <a:pPr>
              <a:tabLst>
                <a:tab pos="1489075" algn="l"/>
              </a:tabLst>
            </a:pPr>
            <a:endParaRPr lang="en-US" altLang="en-US" sz="1700" dirty="0"/>
          </a:p>
          <a:p>
            <a:pPr>
              <a:tabLst>
                <a:tab pos="1489075" algn="l"/>
              </a:tabLst>
            </a:pPr>
            <a:endParaRPr lang="en-US" altLang="en-US" sz="800" dirty="0"/>
          </a:p>
          <a:p>
            <a:pPr>
              <a:tabLst>
                <a:tab pos="1489075" algn="l"/>
              </a:tabLst>
            </a:pPr>
            <a:endParaRPr lang="en-US" altLang="en-US" sz="1700" dirty="0"/>
          </a:p>
          <a:p>
            <a:pPr>
              <a:tabLst>
                <a:tab pos="1489075" algn="l"/>
              </a:tabLst>
            </a:pPr>
            <a:r>
              <a:rPr lang="en-US" altLang="en-US" sz="1700" dirty="0"/>
              <a:t>Note: predicates in the </a:t>
            </a:r>
            <a:r>
              <a:rPr lang="en-US" altLang="en-US" sz="1700" b="1" dirty="0"/>
              <a:t>having</a:t>
            </a:r>
            <a:r>
              <a:rPr lang="en-US" altLang="en-US" sz="1700" dirty="0"/>
              <a:t> clause are applied after the formation of groups whereas predicates in the </a:t>
            </a:r>
            <a:r>
              <a:rPr lang="en-US" altLang="en-US" sz="1700" b="1" dirty="0"/>
              <a:t>where</a:t>
            </a:r>
            <a:r>
              <a:rPr lang="en-US" altLang="en-US" sz="1700" dirty="0"/>
              <a:t> clause are applied before forming groups</a:t>
            </a:r>
          </a:p>
        </p:txBody>
      </p:sp>
      <p:sp>
        <p:nvSpPr>
          <p:cNvPr id="39940" name="Text Box 5"/>
          <p:cNvSpPr txBox="1">
            <a:spLocks noChangeArrowheads="1"/>
          </p:cNvSpPr>
          <p:nvPr/>
        </p:nvSpPr>
        <p:spPr bwMode="auto">
          <a:xfrm>
            <a:off x="999562" y="2608129"/>
            <a:ext cx="3798580" cy="1400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avg_salary</a:t>
            </a:r>
            <a:endParaRPr lang="en-US" altLang="en-US" sz="1700" i="1" dirty="0"/>
          </a:p>
          <a:p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</a:p>
          <a:p>
            <a:r>
              <a:rPr lang="en-US" altLang="en-US" sz="1700" b="1" dirty="0"/>
              <a:t>having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&gt; 42000;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EB4E0F-8317-4457-327F-A43101488450}"/>
              </a:ext>
            </a:extLst>
          </p:cNvPr>
          <p:cNvSpPr txBox="1"/>
          <p:nvPr/>
        </p:nvSpPr>
        <p:spPr>
          <a:xfrm>
            <a:off x="5343832" y="1193800"/>
            <a:ext cx="45720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FROM instructor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WHERE</a:t>
            </a:r>
          </a:p>
          <a:p>
            <a:r>
              <a:rPr lang="en-IN" dirty="0"/>
              <a:t>(filter individual instructor rows)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GROUP BY </a:t>
            </a:r>
            <a:r>
              <a:rPr lang="en-IN" dirty="0" err="1"/>
              <a:t>dept_name</a:t>
            </a:r>
            <a:endParaRPr lang="en-IN" dirty="0"/>
          </a:p>
          <a:p>
            <a:r>
              <a:rPr lang="en-IN" dirty="0"/>
              <a:t>(create department groups)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AVG(salary)</a:t>
            </a:r>
          </a:p>
          <a:p>
            <a:r>
              <a:rPr lang="en-IN" dirty="0"/>
              <a:t>(calculate average for each group)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HAVING</a:t>
            </a:r>
          </a:p>
          <a:p>
            <a:r>
              <a:rPr lang="en-IN" dirty="0"/>
              <a:t>(filter those groups)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SELECT</a:t>
            </a:r>
          </a:p>
          <a:p>
            <a:r>
              <a:rPr lang="en-IN" dirty="0"/>
              <a:t>(show the result)</a:t>
            </a:r>
          </a:p>
        </p:txBody>
      </p:sp>
    </p:spTree>
    <p:extLst>
      <p:ext uri="{BB962C8B-B14F-4D97-AF65-F5344CB8AC3E}">
        <p14:creationId xmlns:p14="http://schemas.microsoft.com/office/powerpoint/2010/main" val="12566580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Nested Subqueries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39813"/>
            <a:ext cx="7656559" cy="4922075"/>
          </a:xfrm>
        </p:spPr>
        <p:txBody>
          <a:bodyPr/>
          <a:lstStyle/>
          <a:p>
            <a:r>
              <a:rPr lang="en-US" altLang="en-US" sz="1700" dirty="0"/>
              <a:t>SQL provides a mechanism for the nesting of subqueries. A </a:t>
            </a:r>
            <a:r>
              <a:rPr lang="en-US" altLang="en-US" sz="1700" b="1" dirty="0">
                <a:solidFill>
                  <a:srgbClr val="002060"/>
                </a:solidFill>
              </a:rPr>
              <a:t>subquery</a:t>
            </a:r>
            <a:r>
              <a:rPr lang="en-US" altLang="en-US" sz="1700" dirty="0"/>
              <a:t> is a </a:t>
            </a:r>
            <a:r>
              <a:rPr lang="en-US" altLang="en-US" sz="1700" b="1" dirty="0"/>
              <a:t>select-from-where</a:t>
            </a:r>
            <a:r>
              <a:rPr lang="en-US" altLang="en-US" sz="1700" dirty="0"/>
              <a:t> expression that is nested within another query.</a:t>
            </a:r>
          </a:p>
          <a:p>
            <a:r>
              <a:rPr lang="en-US" altLang="en-US" sz="1700" dirty="0"/>
              <a:t>The nesting can be done in the following SQL query</a:t>
            </a:r>
            <a:br>
              <a:rPr lang="en-US" altLang="en-US" sz="1700" dirty="0"/>
            </a:b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from</a:t>
            </a:r>
            <a:r>
              <a:rPr lang="en-US" altLang="en-US" sz="1700" dirty="0"/>
              <a:t>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m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P</a:t>
            </a:r>
          </a:p>
          <a:p>
            <a:pPr>
              <a:buFont typeface="Monotype Sorts" charset="2"/>
              <a:buNone/>
            </a:pPr>
            <a:r>
              <a:rPr lang="en-US" altLang="en-US" sz="800" i="1" dirty="0"/>
              <a:t> </a:t>
            </a:r>
            <a:br>
              <a:rPr lang="en-US" altLang="en-US" sz="1700" i="1" dirty="0"/>
            </a:br>
            <a:r>
              <a:rPr lang="en-US" altLang="en-US" sz="1700" dirty="0"/>
              <a:t>as follows:</a:t>
            </a:r>
          </a:p>
          <a:p>
            <a:pPr lvl="1"/>
            <a:r>
              <a:rPr lang="en-US" altLang="en-US" sz="1700" b="1" dirty="0"/>
              <a:t>From clause: </a:t>
            </a: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i</a:t>
            </a:r>
            <a:r>
              <a:rPr lang="en-US" altLang="en-US" sz="1700" i="1" baseline="-25000" dirty="0"/>
              <a:t> </a:t>
            </a:r>
            <a:r>
              <a:rPr lang="en-US" altLang="en-US" sz="1700" dirty="0"/>
              <a:t> can be replaced by any valid subquery</a:t>
            </a:r>
          </a:p>
          <a:p>
            <a:pPr lvl="1"/>
            <a:r>
              <a:rPr lang="en-US" altLang="en-US" sz="1700" b="1" dirty="0"/>
              <a:t>Where clause: </a:t>
            </a:r>
            <a:r>
              <a:rPr lang="en-US" altLang="en-US" sz="1700" i="1" dirty="0"/>
              <a:t>P</a:t>
            </a:r>
            <a:r>
              <a:rPr lang="en-US" altLang="en-US" sz="1700" dirty="0"/>
              <a:t> can be replaced with an expression of the form:</a:t>
            </a:r>
          </a:p>
          <a:p>
            <a:pPr lvl="1">
              <a:buFont typeface="Monotype Sorts" charset="2"/>
              <a:buNone/>
            </a:pPr>
            <a:r>
              <a:rPr lang="en-US" altLang="en-US" sz="1700" dirty="0"/>
              <a:t>                </a:t>
            </a:r>
            <a:r>
              <a:rPr lang="en-US" altLang="en-US" sz="1700" i="1" dirty="0"/>
              <a:t>B</a:t>
            </a:r>
            <a:r>
              <a:rPr lang="en-US" altLang="en-US" sz="1700" dirty="0"/>
              <a:t> &lt;operation&gt; (subquery)</a:t>
            </a:r>
          </a:p>
          <a:p>
            <a:pPr lvl="1">
              <a:buFont typeface="Monotype Sorts" charset="2"/>
              <a:buNone/>
            </a:pPr>
            <a:r>
              <a:rPr lang="en-US" altLang="en-US" sz="1700" dirty="0"/>
              <a:t>     </a:t>
            </a:r>
            <a:r>
              <a:rPr lang="en-US" altLang="en-US" sz="1700" i="1" dirty="0"/>
              <a:t>B</a:t>
            </a:r>
            <a:r>
              <a:rPr lang="en-US" altLang="en-US" sz="1700" dirty="0"/>
              <a:t> is an attribute and &lt;operation&gt; to be defined later.</a:t>
            </a:r>
          </a:p>
          <a:p>
            <a:pPr lvl="1"/>
            <a:r>
              <a:rPr lang="en-US" altLang="en-US" sz="1700" b="1" dirty="0"/>
              <a:t>Select clause: </a:t>
            </a:r>
          </a:p>
          <a:p>
            <a:pPr marL="857250" lvl="2" indent="0">
              <a:buFont typeface="Webdings" panose="05030102010509060703" pitchFamily="18" charset="2"/>
              <a:buNone/>
            </a:pPr>
            <a:r>
              <a:rPr lang="en-US" altLang="en-US" sz="1700" i="1" dirty="0"/>
              <a:t>A</a:t>
            </a:r>
            <a:r>
              <a:rPr lang="en-US" altLang="en-US" sz="1700" i="1" baseline="-25000" dirty="0"/>
              <a:t>i   </a:t>
            </a:r>
            <a:r>
              <a:rPr lang="en-US" altLang="en-US" sz="1700" dirty="0"/>
              <a:t>can be replaced be a subquery that generates a single value</a:t>
            </a:r>
            <a:r>
              <a:rPr lang="en-US" altLang="en-US" dirty="0"/>
              <a:t>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FEAEC-206B-F5CA-DB97-55C6E81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Nested Subqueries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70F98-40F2-A929-9C1C-5A13AE5D7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name FROM instructor WHERE salary &gt; (SELECT AVG(salary) FROM instructor);</a:t>
            </a:r>
          </a:p>
          <a:p>
            <a:r>
              <a:rPr lang="en-US" dirty="0"/>
              <a:t>SELECT </a:t>
            </a:r>
            <a:r>
              <a:rPr lang="en-US" dirty="0" err="1"/>
              <a:t>dept_name</a:t>
            </a:r>
            <a:r>
              <a:rPr lang="en-US" dirty="0"/>
              <a:t>, </a:t>
            </a:r>
            <a:r>
              <a:rPr lang="en-US" dirty="0" err="1"/>
              <a:t>avg_salary</a:t>
            </a:r>
            <a:r>
              <a:rPr lang="en-US" dirty="0"/>
              <a:t> FROM (SELECT </a:t>
            </a:r>
            <a:r>
              <a:rPr lang="en-US" dirty="0" err="1"/>
              <a:t>dept_name</a:t>
            </a:r>
            <a:r>
              <a:rPr lang="en-US" dirty="0"/>
              <a:t>, AVG(salary) AS </a:t>
            </a:r>
            <a:r>
              <a:rPr lang="en-US" dirty="0" err="1"/>
              <a:t>avg_salary</a:t>
            </a:r>
            <a:r>
              <a:rPr lang="en-US" dirty="0"/>
              <a:t> FROM instructor GROUP BY </a:t>
            </a:r>
            <a:r>
              <a:rPr lang="en-US" dirty="0" err="1"/>
              <a:t>dept_name</a:t>
            </a:r>
            <a:r>
              <a:rPr lang="en-US" dirty="0"/>
              <a:t>) AS </a:t>
            </a:r>
            <a:r>
              <a:rPr lang="en-US" dirty="0" err="1"/>
              <a:t>dept_avg</a:t>
            </a:r>
            <a:r>
              <a:rPr lang="en-US" dirty="0"/>
              <a:t> WHERE </a:t>
            </a:r>
            <a:r>
              <a:rPr lang="en-US" dirty="0" err="1"/>
              <a:t>avg_salary</a:t>
            </a:r>
            <a:r>
              <a:rPr lang="en-US" dirty="0"/>
              <a:t> &gt; 42000;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C7FB0B-5FFE-94B4-44DD-4F6BC7464C21}"/>
              </a:ext>
            </a:extLst>
          </p:cNvPr>
          <p:cNvGraphicFramePr>
            <a:graphicFrameLocks noGrp="1"/>
          </p:cNvGraphicFramePr>
          <p:nvPr/>
        </p:nvGraphicFramePr>
        <p:xfrm>
          <a:off x="768350" y="2631281"/>
          <a:ext cx="7707312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53656">
                  <a:extLst>
                    <a:ext uri="{9D8B030D-6E8A-4147-A177-3AD203B41FA5}">
                      <a16:colId xmlns:a16="http://schemas.microsoft.com/office/drawing/2014/main" val="627272577"/>
                    </a:ext>
                  </a:extLst>
                </a:gridCol>
                <a:gridCol w="3853656">
                  <a:extLst>
                    <a:ext uri="{9D8B030D-6E8A-4147-A177-3AD203B41FA5}">
                      <a16:colId xmlns:a16="http://schemas.microsoft.com/office/drawing/2014/main" val="84998595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dept_name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avg_salary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570527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Biology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72,000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09930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Comp. Sci.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85,000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356238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Music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40,000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50814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Physics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dirty="0"/>
                        <a:t>91,000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24347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2B4DF49-EA74-6361-5DFF-098406854DA2}"/>
              </a:ext>
            </a:extLst>
          </p:cNvPr>
          <p:cNvSpPr txBox="1"/>
          <p:nvPr/>
        </p:nvSpPr>
        <p:spPr>
          <a:xfrm>
            <a:off x="2286000" y="4627620"/>
            <a:ext cx="4572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INNER QUERY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Produces a table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Outer query uses that table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Final result</a:t>
            </a:r>
          </a:p>
        </p:txBody>
      </p:sp>
    </p:spTree>
    <p:extLst>
      <p:ext uri="{BB962C8B-B14F-4D97-AF65-F5344CB8AC3E}">
        <p14:creationId xmlns:p14="http://schemas.microsoft.com/office/powerpoint/2010/main" val="17018142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87EB5-C7F4-42D5-5737-36D27DFAA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Nested Subqueries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CBC0D-42BC-D7B0-4B7C-B104239D3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name, salary, (SELECT AVG(salary) FROM instructor) AS </a:t>
            </a:r>
            <a:r>
              <a:rPr lang="en-US" dirty="0" err="1"/>
              <a:t>avg_salary</a:t>
            </a:r>
            <a:r>
              <a:rPr lang="en-US" dirty="0"/>
              <a:t> FROM instructor;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57480C-26BC-A266-7ED8-36B6A19A38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188983"/>
              </p:ext>
            </p:extLst>
          </p:nvPr>
        </p:nvGraphicFramePr>
        <p:xfrm>
          <a:off x="837177" y="1826342"/>
          <a:ext cx="7707312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9104">
                  <a:extLst>
                    <a:ext uri="{9D8B030D-6E8A-4147-A177-3AD203B41FA5}">
                      <a16:colId xmlns:a16="http://schemas.microsoft.com/office/drawing/2014/main" val="3871525284"/>
                    </a:ext>
                  </a:extLst>
                </a:gridCol>
                <a:gridCol w="2569104">
                  <a:extLst>
                    <a:ext uri="{9D8B030D-6E8A-4147-A177-3AD203B41FA5}">
                      <a16:colId xmlns:a16="http://schemas.microsoft.com/office/drawing/2014/main" val="2337182384"/>
                    </a:ext>
                  </a:extLst>
                </a:gridCol>
                <a:gridCol w="2569104">
                  <a:extLst>
                    <a:ext uri="{9D8B030D-6E8A-4147-A177-3AD203B41FA5}">
                      <a16:colId xmlns:a16="http://schemas.microsoft.com/office/drawing/2014/main" val="42508199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salary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avg_salary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5021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Einstein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95,000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75,000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3184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87,000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75,000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41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Katz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75,000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75,000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2795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Mozart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75,000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611176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E3CF5D1B-72FB-FFC2-4CB0-9DB104CE9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285" y="4021855"/>
            <a:ext cx="3641117" cy="197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569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/>
          <a:lstStyle/>
          <a:p>
            <a:r>
              <a:rPr lang="en-US" altLang="en-US" dirty="0"/>
              <a:t>Set Membership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Membership 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09663"/>
            <a:ext cx="7648313" cy="5181955"/>
          </a:xfrm>
        </p:spPr>
        <p:txBody>
          <a:bodyPr/>
          <a:lstStyle/>
          <a:p>
            <a:pPr>
              <a:tabLst>
                <a:tab pos="1027113" algn="l"/>
              </a:tabLst>
            </a:pPr>
            <a:r>
              <a:rPr lang="en-US" altLang="en-US" sz="1700" dirty="0"/>
              <a:t>Find courses offered in Fall 2017 and in Spring 2018</a:t>
            </a:r>
          </a:p>
          <a:p>
            <a:pPr>
              <a:tabLst>
                <a:tab pos="1027113" algn="l"/>
              </a:tabLst>
            </a:pPr>
            <a:endParaRPr lang="en-US" altLang="en-US" sz="1700" dirty="0"/>
          </a:p>
          <a:p>
            <a:pPr>
              <a:tabLst>
                <a:tab pos="1027113" algn="l"/>
              </a:tabLst>
            </a:pPr>
            <a:endParaRPr lang="en-US" altLang="en-US" sz="1700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r>
              <a:rPr lang="en-US" altLang="en-US" sz="1700" dirty="0"/>
              <a:t>Find courses offered in Fall 2017 but not in Spring 2018</a:t>
            </a: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</p:txBody>
      </p:sp>
      <p:sp>
        <p:nvSpPr>
          <p:cNvPr id="49156" name="Text Box 5"/>
          <p:cNvSpPr txBox="1">
            <a:spLocks noChangeArrowheads="1"/>
          </p:cNvSpPr>
          <p:nvPr/>
        </p:nvSpPr>
        <p:spPr bwMode="auto">
          <a:xfrm>
            <a:off x="1625600" y="1565460"/>
            <a:ext cx="621665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distinct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2017 </a:t>
            </a:r>
            <a:r>
              <a:rPr lang="en-US" altLang="en-US" sz="1600" b="1" dirty="0"/>
              <a:t>and 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</a:t>
            </a:r>
            <a:r>
              <a:rPr lang="en-US" altLang="en-US" sz="1600" b="1" dirty="0"/>
              <a:t>in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                                 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                                 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2018);</a:t>
            </a:r>
          </a:p>
        </p:txBody>
      </p:sp>
      <p:sp>
        <p:nvSpPr>
          <p:cNvPr id="49157" name="Text Box 6"/>
          <p:cNvSpPr txBox="1">
            <a:spLocks noChangeArrowheads="1"/>
          </p:cNvSpPr>
          <p:nvPr/>
        </p:nvSpPr>
        <p:spPr bwMode="auto">
          <a:xfrm>
            <a:off x="1625600" y="3693385"/>
            <a:ext cx="6586538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distinct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2017 </a:t>
            </a:r>
            <a:r>
              <a:rPr lang="en-US" altLang="en-US" sz="1600" b="1" dirty="0"/>
              <a:t>and 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not in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                                        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                                        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2018);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Membership (Cont.)</a:t>
            </a:r>
          </a:p>
        </p:txBody>
      </p:sp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3753"/>
            <a:ext cx="7665436" cy="5069783"/>
          </a:xfrm>
        </p:spPr>
        <p:txBody>
          <a:bodyPr/>
          <a:lstStyle/>
          <a:p>
            <a:pPr defTabSz="915988">
              <a:tabLst>
                <a:tab pos="684213" algn="l"/>
                <a:tab pos="1250950" algn="l"/>
              </a:tabLst>
            </a:pPr>
            <a:r>
              <a:rPr lang="en-US" altLang="en-US" sz="1700" dirty="0"/>
              <a:t>Name all instructors whose name is neither “Mozart” nor Einstein”</a:t>
            </a:r>
          </a:p>
          <a:p>
            <a:pPr marL="0" indent="0" defTabSz="915988">
              <a:buNone/>
              <a:tabLst>
                <a:tab pos="684213" algn="l"/>
                <a:tab pos="1250950" algn="l"/>
              </a:tabLst>
            </a:pPr>
            <a:endParaRPr lang="en-US" altLang="en-US" sz="800" dirty="0"/>
          </a:p>
          <a:p>
            <a:pPr>
              <a:spcBef>
                <a:spcPts val="0"/>
              </a:spcBef>
              <a:buNone/>
            </a:pPr>
            <a:r>
              <a:rPr lang="en-US" altLang="en-US" sz="1700" dirty="0"/>
              <a:t>                 </a:t>
            </a:r>
            <a:r>
              <a:rPr lang="en-US" altLang="en-US" sz="1700" b="1" dirty="0"/>
              <a:t>select distinct </a:t>
            </a:r>
            <a:r>
              <a:rPr lang="en-US" altLang="en-US" sz="1700" i="1" dirty="0"/>
              <a:t>name</a:t>
            </a:r>
            <a:endParaRPr lang="en-US" altLang="en-US" sz="1700" dirty="0"/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            from </a:t>
            </a:r>
            <a:r>
              <a:rPr lang="en-US" altLang="en-US" sz="1700" i="1" dirty="0"/>
              <a:t>instructor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            where </a:t>
            </a:r>
            <a:r>
              <a:rPr lang="en-US" altLang="en-US" sz="1700" dirty="0"/>
              <a:t> </a:t>
            </a:r>
            <a:r>
              <a:rPr lang="en-US" altLang="en-US" sz="1700" i="1" dirty="0"/>
              <a:t>name </a:t>
            </a:r>
            <a:r>
              <a:rPr lang="en-US" altLang="en-US" sz="1700" b="1" dirty="0"/>
              <a:t>not in </a:t>
            </a:r>
            <a:r>
              <a:rPr lang="en-US" altLang="en-US" sz="1700" dirty="0"/>
              <a:t>('Mozart', 'Einstein') </a:t>
            </a:r>
          </a:p>
          <a:p>
            <a:pPr>
              <a:buNone/>
            </a:pPr>
            <a:endParaRPr lang="en-US" altLang="en-US" sz="800" dirty="0"/>
          </a:p>
          <a:p>
            <a:pPr defTabSz="915988">
              <a:tabLst>
                <a:tab pos="684213" algn="l"/>
                <a:tab pos="1250950" algn="l"/>
              </a:tabLst>
            </a:pPr>
            <a:r>
              <a:rPr lang="en-US" altLang="en-US" sz="1700" dirty="0"/>
              <a:t>Find the total number of (distinct) students who have taken course sections taught by the instructor with </a:t>
            </a:r>
            <a:r>
              <a:rPr lang="en-US" altLang="en-US" sz="1700" i="1" dirty="0"/>
              <a:t>ID </a:t>
            </a:r>
            <a:r>
              <a:rPr lang="en-US" altLang="en-US" sz="1700" dirty="0"/>
              <a:t>10101</a:t>
            </a:r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800" dirty="0"/>
          </a:p>
        </p:txBody>
      </p:sp>
      <p:sp>
        <p:nvSpPr>
          <p:cNvPr id="50180" name="Text Box 5"/>
          <p:cNvSpPr txBox="1">
            <a:spLocks noChangeArrowheads="1"/>
          </p:cNvSpPr>
          <p:nvPr/>
        </p:nvSpPr>
        <p:spPr bwMode="auto">
          <a:xfrm>
            <a:off x="1150375" y="3311288"/>
            <a:ext cx="7088104" cy="2154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select count </a:t>
            </a:r>
            <a:r>
              <a:rPr lang="en-US" altLang="en-US" sz="1700" dirty="0"/>
              <a:t>(</a:t>
            </a:r>
            <a:r>
              <a:rPr lang="en-US" altLang="en-US" sz="1700" b="1" dirty="0"/>
              <a:t>distinct </a:t>
            </a:r>
            <a:r>
              <a:rPr lang="en-US" altLang="en-US" sz="1700" i="1" dirty="0"/>
              <a:t>ID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from </a:t>
            </a:r>
            <a:r>
              <a:rPr lang="en-US" altLang="en-US" sz="1700" i="1" dirty="0"/>
              <a:t>takes</a:t>
            </a:r>
          </a:p>
          <a:p>
            <a:r>
              <a:rPr lang="en-US" altLang="en-US" sz="1700" b="1" dirty="0"/>
              <a:t>where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semester</a:t>
            </a:r>
            <a:r>
              <a:rPr lang="en-US" altLang="en-US" sz="1700" dirty="0"/>
              <a:t>,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) </a:t>
            </a:r>
            <a:r>
              <a:rPr lang="en-US" altLang="en-US" sz="1700" b="1" dirty="0"/>
              <a:t>in 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semester</a:t>
            </a:r>
            <a:r>
              <a:rPr lang="en-US" altLang="en-US" sz="1700" dirty="0"/>
              <a:t>, </a:t>
            </a:r>
            <a:r>
              <a:rPr lang="en-US" altLang="en-US" sz="1700" i="1" dirty="0"/>
              <a:t>year</a:t>
            </a:r>
          </a:p>
          <a:p>
            <a:r>
              <a:rPr lang="en-US" altLang="en-US" sz="1700" b="1" dirty="0"/>
              <a:t>                                 from </a:t>
            </a:r>
            <a:r>
              <a:rPr lang="en-US" altLang="en-US" sz="1700" i="1" dirty="0"/>
              <a:t>teaches</a:t>
            </a:r>
          </a:p>
          <a:p>
            <a:r>
              <a:rPr lang="en-US" altLang="en-US" sz="1700" b="1" dirty="0"/>
              <a:t>                                 where </a:t>
            </a:r>
            <a:r>
              <a:rPr lang="en-US" altLang="en-US" sz="1700" i="1" dirty="0"/>
              <a:t>teaches</a:t>
            </a:r>
            <a:r>
              <a:rPr lang="en-US" altLang="en-US" sz="1700" dirty="0"/>
              <a:t>.</a:t>
            </a:r>
            <a:r>
              <a:rPr lang="en-US" altLang="en-US" sz="1700" i="1" dirty="0"/>
              <a:t>ID</a:t>
            </a:r>
            <a:r>
              <a:rPr lang="en-US" altLang="en-US" sz="1700" dirty="0"/>
              <a:t>= 10101);</a:t>
            </a:r>
          </a:p>
          <a:p>
            <a:endParaRPr lang="en-US" altLang="en-US" sz="1600" dirty="0"/>
          </a:p>
          <a:p>
            <a:endParaRPr lang="en-US" alt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/>
          <a:lstStyle/>
          <a:p>
            <a:r>
              <a:rPr lang="en-US" altLang="en-US" dirty="0"/>
              <a:t>Set Comparison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142875"/>
            <a:ext cx="8077200" cy="609600"/>
          </a:xfrm>
        </p:spPr>
        <p:txBody>
          <a:bodyPr/>
          <a:lstStyle/>
          <a:p>
            <a:r>
              <a:rPr lang="en-US" altLang="en-US" sz="2800" dirty="0"/>
              <a:t>Set Comparison – </a:t>
            </a:r>
            <a:r>
              <a:rPr lang="ja-JP" altLang="en-US" sz="2800" dirty="0"/>
              <a:t>“</a:t>
            </a:r>
            <a:r>
              <a:rPr lang="en-US" altLang="ja-JP" sz="2800" dirty="0"/>
              <a:t>some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3480" y="1106487"/>
            <a:ext cx="7384238" cy="4202492"/>
          </a:xfrm>
        </p:spPr>
        <p:txBody>
          <a:bodyPr/>
          <a:lstStyle/>
          <a:p>
            <a:pPr defTabSz="915988">
              <a:tabLst>
                <a:tab pos="1830388" algn="l"/>
              </a:tabLst>
            </a:pPr>
            <a:r>
              <a:rPr lang="en-US" altLang="en-US" dirty="0"/>
              <a:t>Find names of instructors with salary greater than that of some (at least one) instructor in the Biology department.</a:t>
            </a:r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  <a:p>
            <a:pPr defTabSz="915988">
              <a:tabLst>
                <a:tab pos="1830388" algn="l"/>
              </a:tabLst>
            </a:pPr>
            <a:r>
              <a:rPr lang="en-US" altLang="en-US" dirty="0"/>
              <a:t>Same query using &gt; </a:t>
            </a:r>
            <a:r>
              <a:rPr lang="en-US" altLang="en-US" b="1" dirty="0"/>
              <a:t>some</a:t>
            </a:r>
            <a:r>
              <a:rPr lang="en-US" altLang="en-US" dirty="0"/>
              <a:t> clause</a:t>
            </a:r>
          </a:p>
        </p:txBody>
      </p:sp>
      <p:sp>
        <p:nvSpPr>
          <p:cNvPr id="51204" name="Text Box 5"/>
          <p:cNvSpPr txBox="1">
            <a:spLocks noChangeArrowheads="1"/>
          </p:cNvSpPr>
          <p:nvPr/>
        </p:nvSpPr>
        <p:spPr bwMode="auto">
          <a:xfrm>
            <a:off x="1957388" y="3285892"/>
            <a:ext cx="565785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</a:t>
            </a:r>
            <a:r>
              <a:rPr lang="en-US" altLang="en-US" sz="1600" i="1" dirty="0"/>
              <a:t>name</a:t>
            </a:r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instructor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/>
              <a:t>salary </a:t>
            </a:r>
            <a:r>
              <a:rPr lang="en-US" altLang="en-US" sz="1600" dirty="0"/>
              <a:t>&gt; </a:t>
            </a:r>
            <a:r>
              <a:rPr lang="en-US" altLang="en-US" sz="1600" b="1" dirty="0"/>
              <a:t>some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 </a:t>
            </a:r>
            <a:r>
              <a:rPr lang="en-US" altLang="en-US" sz="1600" i="1" dirty="0"/>
              <a:t>salary</a:t>
            </a:r>
          </a:p>
          <a:p>
            <a:r>
              <a:rPr lang="en-US" altLang="en-US" sz="1600" b="1" dirty="0"/>
              <a:t>                                     from </a:t>
            </a:r>
            <a:r>
              <a:rPr lang="en-US" altLang="en-US" sz="1600" i="1" dirty="0"/>
              <a:t>instructor</a:t>
            </a:r>
          </a:p>
          <a:p>
            <a:r>
              <a:rPr lang="en-US" altLang="en-US" sz="1600" b="1" dirty="0"/>
              <a:t>                                     where </a:t>
            </a:r>
            <a:r>
              <a:rPr lang="en-US" altLang="en-US" sz="1600" i="1" dirty="0"/>
              <a:t>dept name </a:t>
            </a:r>
            <a:r>
              <a:rPr lang="en-US" altLang="en-US" sz="1600" dirty="0"/>
              <a:t>= 'Biology');</a:t>
            </a:r>
          </a:p>
        </p:txBody>
      </p:sp>
      <p:sp>
        <p:nvSpPr>
          <p:cNvPr id="51205" name="Text Box 6"/>
          <p:cNvSpPr txBox="1">
            <a:spLocks noChangeArrowheads="1"/>
          </p:cNvSpPr>
          <p:nvPr/>
        </p:nvSpPr>
        <p:spPr bwMode="auto">
          <a:xfrm>
            <a:off x="1952625" y="1806466"/>
            <a:ext cx="5275263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distinct </a:t>
            </a:r>
            <a:r>
              <a:rPr lang="en-US" altLang="en-US" sz="1600" i="1" dirty="0"/>
              <a:t>T</a:t>
            </a:r>
            <a:r>
              <a:rPr lang="en-US" altLang="en-US" sz="1600" dirty="0"/>
              <a:t>.</a:t>
            </a:r>
            <a:r>
              <a:rPr lang="en-US" altLang="en-US" sz="1600" i="1" dirty="0"/>
              <a:t>name</a:t>
            </a:r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instructor </a:t>
            </a:r>
            <a:r>
              <a:rPr lang="en-US" altLang="en-US" sz="1600" b="1" dirty="0"/>
              <a:t>as </a:t>
            </a:r>
            <a:r>
              <a:rPr lang="en-US" altLang="en-US" sz="1600" i="1" dirty="0"/>
              <a:t>T</a:t>
            </a:r>
            <a:r>
              <a:rPr lang="en-US" altLang="en-US" sz="1600" dirty="0"/>
              <a:t>, </a:t>
            </a:r>
            <a:r>
              <a:rPr lang="en-US" altLang="en-US" sz="1600" i="1" dirty="0"/>
              <a:t>instructor </a:t>
            </a:r>
            <a:r>
              <a:rPr lang="en-US" altLang="en-US" sz="1600" b="1" dirty="0"/>
              <a:t>as </a:t>
            </a:r>
            <a:r>
              <a:rPr lang="en-US" altLang="en-US" sz="1600" i="1" dirty="0"/>
              <a:t>S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 err="1"/>
              <a:t>T.salary</a:t>
            </a:r>
            <a:r>
              <a:rPr lang="en-US" altLang="en-US" sz="1600" i="1" dirty="0"/>
              <a:t> </a:t>
            </a:r>
            <a:r>
              <a:rPr lang="en-US" altLang="en-US" sz="1600" dirty="0"/>
              <a:t>&gt; </a:t>
            </a:r>
            <a:r>
              <a:rPr lang="en-US" altLang="en-US" sz="1600" i="1" dirty="0" err="1"/>
              <a:t>S.salary</a:t>
            </a:r>
            <a:r>
              <a:rPr lang="en-US" altLang="en-US" sz="1600" i="1" dirty="0"/>
              <a:t> </a:t>
            </a:r>
            <a:r>
              <a:rPr lang="en-US" altLang="en-US" sz="1600" b="1" dirty="0"/>
              <a:t>and </a:t>
            </a:r>
            <a:r>
              <a:rPr lang="en-US" altLang="en-US" sz="1600" i="1" dirty="0" err="1"/>
              <a:t>S.dept</a:t>
            </a:r>
            <a:r>
              <a:rPr lang="en-US" altLang="en-US" sz="1600" i="1" dirty="0"/>
              <a:t> name </a:t>
            </a:r>
            <a:r>
              <a:rPr lang="en-US" altLang="en-US" sz="1600" dirty="0"/>
              <a:t>= 'Biology';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Comparison – </a:t>
            </a:r>
            <a:r>
              <a:rPr lang="ja-JP" altLang="en-US" sz="2800" dirty="0"/>
              <a:t>“</a:t>
            </a:r>
            <a:r>
              <a:rPr lang="en-US" altLang="ja-JP" sz="2800" dirty="0"/>
              <a:t>all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8075"/>
            <a:ext cx="7680705" cy="732917"/>
          </a:xfrm>
        </p:spPr>
        <p:txBody>
          <a:bodyPr/>
          <a:lstStyle/>
          <a:p>
            <a:pPr>
              <a:tabLst>
                <a:tab pos="1370013" algn="l"/>
                <a:tab pos="1830388" algn="l"/>
              </a:tabLst>
            </a:pPr>
            <a:r>
              <a:rPr lang="en-US" altLang="en-US" sz="1700" dirty="0"/>
              <a:t>Find the names of all instructors whose salary is greater than the salary of all instructors in the Biology department</a:t>
            </a:r>
            <a:r>
              <a:rPr lang="en-US" altLang="en-US" dirty="0"/>
              <a:t>.</a:t>
            </a:r>
          </a:p>
        </p:txBody>
      </p:sp>
      <p:sp>
        <p:nvSpPr>
          <p:cNvPr id="53251" name="Text Box 4"/>
          <p:cNvSpPr txBox="1">
            <a:spLocks noChangeArrowheads="1"/>
          </p:cNvSpPr>
          <p:nvPr/>
        </p:nvSpPr>
        <p:spPr bwMode="auto">
          <a:xfrm>
            <a:off x="1873314" y="1776986"/>
            <a:ext cx="5018087" cy="1400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select </a:t>
            </a:r>
            <a:r>
              <a:rPr lang="en-US" altLang="en-US" sz="1700" i="1" dirty="0"/>
              <a:t>name</a:t>
            </a:r>
          </a:p>
          <a:p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where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&gt; </a:t>
            </a:r>
            <a:r>
              <a:rPr lang="en-US" altLang="en-US" sz="1700" b="1" dirty="0"/>
              <a:t>all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salary</a:t>
            </a:r>
          </a:p>
          <a:p>
            <a:r>
              <a:rPr lang="en-US" altLang="en-US" sz="1700" b="1" dirty="0"/>
              <a:t>                                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                                where </a:t>
            </a:r>
            <a:r>
              <a:rPr lang="en-US" altLang="en-US" sz="1700" i="1" dirty="0"/>
              <a:t>dept name </a:t>
            </a:r>
            <a:r>
              <a:rPr lang="en-US" altLang="en-US" sz="1700" dirty="0"/>
              <a:t>= 'Biology');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E0D35-49E1-BD61-2108-4A2DC4100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Set Comparison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A39C40-5368-FB26-0411-B78B968BF49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8350" y="2814161"/>
          <a:ext cx="7707312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53656">
                  <a:extLst>
                    <a:ext uri="{9D8B030D-6E8A-4147-A177-3AD203B41FA5}">
                      <a16:colId xmlns:a16="http://schemas.microsoft.com/office/drawing/2014/main" val="2279476708"/>
                    </a:ext>
                  </a:extLst>
                </a:gridCol>
                <a:gridCol w="3853656">
                  <a:extLst>
                    <a:ext uri="{9D8B030D-6E8A-4147-A177-3AD203B41FA5}">
                      <a16:colId xmlns:a16="http://schemas.microsoft.com/office/drawing/2014/main" val="394428037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Condition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717817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&gt; SOME (...)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Greater than at least one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06433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&gt; ANY (...)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Greater than at least one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75081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&gt; ALL (...)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Greater than every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2662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97880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Use of </a:t>
            </a:r>
            <a:r>
              <a:rPr lang="ja-JP" altLang="en-US" sz="2800" dirty="0"/>
              <a:t>“</a:t>
            </a:r>
            <a:r>
              <a:rPr lang="en-US" altLang="ja-JP" sz="2800" dirty="0"/>
              <a:t>exists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851697" cy="4903787"/>
          </a:xfrm>
        </p:spPr>
        <p:txBody>
          <a:bodyPr/>
          <a:lstStyle/>
          <a:p>
            <a:r>
              <a:rPr lang="en-US" altLang="en-US" sz="1700" dirty="0"/>
              <a:t>“Find all courses taught in both the Fall 2017 semester and in the Spring 2018 semester”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	   select 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i="1" dirty="0"/>
              <a:t>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section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S</a:t>
            </a:r>
            <a:br>
              <a:rPr lang="en-US" altLang="en-US" sz="1700" i="1" dirty="0"/>
            </a:br>
            <a:r>
              <a:rPr lang="en-US" altLang="en-US" sz="1700" i="1" dirty="0"/>
              <a:t>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semester </a:t>
            </a:r>
            <a:r>
              <a:rPr lang="en-US" altLang="en-US" sz="1700" dirty="0"/>
              <a:t>= 'Fall' </a:t>
            </a:r>
            <a:r>
              <a:rPr lang="en-US" altLang="en-US" sz="1700" b="1" dirty="0"/>
              <a:t>and </a:t>
            </a:r>
            <a:r>
              <a:rPr lang="en-US" altLang="en-US" sz="1700" i="1" dirty="0"/>
              <a:t>year </a:t>
            </a:r>
            <a:r>
              <a:rPr lang="en-US" altLang="en-US" sz="1700" dirty="0"/>
              <a:t>= 2017 </a:t>
            </a:r>
            <a:r>
              <a:rPr lang="en-US" altLang="en-US" sz="1700" b="1" dirty="0"/>
              <a:t>and </a:t>
            </a:r>
            <a:br>
              <a:rPr lang="en-US" altLang="en-US" sz="1700" b="1" dirty="0"/>
            </a:br>
            <a:r>
              <a:rPr lang="en-US" altLang="en-US" sz="1700" b="1" dirty="0"/>
              <a:t>               exists 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*</a:t>
            </a:r>
            <a:br>
              <a:rPr lang="en-US" altLang="en-US" sz="1700" dirty="0"/>
            </a:br>
            <a:r>
              <a:rPr lang="en-US" altLang="en-US" sz="1700" dirty="0"/>
              <a:t> 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section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semester </a:t>
            </a:r>
            <a:r>
              <a:rPr lang="en-US" altLang="en-US" sz="1700" dirty="0"/>
              <a:t>= 'Spring' </a:t>
            </a:r>
            <a:r>
              <a:rPr lang="en-US" altLang="en-US" sz="1700" b="1" dirty="0"/>
              <a:t>and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= 2018 </a:t>
            </a:r>
            <a:br>
              <a:rPr lang="en-US" altLang="en-US" sz="1700" dirty="0"/>
            </a:br>
            <a:r>
              <a:rPr lang="en-US" altLang="en-US" sz="1700" dirty="0"/>
              <a:t>                                       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);</a:t>
            </a:r>
          </a:p>
          <a:p>
            <a:pPr>
              <a:buFont typeface="Monotype Sorts" charset="2"/>
              <a:buNone/>
            </a:pPr>
            <a:r>
              <a:rPr lang="en-US" altLang="en-US" sz="800" dirty="0"/>
              <a:t> 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Correlation name</a:t>
            </a:r>
            <a:r>
              <a:rPr lang="en-US" altLang="en-US" sz="1700" dirty="0"/>
              <a:t> – variable S  in the outer query</a:t>
            </a:r>
            <a:endParaRPr lang="en-US" altLang="en-US" sz="1700" b="1" dirty="0">
              <a:solidFill>
                <a:srgbClr val="000099"/>
              </a:solidFill>
            </a:endParaRPr>
          </a:p>
          <a:p>
            <a:r>
              <a:rPr lang="en-US" altLang="en-US" sz="1700" b="1" dirty="0">
                <a:solidFill>
                  <a:srgbClr val="002060"/>
                </a:solidFill>
              </a:rPr>
              <a:t>Correlated subquery </a:t>
            </a:r>
            <a:r>
              <a:rPr lang="en-US" altLang="en-US" sz="1700" dirty="0"/>
              <a:t>– the inner query</a:t>
            </a:r>
          </a:p>
          <a:p>
            <a:pPr>
              <a:buFont typeface="Monotype Sorts" charset="2"/>
              <a:buNone/>
            </a:pPr>
            <a:endParaRPr lang="en-US" altLang="en-US" b="1" dirty="0">
              <a:solidFill>
                <a:srgbClr val="000099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C366A0-8299-6B84-51ED-42D400219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885" y="4359133"/>
            <a:ext cx="2789162" cy="1638442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20958-B173-3F31-2947-3EE2E0D19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Use of </a:t>
            </a:r>
            <a:r>
              <a:rPr lang="ja-JP" altLang="en-US" dirty="0"/>
              <a:t>“</a:t>
            </a:r>
            <a:r>
              <a:rPr lang="en-US" altLang="ja-JP" dirty="0"/>
              <a:t>exists</a:t>
            </a:r>
            <a:r>
              <a:rPr lang="ja-JP" altLang="en-US" dirty="0"/>
              <a:t>”</a:t>
            </a:r>
            <a:r>
              <a:rPr lang="en-US" altLang="ja-JP" dirty="0"/>
              <a:t> Clause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FB44C1-C428-6F5B-7921-BE48EA1743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388312"/>
              </p:ext>
            </p:extLst>
          </p:nvPr>
        </p:nvGraphicFramePr>
        <p:xfrm>
          <a:off x="768350" y="868680"/>
          <a:ext cx="7707312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9104">
                  <a:extLst>
                    <a:ext uri="{9D8B030D-6E8A-4147-A177-3AD203B41FA5}">
                      <a16:colId xmlns:a16="http://schemas.microsoft.com/office/drawing/2014/main" val="2153444301"/>
                    </a:ext>
                  </a:extLst>
                </a:gridCol>
                <a:gridCol w="2569104">
                  <a:extLst>
                    <a:ext uri="{9D8B030D-6E8A-4147-A177-3AD203B41FA5}">
                      <a16:colId xmlns:a16="http://schemas.microsoft.com/office/drawing/2014/main" val="2712026573"/>
                    </a:ext>
                  </a:extLst>
                </a:gridCol>
                <a:gridCol w="2569104">
                  <a:extLst>
                    <a:ext uri="{9D8B030D-6E8A-4147-A177-3AD203B41FA5}">
                      <a16:colId xmlns:a16="http://schemas.microsoft.com/office/drawing/2014/main" val="2061917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course_id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semester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year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715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CS-101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2017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2155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CS-347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2017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9901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PHY-101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2017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9467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CS-101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2018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023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CS-315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2018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2411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PHY-101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2018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33262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7C2DAB2-2BDE-9465-28FC-61867ADDB6CD}"/>
              </a:ext>
            </a:extLst>
          </p:cNvPr>
          <p:cNvSpPr txBox="1"/>
          <p:nvPr/>
        </p:nvSpPr>
        <p:spPr>
          <a:xfrm>
            <a:off x="768350" y="3751015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CS-101</a:t>
            </a:r>
          </a:p>
          <a:p>
            <a:r>
              <a:rPr lang="en-IN" dirty="0"/>
              <a:t>CS-347</a:t>
            </a:r>
          </a:p>
          <a:p>
            <a:r>
              <a:rPr lang="en-IN" dirty="0"/>
              <a:t>PHY-101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D35E89-C736-613E-63A8-5C6415AE9908}"/>
              </a:ext>
            </a:extLst>
          </p:cNvPr>
          <p:cNvSpPr txBox="1"/>
          <p:nvPr/>
        </p:nvSpPr>
        <p:spPr>
          <a:xfrm>
            <a:off x="604684" y="4731775"/>
            <a:ext cx="334788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*</a:t>
            </a:r>
          </a:p>
          <a:p>
            <a:r>
              <a:rPr lang="en-IN" dirty="0"/>
              <a:t>FROM section AS T</a:t>
            </a:r>
          </a:p>
          <a:p>
            <a:r>
              <a:rPr lang="en-IN" dirty="0"/>
              <a:t>WHERE semester = 'Spring'</a:t>
            </a:r>
          </a:p>
          <a:p>
            <a:r>
              <a:rPr lang="en-IN" dirty="0"/>
              <a:t>  AND year = 2018</a:t>
            </a:r>
          </a:p>
          <a:p>
            <a:r>
              <a:rPr lang="en-IN" dirty="0"/>
              <a:t>  AND 'CS-101' = </a:t>
            </a:r>
            <a:r>
              <a:rPr lang="en-IN" dirty="0" err="1"/>
              <a:t>T.course_id</a:t>
            </a:r>
            <a:r>
              <a:rPr lang="en-IN" dirty="0"/>
              <a:t>;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6417ED0-CCA6-B71E-569C-A1F5C0930C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918877"/>
              </p:ext>
            </p:extLst>
          </p:nvPr>
        </p:nvGraphicFramePr>
        <p:xfrm>
          <a:off x="5877642" y="4957934"/>
          <a:ext cx="2967908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67908">
                  <a:extLst>
                    <a:ext uri="{9D8B030D-6E8A-4147-A177-3AD203B41FA5}">
                      <a16:colId xmlns:a16="http://schemas.microsoft.com/office/drawing/2014/main" val="31289283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course_id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029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CS-101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834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PHY-101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079559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8DFDE4E-D47E-6EA6-4562-8A6545937926}"/>
              </a:ext>
            </a:extLst>
          </p:cNvPr>
          <p:cNvCxnSpPr/>
          <p:nvPr/>
        </p:nvCxnSpPr>
        <p:spPr bwMode="auto">
          <a:xfrm>
            <a:off x="1061884" y="3510116"/>
            <a:ext cx="0" cy="15477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2AF3C78-DD1A-55EF-B89E-887291D62D9C}"/>
              </a:ext>
            </a:extLst>
          </p:cNvPr>
          <p:cNvCxnSpPr/>
          <p:nvPr/>
        </p:nvCxnSpPr>
        <p:spPr bwMode="auto">
          <a:xfrm>
            <a:off x="1061884" y="4621161"/>
            <a:ext cx="0" cy="11061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B6682F3-B936-AFDE-7409-8DF9A726BCBF}"/>
              </a:ext>
            </a:extLst>
          </p:cNvPr>
          <p:cNvCxnSpPr/>
          <p:nvPr/>
        </p:nvCxnSpPr>
        <p:spPr bwMode="auto">
          <a:xfrm>
            <a:off x="4473677" y="5732206"/>
            <a:ext cx="100289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3344634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FAE88-5B43-A918-E19C-CD9D14B31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Use of </a:t>
            </a:r>
            <a:r>
              <a:rPr lang="ja-JP" altLang="en-US" dirty="0"/>
              <a:t>“</a:t>
            </a:r>
            <a:r>
              <a:rPr lang="en-US" altLang="ja-JP" dirty="0"/>
              <a:t>exists</a:t>
            </a:r>
            <a:r>
              <a:rPr lang="ja-JP" altLang="en-US" dirty="0"/>
              <a:t>”</a:t>
            </a:r>
            <a:r>
              <a:rPr lang="en-US" altLang="ja-JP" dirty="0"/>
              <a:t> Clause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56D04E-F2A2-6AC6-294F-C87E85199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454" y="727075"/>
            <a:ext cx="3444677" cy="559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5378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Use of </a:t>
            </a:r>
            <a:r>
              <a:rPr lang="ja-JP" altLang="en-US" sz="2800" dirty="0"/>
              <a:t>“</a:t>
            </a:r>
            <a:r>
              <a:rPr lang="en-US" altLang="ja-JP" sz="2800" dirty="0"/>
              <a:t>not exists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570436" cy="4611924"/>
          </a:xfrm>
        </p:spPr>
        <p:txBody>
          <a:bodyPr/>
          <a:lstStyle/>
          <a:p>
            <a:pPr algn="just">
              <a:tabLst>
                <a:tab pos="461963" algn="l"/>
                <a:tab pos="1027113" algn="l"/>
                <a:tab pos="1547813" algn="l"/>
              </a:tabLst>
            </a:pPr>
            <a:r>
              <a:rPr lang="en-US" altLang="en-US" sz="1700" dirty="0"/>
              <a:t>Find all students who have taken all courses offered in the Biology department.</a:t>
            </a:r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0C84BA-FC79-CF51-9EBD-F7C202C43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004015"/>
              </p:ext>
            </p:extLst>
          </p:nvPr>
        </p:nvGraphicFramePr>
        <p:xfrm>
          <a:off x="1199535" y="1897745"/>
          <a:ext cx="4916129" cy="16948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3225">
                  <a:extLst>
                    <a:ext uri="{9D8B030D-6E8A-4147-A177-3AD203B41FA5}">
                      <a16:colId xmlns:a16="http://schemas.microsoft.com/office/drawing/2014/main" val="1176199496"/>
                    </a:ext>
                  </a:extLst>
                </a:gridCol>
                <a:gridCol w="3932904">
                  <a:extLst>
                    <a:ext uri="{9D8B030D-6E8A-4147-A177-3AD203B41FA5}">
                      <a16:colId xmlns:a16="http://schemas.microsoft.com/office/drawing/2014/main" val="619962288"/>
                    </a:ext>
                  </a:extLst>
                </a:gridCol>
              </a:tblGrid>
              <a:tr h="341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Student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Courses taken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4859199"/>
                  </a:ext>
                </a:extLst>
              </a:tr>
              <a:tr h="341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BIO-101, BIO-201, BIO-301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3032197"/>
                  </a:ext>
                </a:extLst>
              </a:tr>
              <a:tr h="341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Ravi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BIO-101, BIO-201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7787970"/>
                  </a:ext>
                </a:extLst>
              </a:tr>
              <a:tr h="5975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BIO-101, BIO-201, BIO-301, CS-101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9874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58A3668-6223-4AA2-573E-3116FC6E2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>
            <a:extLst>
              <a:ext uri="{FF2B5EF4-FFF2-40B4-BE49-F238E27FC236}">
                <a16:creationId xmlns:a16="http://schemas.microsoft.com/office/drawing/2014/main" id="{7D6F206D-0D70-AD48-4FD9-B802E47C43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Use of </a:t>
            </a:r>
            <a:r>
              <a:rPr lang="ja-JP" altLang="en-US" sz="2800" dirty="0"/>
              <a:t>“</a:t>
            </a:r>
            <a:r>
              <a:rPr lang="en-US" altLang="ja-JP" sz="2800" dirty="0"/>
              <a:t>not exists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7346" name="Rectangle 3">
            <a:extLst>
              <a:ext uri="{FF2B5EF4-FFF2-40B4-BE49-F238E27FC236}">
                <a16:creationId xmlns:a16="http://schemas.microsoft.com/office/drawing/2014/main" id="{3A5A1837-1DD0-1D1F-1037-3E3B134168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570436" cy="4611924"/>
          </a:xfrm>
        </p:spPr>
        <p:txBody>
          <a:bodyPr/>
          <a:lstStyle/>
          <a:p>
            <a:pPr algn="just">
              <a:tabLst>
                <a:tab pos="461963" algn="l"/>
                <a:tab pos="1027113" algn="l"/>
                <a:tab pos="1547813" algn="l"/>
              </a:tabLst>
            </a:pPr>
            <a:r>
              <a:rPr lang="en-US" altLang="en-US" sz="1700" dirty="0"/>
              <a:t>Find all students who have taken all courses offered in the Biology department.</a:t>
            </a:r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r>
              <a:rPr lang="en-US" altLang="en-US" sz="1700" dirty="0"/>
              <a:t>Note that X – Y = Ø   </a:t>
            </a:r>
            <a:r>
              <a:rPr lang="en-US" altLang="en-US" sz="1700" dirty="0">
                <a:sym typeface="Symbol" panose="05050102010706020507" pitchFamily="18" charset="2"/>
              </a:rPr>
              <a:t>   X Y</a:t>
            </a: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Note: Cannot write this query using = all and its variants</a:t>
            </a:r>
            <a:endParaRPr lang="en-US" altLang="en-US" sz="1700" dirty="0"/>
          </a:p>
        </p:txBody>
      </p:sp>
      <p:sp>
        <p:nvSpPr>
          <p:cNvPr id="57347" name="Text Box 4">
            <a:extLst>
              <a:ext uri="{FF2B5EF4-FFF2-40B4-BE49-F238E27FC236}">
                <a16:creationId xmlns:a16="http://schemas.microsoft.com/office/drawing/2014/main" id="{75140C85-96F0-2040-5FF6-2C6716487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540" y="1785366"/>
            <a:ext cx="7570436" cy="3585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600" b="1" dirty="0"/>
              <a:t>select distinct </a:t>
            </a:r>
            <a:r>
              <a:rPr kumimoji="1" lang="en-US" altLang="en-US" sz="1600" i="1" dirty="0"/>
              <a:t>S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ID</a:t>
            </a:r>
            <a:r>
              <a:rPr kumimoji="1" lang="en-US" altLang="en-US" sz="1600" dirty="0"/>
              <a:t>, </a:t>
            </a:r>
            <a:r>
              <a:rPr kumimoji="1" lang="en-US" altLang="en-US" sz="1600" i="1" dirty="0"/>
              <a:t>S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name</a:t>
            </a:r>
          </a:p>
          <a:p>
            <a:r>
              <a:rPr kumimoji="1" lang="en-US" altLang="en-US" sz="1600" b="1" dirty="0"/>
              <a:t>from </a:t>
            </a:r>
            <a:r>
              <a:rPr kumimoji="1" lang="en-US" altLang="en-US" sz="1600" i="1" dirty="0"/>
              <a:t>student </a:t>
            </a:r>
            <a:r>
              <a:rPr kumimoji="1" lang="en-US" altLang="en-US" sz="1600" b="1" dirty="0"/>
              <a:t>as </a:t>
            </a:r>
            <a:r>
              <a:rPr kumimoji="1" lang="en-US" altLang="en-US" sz="1600" i="1" dirty="0"/>
              <a:t>S</a:t>
            </a:r>
          </a:p>
          <a:p>
            <a:r>
              <a:rPr kumimoji="1" lang="en-US" altLang="en-US" sz="1600" b="1" dirty="0"/>
              <a:t>where not exists </a:t>
            </a:r>
            <a:r>
              <a:rPr kumimoji="1" lang="en-US" altLang="en-US" sz="1600" dirty="0"/>
              <a:t>( (</a:t>
            </a:r>
            <a:r>
              <a:rPr kumimoji="1" lang="en-US" altLang="en-US" sz="1600" b="1" dirty="0">
                <a:solidFill>
                  <a:schemeClr val="bg1">
                    <a:lumMod val="50000"/>
                  </a:schemeClr>
                </a:solidFill>
              </a:rPr>
              <a:t>select </a:t>
            </a:r>
            <a:r>
              <a:rPr kumimoji="1" lang="en-US" altLang="en-US" sz="1600" i="1" dirty="0" err="1">
                <a:solidFill>
                  <a:schemeClr val="bg1">
                    <a:lumMod val="50000"/>
                  </a:schemeClr>
                </a:solidFill>
              </a:rPr>
              <a:t>course_id</a:t>
            </a:r>
            <a:endParaRPr kumimoji="1" lang="en-US" altLang="en-US" sz="1600" i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kumimoji="1" lang="en-US" altLang="en-US" sz="1600" b="1" dirty="0">
                <a:solidFill>
                  <a:schemeClr val="bg1">
                    <a:lumMod val="50000"/>
                  </a:schemeClr>
                </a:solidFill>
              </a:rPr>
              <a:t>                                 from </a:t>
            </a:r>
            <a:r>
              <a:rPr kumimoji="1" lang="en-US" altLang="en-US" sz="1600" i="1" dirty="0">
                <a:solidFill>
                  <a:schemeClr val="bg1">
                    <a:lumMod val="50000"/>
                  </a:schemeClr>
                </a:solidFill>
              </a:rPr>
              <a:t>course</a:t>
            </a:r>
          </a:p>
          <a:p>
            <a:r>
              <a:rPr kumimoji="1" lang="en-US" altLang="en-US" sz="1600" b="1" dirty="0">
                <a:solidFill>
                  <a:schemeClr val="bg1">
                    <a:lumMod val="50000"/>
                  </a:schemeClr>
                </a:solidFill>
              </a:rPr>
              <a:t>                                 where </a:t>
            </a:r>
            <a:r>
              <a:rPr kumimoji="1" lang="en-US" altLang="en-US" sz="1600" i="1" dirty="0" err="1">
                <a:solidFill>
                  <a:schemeClr val="bg1">
                    <a:lumMod val="50000"/>
                  </a:schemeClr>
                </a:solidFill>
              </a:rPr>
              <a:t>dept_name</a:t>
            </a:r>
            <a:r>
              <a:rPr kumimoji="1" lang="en-US" altLang="en-US" sz="16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kumimoji="1" lang="en-US" altLang="en-US" sz="1600" dirty="0">
                <a:solidFill>
                  <a:schemeClr val="bg1">
                    <a:lumMod val="50000"/>
                  </a:schemeClr>
                </a:solidFill>
              </a:rPr>
              <a:t>= 'Biology'</a:t>
            </a:r>
            <a:r>
              <a:rPr kumimoji="1" lang="en-US" altLang="en-US" sz="1600" dirty="0"/>
              <a:t>)</a:t>
            </a:r>
          </a:p>
          <a:p>
            <a:r>
              <a:rPr kumimoji="1" lang="en-US" altLang="en-US" sz="1600" b="1" dirty="0"/>
              <a:t>                               except</a:t>
            </a:r>
          </a:p>
          <a:p>
            <a:r>
              <a:rPr kumimoji="1" lang="en-US" altLang="en-US" sz="1600" dirty="0"/>
              <a:t>                                 (</a:t>
            </a:r>
            <a:r>
              <a:rPr kumimoji="1" lang="en-US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select </a:t>
            </a:r>
            <a:r>
              <a:rPr kumimoji="1" lang="en-US" altLang="en-US" sz="1600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T</a:t>
            </a:r>
            <a:r>
              <a:rPr kumimoji="1" lang="en-US" altLang="en-US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.</a:t>
            </a:r>
            <a:r>
              <a:rPr kumimoji="1" lang="en-US" altLang="en-US" sz="1600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course_id</a:t>
            </a:r>
            <a:endParaRPr kumimoji="1" lang="en-US" altLang="en-US" sz="1600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kumimoji="1" lang="en-US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                            from </a:t>
            </a:r>
            <a:r>
              <a:rPr kumimoji="1" lang="en-US" altLang="en-US" sz="16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takes </a:t>
            </a:r>
            <a:r>
              <a:rPr kumimoji="1" lang="en-US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as </a:t>
            </a:r>
            <a:r>
              <a:rPr kumimoji="1" lang="en-US" altLang="en-US" sz="16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</a:t>
            </a:r>
          </a:p>
          <a:p>
            <a:r>
              <a:rPr kumimoji="1" lang="en-US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                            where </a:t>
            </a:r>
            <a:r>
              <a:rPr kumimoji="1" lang="en-US" altLang="en-US" sz="16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</a:t>
            </a:r>
            <a:r>
              <a:rPr kumimoji="1" lang="en-US" alt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</a:t>
            </a:r>
            <a:r>
              <a:rPr kumimoji="1" lang="en-US" altLang="en-US" sz="16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ID </a:t>
            </a:r>
            <a:r>
              <a:rPr kumimoji="1" lang="en-US" alt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= </a:t>
            </a:r>
            <a:r>
              <a:rPr kumimoji="1" lang="en-US" altLang="en-US" sz="16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</a:t>
            </a:r>
            <a:r>
              <a:rPr kumimoji="1" lang="en-US" alt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</a:t>
            </a:r>
            <a:r>
              <a:rPr kumimoji="1" lang="en-US" altLang="en-US" sz="16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ID</a:t>
            </a:r>
            <a:r>
              <a:rPr kumimoji="1" lang="en-US" alt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r>
              <a:rPr kumimoji="1" lang="en-US" altLang="en-US" sz="1600" dirty="0"/>
              <a:t>);</a:t>
            </a:r>
          </a:p>
          <a:p>
            <a:pPr marL="285750">
              <a:buClr>
                <a:srgbClr val="FF9933"/>
              </a:buClr>
              <a:buSzPct val="110000"/>
            </a:pPr>
            <a:endParaRPr kumimoji="1" lang="en-US" altLang="en-US" sz="1600" dirty="0"/>
          </a:p>
          <a:p>
            <a:pPr marL="571500" indent="-285750"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First nested query lists all courses offered in Biology</a:t>
            </a:r>
          </a:p>
          <a:p>
            <a:pPr marL="571500" indent="-285750"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Second nested query lists all courses a particular student took</a:t>
            </a:r>
          </a:p>
          <a:p>
            <a:pPr marL="285750">
              <a:buClr>
                <a:srgbClr val="FF9933"/>
              </a:buClr>
              <a:buSzPct val="90000"/>
            </a:pPr>
            <a:endParaRPr kumimoji="1" lang="en-US" altLang="en-US" sz="1700" dirty="0"/>
          </a:p>
          <a:p>
            <a:endParaRPr kumimoji="1"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6733421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F1630-0D41-2CD2-AD91-BFA1B25ED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Use of </a:t>
            </a:r>
            <a:r>
              <a:rPr lang="ja-JP" altLang="en-US" dirty="0"/>
              <a:t>“</a:t>
            </a:r>
            <a:r>
              <a:rPr lang="en-US" altLang="ja-JP" dirty="0"/>
              <a:t>not exists</a:t>
            </a:r>
            <a:r>
              <a:rPr lang="ja-JP" altLang="en-US" dirty="0"/>
              <a:t>”</a:t>
            </a:r>
            <a:r>
              <a:rPr lang="en-US" altLang="ja-JP" dirty="0"/>
              <a:t> Clause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5FE787-7B07-593B-BDEC-F418304CF1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819"/>
          <a:stretch>
            <a:fillRect/>
          </a:stretch>
        </p:blipFill>
        <p:spPr>
          <a:xfrm>
            <a:off x="552539" y="1754156"/>
            <a:ext cx="2759828" cy="44593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D30DD1-AD17-8801-26FC-FEB571E2D3BA}"/>
              </a:ext>
            </a:extLst>
          </p:cNvPr>
          <p:cNvSpPr txBox="1"/>
          <p:nvPr/>
        </p:nvSpPr>
        <p:spPr>
          <a:xfrm>
            <a:off x="1240970" y="942887"/>
            <a:ext cx="70166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en-US" sz="1600" dirty="0"/>
              <a:t>(</a:t>
            </a:r>
            <a:r>
              <a:rPr kumimoji="1" lang="en-US" altLang="en-US" sz="1600" b="1" dirty="0">
                <a:solidFill>
                  <a:schemeClr val="bg1">
                    <a:lumMod val="50000"/>
                  </a:schemeClr>
                </a:solidFill>
              </a:rPr>
              <a:t>select </a:t>
            </a:r>
            <a:r>
              <a:rPr kumimoji="1" lang="en-US" altLang="en-US" sz="1600" i="1" dirty="0" err="1">
                <a:solidFill>
                  <a:schemeClr val="bg1">
                    <a:lumMod val="50000"/>
                  </a:schemeClr>
                </a:solidFill>
              </a:rPr>
              <a:t>course_id</a:t>
            </a:r>
            <a:r>
              <a:rPr kumimoji="1" lang="en-US" altLang="en-U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kumimoji="1" lang="en-US" altLang="en-US" sz="1600" b="1" dirty="0">
                <a:solidFill>
                  <a:schemeClr val="bg1">
                    <a:lumMod val="50000"/>
                  </a:schemeClr>
                </a:solidFill>
              </a:rPr>
              <a:t> from </a:t>
            </a:r>
            <a:r>
              <a:rPr kumimoji="1" lang="en-US" altLang="en-US" sz="1600" i="1" dirty="0">
                <a:solidFill>
                  <a:schemeClr val="bg1">
                    <a:lumMod val="50000"/>
                  </a:schemeClr>
                </a:solidFill>
              </a:rPr>
              <a:t>course </a:t>
            </a:r>
            <a:r>
              <a:rPr kumimoji="1" lang="en-US" altLang="en-US" sz="1600" b="1" dirty="0">
                <a:solidFill>
                  <a:schemeClr val="bg1">
                    <a:lumMod val="50000"/>
                  </a:schemeClr>
                </a:solidFill>
              </a:rPr>
              <a:t>where </a:t>
            </a:r>
            <a:r>
              <a:rPr kumimoji="1" lang="en-US" altLang="en-US" sz="1600" i="1" dirty="0" err="1">
                <a:solidFill>
                  <a:schemeClr val="bg1">
                    <a:lumMod val="50000"/>
                  </a:schemeClr>
                </a:solidFill>
              </a:rPr>
              <a:t>dept_name</a:t>
            </a:r>
            <a:r>
              <a:rPr kumimoji="1" lang="en-US" altLang="en-US" sz="16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kumimoji="1" lang="en-US" altLang="en-US" sz="1600" dirty="0">
                <a:solidFill>
                  <a:schemeClr val="bg1">
                    <a:lumMod val="50000"/>
                  </a:schemeClr>
                </a:solidFill>
              </a:rPr>
              <a:t>= 'Biology'</a:t>
            </a:r>
            <a:r>
              <a:rPr kumimoji="1" lang="en-US" altLang="en-US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658904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6214D-0B2E-7EDB-D1D8-A49B5853D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E8130-B1BD-8D74-62F5-5D0225371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Use of </a:t>
            </a:r>
            <a:r>
              <a:rPr lang="ja-JP" altLang="en-US" dirty="0"/>
              <a:t>“</a:t>
            </a:r>
            <a:r>
              <a:rPr lang="en-US" altLang="ja-JP" dirty="0"/>
              <a:t>not exists</a:t>
            </a:r>
            <a:r>
              <a:rPr lang="ja-JP" altLang="en-US" dirty="0"/>
              <a:t>”</a:t>
            </a:r>
            <a:r>
              <a:rPr lang="en-US" altLang="ja-JP" dirty="0"/>
              <a:t> Clause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A91B40-FD19-AA10-C7AA-47A3D5BE6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185" y="1870785"/>
            <a:ext cx="2720576" cy="37112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5C30E7-9822-5A97-A2F6-45FD7C70141C}"/>
              </a:ext>
            </a:extLst>
          </p:cNvPr>
          <p:cNvSpPr txBox="1"/>
          <p:nvPr/>
        </p:nvSpPr>
        <p:spPr>
          <a:xfrm>
            <a:off x="1315617" y="953124"/>
            <a:ext cx="68190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</a:t>
            </a:r>
            <a:r>
              <a:rPr lang="en-IN" dirty="0" err="1"/>
              <a:t>T.course_id</a:t>
            </a:r>
            <a:r>
              <a:rPr lang="en-IN" dirty="0"/>
              <a:t> FROM takes AS T WHERE S.ID = T.ID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0F9823-E916-132C-E9D9-39DA5C0B2C7C}"/>
              </a:ext>
            </a:extLst>
          </p:cNvPr>
          <p:cNvSpPr txBox="1"/>
          <p:nvPr/>
        </p:nvSpPr>
        <p:spPr>
          <a:xfrm>
            <a:off x="4806950" y="2019792"/>
            <a:ext cx="23216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All Biology courses</a:t>
            </a:r>
          </a:p>
          <a:p>
            <a:r>
              <a:rPr lang="en-IN" dirty="0"/>
              <a:t>       EXCEPT</a:t>
            </a:r>
          </a:p>
          <a:p>
            <a:r>
              <a:rPr lang="en-IN" dirty="0"/>
              <a:t>Courses taken by Amit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BAD19F-67D1-5BC5-E2B5-04A5D3769460}"/>
              </a:ext>
            </a:extLst>
          </p:cNvPr>
          <p:cNvSpPr txBox="1"/>
          <p:nvPr/>
        </p:nvSpPr>
        <p:spPr>
          <a:xfrm>
            <a:off x="4572000" y="3310917"/>
            <a:ext cx="33123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X = {BIO-101, BIO-201, BIO-301}</a:t>
            </a:r>
          </a:p>
          <a:p>
            <a:endParaRPr lang="en-IN" dirty="0"/>
          </a:p>
          <a:p>
            <a:r>
              <a:rPr lang="en-IN" dirty="0"/>
              <a:t>Y = {BIO-101, BIO-201, BIO-301}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979D94-DAD9-6B87-6C2F-B42B39EBED14}"/>
              </a:ext>
            </a:extLst>
          </p:cNvPr>
          <p:cNvSpPr txBox="1"/>
          <p:nvPr/>
        </p:nvSpPr>
        <p:spPr>
          <a:xfrm>
            <a:off x="4114800" y="4430433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EXISTS(empty set)     → FALSE</a:t>
            </a:r>
          </a:p>
          <a:p>
            <a:r>
              <a:rPr lang="en-IN" dirty="0"/>
              <a:t>NOT EXISTS(empty set) → TRUE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D8E536-90F9-1A8A-731A-A6244886C707}"/>
              </a:ext>
            </a:extLst>
          </p:cNvPr>
          <p:cNvSpPr txBox="1"/>
          <p:nvPr/>
        </p:nvSpPr>
        <p:spPr>
          <a:xfrm>
            <a:off x="3788229" y="5143465"/>
            <a:ext cx="457200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dirty="0"/>
              <a:t>NOT EXISTS</a:t>
            </a:r>
          </a:p>
          <a:p>
            <a:r>
              <a:rPr lang="en-US" sz="1700" dirty="0"/>
              <a:t>→ "I cannot find even one Biology course that this student has failed to take."</a:t>
            </a:r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36560853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84EE2-3373-275F-A720-16252ACA0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0C41C-6997-DDCB-8A90-E229F6D0F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Use of </a:t>
            </a:r>
            <a:r>
              <a:rPr lang="ja-JP" altLang="en-US" dirty="0"/>
              <a:t>“</a:t>
            </a:r>
            <a:r>
              <a:rPr lang="en-US" altLang="ja-JP" dirty="0"/>
              <a:t>not exists</a:t>
            </a:r>
            <a:r>
              <a:rPr lang="ja-JP" altLang="en-US" dirty="0"/>
              <a:t>”</a:t>
            </a:r>
            <a:r>
              <a:rPr lang="en-US" altLang="ja-JP" dirty="0"/>
              <a:t> Clause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C4B5B99-2F49-9AD1-D65B-9F3A17D92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50" y="1758818"/>
            <a:ext cx="2352447" cy="37112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F5A7B7-404F-8402-3BBC-F68085ECD50F}"/>
              </a:ext>
            </a:extLst>
          </p:cNvPr>
          <p:cNvSpPr txBox="1"/>
          <p:nvPr/>
        </p:nvSpPr>
        <p:spPr>
          <a:xfrm>
            <a:off x="1315617" y="953124"/>
            <a:ext cx="68190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</a:t>
            </a:r>
            <a:r>
              <a:rPr lang="en-IN" dirty="0" err="1"/>
              <a:t>T.course_id</a:t>
            </a:r>
            <a:r>
              <a:rPr lang="en-IN" dirty="0"/>
              <a:t> FROM takes AS T WHERE S.ID = T.ID</a:t>
            </a:r>
          </a:p>
        </p:txBody>
      </p:sp>
    </p:spTree>
    <p:extLst>
      <p:ext uri="{BB962C8B-B14F-4D97-AF65-F5344CB8AC3E}">
        <p14:creationId xmlns:p14="http://schemas.microsoft.com/office/powerpoint/2010/main" val="116000847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758DC-CA8A-CAA9-1024-BD429AF07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9C932-18F7-957F-0843-EAF4D0CA2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Use of </a:t>
            </a:r>
            <a:r>
              <a:rPr lang="ja-JP" altLang="en-US" dirty="0"/>
              <a:t>“</a:t>
            </a:r>
            <a:r>
              <a:rPr lang="en-US" altLang="ja-JP" dirty="0"/>
              <a:t>not exists</a:t>
            </a:r>
            <a:r>
              <a:rPr lang="ja-JP" altLang="en-US" dirty="0"/>
              <a:t>”</a:t>
            </a:r>
            <a:r>
              <a:rPr lang="en-US" altLang="ja-JP" dirty="0"/>
              <a:t> Clause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02EB0D-E7C6-45BC-1287-6EF997BCF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50" y="1221578"/>
            <a:ext cx="6724132" cy="31575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8B31C7-0695-EC45-EC20-7B8B09E4040F}"/>
              </a:ext>
            </a:extLst>
          </p:cNvPr>
          <p:cNvSpPr txBox="1"/>
          <p:nvPr/>
        </p:nvSpPr>
        <p:spPr>
          <a:xfrm>
            <a:off x="961052" y="4740706"/>
            <a:ext cx="6204857" cy="1333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{BIO-101, BIO-201, BIO-301}</a:t>
            </a:r>
          </a:p>
          <a:p>
            <a:r>
              <a:rPr lang="en-IN" dirty="0"/>
              <a:t>             -</a:t>
            </a:r>
          </a:p>
          <a:p>
            <a:r>
              <a:rPr lang="en-IN" dirty="0"/>
              <a:t>{BIO-101, BIO-201, BIO-301, CS-101}</a:t>
            </a:r>
          </a:p>
          <a:p>
            <a:endParaRPr lang="en-IN" dirty="0"/>
          </a:p>
          <a:p>
            <a:r>
              <a:rPr lang="en-IN" dirty="0"/>
              <a:t>             = { }</a:t>
            </a:r>
          </a:p>
        </p:txBody>
      </p:sp>
    </p:spTree>
    <p:extLst>
      <p:ext uri="{BB962C8B-B14F-4D97-AF65-F5344CB8AC3E}">
        <p14:creationId xmlns:p14="http://schemas.microsoft.com/office/powerpoint/2010/main" val="153963548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F2722-3F40-8875-968B-905C1393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Use of </a:t>
            </a:r>
            <a:r>
              <a:rPr lang="ja-JP" altLang="en-US" dirty="0"/>
              <a:t>“</a:t>
            </a:r>
            <a:r>
              <a:rPr lang="en-US" altLang="ja-JP" dirty="0"/>
              <a:t>exists</a:t>
            </a:r>
            <a:r>
              <a:rPr lang="ja-JP" altLang="en-US" dirty="0"/>
              <a:t>”</a:t>
            </a:r>
            <a:r>
              <a:rPr lang="en-US" altLang="en-US" dirty="0"/>
              <a:t> and </a:t>
            </a:r>
            <a:r>
              <a:rPr lang="ja-JP" altLang="en-US" dirty="0"/>
              <a:t>“</a:t>
            </a:r>
            <a:r>
              <a:rPr lang="en-US" altLang="ja-JP" dirty="0"/>
              <a:t>not exists</a:t>
            </a:r>
            <a:r>
              <a:rPr lang="ja-JP" altLang="en-US" dirty="0"/>
              <a:t>”</a:t>
            </a:r>
            <a:r>
              <a:rPr lang="en-US" altLang="ja-JP" dirty="0"/>
              <a:t> Clause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B8837-5108-2135-98B3-4FDE4CBBE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EXISTS</a:t>
            </a:r>
          </a:p>
          <a:p>
            <a:r>
              <a:rPr lang="en-US" dirty="0"/>
              <a:t>→ "Can I find at least one matching row?"</a:t>
            </a:r>
          </a:p>
          <a:p>
            <a:endParaRPr lang="en-US" dirty="0"/>
          </a:p>
          <a:p>
            <a:r>
              <a:rPr lang="en-US" dirty="0"/>
              <a:t>NOT EXISTS</a:t>
            </a:r>
          </a:p>
          <a:p>
            <a:r>
              <a:rPr lang="en-US" dirty="0"/>
              <a:t>→ "I cannot find even one matching row.“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3009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Rectangle 2"/>
          <p:cNvSpPr>
            <a:spLocks noGrp="1" noChangeArrowheads="1"/>
          </p:cNvSpPr>
          <p:nvPr>
            <p:ph type="title"/>
          </p:nvPr>
        </p:nvSpPr>
        <p:spPr>
          <a:xfrm>
            <a:off x="781050" y="152400"/>
            <a:ext cx="8077200" cy="609600"/>
          </a:xfrm>
        </p:spPr>
        <p:txBody>
          <a:bodyPr/>
          <a:lstStyle/>
          <a:p>
            <a:r>
              <a:rPr lang="en-US" altLang="en-US" sz="2800" dirty="0"/>
              <a:t>Test for Absence of Duplicate Tuples</a:t>
            </a:r>
          </a:p>
        </p:txBody>
      </p:sp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050" y="1100646"/>
            <a:ext cx="7499160" cy="4367212"/>
          </a:xfrm>
        </p:spPr>
        <p:txBody>
          <a:bodyPr/>
          <a:lstStyle/>
          <a:p>
            <a:pPr>
              <a:tabLst>
                <a:tab pos="803275" algn="l"/>
                <a:tab pos="1547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unique</a:t>
            </a:r>
            <a:r>
              <a:rPr lang="en-US" altLang="en-US" sz="1700" dirty="0"/>
              <a:t> construct tests whether a subquery has any duplicate tuples in its result.</a:t>
            </a:r>
          </a:p>
          <a:p>
            <a:pPr>
              <a:tabLst>
                <a:tab pos="803275" algn="l"/>
                <a:tab pos="1547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unique</a:t>
            </a:r>
            <a:r>
              <a:rPr lang="en-US" altLang="en-US" sz="1700" dirty="0"/>
              <a:t> construct evaluates to “true” if a given subquery contains no duplicates .</a:t>
            </a:r>
          </a:p>
          <a:p>
            <a:pPr>
              <a:tabLst>
                <a:tab pos="803275" algn="l"/>
                <a:tab pos="1547813" algn="l"/>
              </a:tabLst>
            </a:pPr>
            <a:r>
              <a:rPr lang="en-US" altLang="en-US" sz="1700" dirty="0"/>
              <a:t>Find all courses that were offered at most once in 2017</a:t>
            </a:r>
          </a:p>
          <a:p>
            <a:pPr lvl="1">
              <a:buFont typeface="Monotype Sorts" charset="2"/>
              <a:buNone/>
              <a:tabLst>
                <a:tab pos="803275" algn="l"/>
                <a:tab pos="1547813" algn="l"/>
              </a:tabLst>
            </a:pPr>
            <a:r>
              <a:rPr lang="en-US" altLang="en-US" sz="1700" b="1" dirty="0"/>
              <a:t>    select </a:t>
            </a:r>
            <a:r>
              <a:rPr lang="en-US" altLang="en-US" sz="1700" i="1" dirty="0" err="1"/>
              <a:t>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course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</a:t>
            </a:r>
            <a:br>
              <a:rPr lang="en-US" altLang="en-US" sz="1700" i="1" dirty="0"/>
            </a:br>
            <a:r>
              <a:rPr lang="en-US" altLang="en-US" sz="1700" b="1" dirty="0"/>
              <a:t>where unique </a:t>
            </a:r>
            <a:r>
              <a:rPr lang="en-US" altLang="en-US" sz="1700" dirty="0"/>
              <a:t>( 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section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R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 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        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year</a:t>
            </a:r>
            <a:r>
              <a:rPr lang="en-US" altLang="en-US" sz="1700" i="1" dirty="0"/>
              <a:t> </a:t>
            </a:r>
            <a:r>
              <a:rPr lang="en-US" altLang="en-US" sz="1700" dirty="0"/>
              <a:t>= 2017);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B01DC-C53A-FA39-7DA0-0FF8B125A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Test for Absence of Duplicate Tuples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F8F20D-3260-093C-2B8A-BD8A4D9453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800744"/>
              </p:ext>
            </p:extLst>
          </p:nvPr>
        </p:nvGraphicFramePr>
        <p:xfrm>
          <a:off x="768350" y="882491"/>
          <a:ext cx="7707312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6828">
                  <a:extLst>
                    <a:ext uri="{9D8B030D-6E8A-4147-A177-3AD203B41FA5}">
                      <a16:colId xmlns:a16="http://schemas.microsoft.com/office/drawing/2014/main" val="1483214779"/>
                    </a:ext>
                  </a:extLst>
                </a:gridCol>
                <a:gridCol w="1926828">
                  <a:extLst>
                    <a:ext uri="{9D8B030D-6E8A-4147-A177-3AD203B41FA5}">
                      <a16:colId xmlns:a16="http://schemas.microsoft.com/office/drawing/2014/main" val="3908992578"/>
                    </a:ext>
                  </a:extLst>
                </a:gridCol>
                <a:gridCol w="1926828">
                  <a:extLst>
                    <a:ext uri="{9D8B030D-6E8A-4147-A177-3AD203B41FA5}">
                      <a16:colId xmlns:a16="http://schemas.microsoft.com/office/drawing/2014/main" val="3024616722"/>
                    </a:ext>
                  </a:extLst>
                </a:gridCol>
                <a:gridCol w="1926828">
                  <a:extLst>
                    <a:ext uri="{9D8B030D-6E8A-4147-A177-3AD203B41FA5}">
                      <a16:colId xmlns:a16="http://schemas.microsoft.com/office/drawing/2014/main" val="34339172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course_id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semester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year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3887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CS-101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2017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9722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CS-101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2017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1042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CS-315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2017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9959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CS-347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2018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77864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78419CC-0F54-2E88-2CAF-F51D9B77FC91}"/>
              </a:ext>
            </a:extLst>
          </p:cNvPr>
          <p:cNvSpPr txBox="1"/>
          <p:nvPr/>
        </p:nvSpPr>
        <p:spPr>
          <a:xfrm>
            <a:off x="768350" y="2866707"/>
            <a:ext cx="9486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CS-101</a:t>
            </a:r>
          </a:p>
          <a:p>
            <a:r>
              <a:rPr lang="en-IN" dirty="0"/>
              <a:t>CS-315</a:t>
            </a:r>
          </a:p>
          <a:p>
            <a:r>
              <a:rPr lang="en-IN" dirty="0"/>
              <a:t>CS-347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CA1901-7D18-C2B2-5A40-4D25A24E1762}"/>
              </a:ext>
            </a:extLst>
          </p:cNvPr>
          <p:cNvSpPr txBox="1"/>
          <p:nvPr/>
        </p:nvSpPr>
        <p:spPr>
          <a:xfrm>
            <a:off x="2617470" y="3111133"/>
            <a:ext cx="18516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Course Table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627CC2E-9818-730A-3F88-2C9A510D1972}"/>
              </a:ext>
            </a:extLst>
          </p:cNvPr>
          <p:cNvCxnSpPr/>
          <p:nvPr/>
        </p:nvCxnSpPr>
        <p:spPr bwMode="auto">
          <a:xfrm flipH="1">
            <a:off x="1554480" y="3280410"/>
            <a:ext cx="9144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B6D3246-CDA3-A644-1941-22D5D08A59D6}"/>
              </a:ext>
            </a:extLst>
          </p:cNvPr>
          <p:cNvSpPr txBox="1"/>
          <p:nvPr/>
        </p:nvSpPr>
        <p:spPr>
          <a:xfrm>
            <a:off x="674370" y="4072463"/>
            <a:ext cx="770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</a:t>
            </a:r>
            <a:r>
              <a:rPr lang="en-IN" dirty="0" err="1"/>
              <a:t>R.course_id</a:t>
            </a:r>
            <a:r>
              <a:rPr lang="en-IN" dirty="0"/>
              <a:t> FROM section AS R WHERE </a:t>
            </a:r>
            <a:r>
              <a:rPr lang="en-IN" dirty="0" err="1"/>
              <a:t>R.course_id</a:t>
            </a:r>
            <a:r>
              <a:rPr lang="en-IN" dirty="0"/>
              <a:t> = 'CS-101'</a:t>
            </a:r>
          </a:p>
          <a:p>
            <a:r>
              <a:rPr lang="en-IN" dirty="0"/>
              <a:t>  AND </a:t>
            </a:r>
            <a:r>
              <a:rPr lang="en-IN" dirty="0" err="1"/>
              <a:t>R.year</a:t>
            </a:r>
            <a:r>
              <a:rPr lang="en-IN" dirty="0"/>
              <a:t> = 2017;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53813F1-A23F-D12B-A924-5F60A25C2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370872"/>
              </p:ext>
            </p:extLst>
          </p:nvPr>
        </p:nvGraphicFramePr>
        <p:xfrm>
          <a:off x="768350" y="4959399"/>
          <a:ext cx="7707313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07313">
                  <a:extLst>
                    <a:ext uri="{9D8B030D-6E8A-4147-A177-3AD203B41FA5}">
                      <a16:colId xmlns:a16="http://schemas.microsoft.com/office/drawing/2014/main" val="1624952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course_id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397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CS-315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9322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CS-347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774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839654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0D3C6-CC52-84AD-CCBC-0A13E47DB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 offered exactly once in 2017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D6068F-88EE-5DEB-22E1-F65404CEC639}"/>
              </a:ext>
            </a:extLst>
          </p:cNvPr>
          <p:cNvSpPr txBox="1"/>
          <p:nvPr/>
        </p:nvSpPr>
        <p:spPr>
          <a:xfrm>
            <a:off x="1005840" y="1014472"/>
            <a:ext cx="713232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</a:t>
            </a:r>
            <a:r>
              <a:rPr lang="en-IN" dirty="0" err="1"/>
              <a:t>T.course_id</a:t>
            </a:r>
            <a:r>
              <a:rPr lang="en-IN" dirty="0"/>
              <a:t> FROM course AS T</a:t>
            </a:r>
          </a:p>
          <a:p>
            <a:r>
              <a:rPr lang="en-IN" dirty="0"/>
              <a:t>WHERE UNIQUE (SELECT </a:t>
            </a:r>
            <a:r>
              <a:rPr lang="en-IN" dirty="0" err="1"/>
              <a:t>R.course_id</a:t>
            </a:r>
            <a:endParaRPr lang="en-IN" dirty="0"/>
          </a:p>
          <a:p>
            <a:r>
              <a:rPr lang="en-IN" dirty="0"/>
              <a:t>       FROM section AS R</a:t>
            </a:r>
          </a:p>
          <a:p>
            <a:r>
              <a:rPr lang="en-IN" dirty="0"/>
              <a:t>       WHERE </a:t>
            </a:r>
            <a:r>
              <a:rPr lang="en-IN" dirty="0" err="1"/>
              <a:t>T.course_id</a:t>
            </a:r>
            <a:r>
              <a:rPr lang="en-IN" dirty="0"/>
              <a:t> = </a:t>
            </a:r>
            <a:r>
              <a:rPr lang="en-IN" dirty="0" err="1"/>
              <a:t>R.course_id</a:t>
            </a:r>
            <a:endParaRPr lang="en-IN" dirty="0"/>
          </a:p>
          <a:p>
            <a:r>
              <a:rPr lang="en-IN" dirty="0"/>
              <a:t>         AND </a:t>
            </a:r>
            <a:r>
              <a:rPr lang="en-IN" dirty="0" err="1"/>
              <a:t>R.year</a:t>
            </a:r>
            <a:r>
              <a:rPr lang="en-IN" dirty="0"/>
              <a:t> = 2017)</a:t>
            </a:r>
          </a:p>
          <a:p>
            <a:r>
              <a:rPr lang="en-IN" dirty="0"/>
              <a:t>AND EXISTS</a:t>
            </a:r>
          </a:p>
          <a:p>
            <a:r>
              <a:rPr lang="en-IN" dirty="0"/>
              <a:t>      (SELECT * FROM section AS R WHERE </a:t>
            </a:r>
            <a:r>
              <a:rPr lang="en-IN" dirty="0" err="1"/>
              <a:t>T.course_id</a:t>
            </a:r>
            <a:r>
              <a:rPr lang="en-IN" dirty="0"/>
              <a:t> = </a:t>
            </a:r>
            <a:r>
              <a:rPr lang="en-IN" dirty="0" err="1"/>
              <a:t>R.course_id</a:t>
            </a:r>
            <a:endParaRPr lang="en-IN" dirty="0"/>
          </a:p>
          <a:p>
            <a:r>
              <a:rPr lang="en-IN" dirty="0"/>
              <a:t>         AND </a:t>
            </a:r>
            <a:r>
              <a:rPr lang="en-IN" dirty="0" err="1"/>
              <a:t>R.year</a:t>
            </a:r>
            <a:r>
              <a:rPr lang="en-IN" dirty="0"/>
              <a:t> = 2017);</a:t>
            </a:r>
          </a:p>
        </p:txBody>
      </p:sp>
    </p:spTree>
    <p:extLst>
      <p:ext uri="{BB962C8B-B14F-4D97-AF65-F5344CB8AC3E}">
        <p14:creationId xmlns:p14="http://schemas.microsoft.com/office/powerpoint/2010/main" val="177241791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/>
          <a:lstStyle/>
          <a:p>
            <a:r>
              <a:rPr lang="en-US" altLang="en-US" dirty="0"/>
              <a:t>Subqueries in the From Clause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Subqueries in the From Clause</a:t>
            </a:r>
          </a:p>
        </p:txBody>
      </p:sp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69912"/>
            <a:ext cx="7443495" cy="4876800"/>
          </a:xfrm>
        </p:spPr>
        <p:txBody>
          <a:bodyPr/>
          <a:lstStyle/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SQL allows a subquery expression to be used in the </a:t>
            </a:r>
            <a:r>
              <a:rPr lang="en-US" altLang="en-US" sz="1700" b="1" dirty="0"/>
              <a:t>from </a:t>
            </a:r>
            <a:r>
              <a:rPr lang="en-US" altLang="en-US" sz="1700" dirty="0"/>
              <a:t>clause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Find the average instructors’ salaries of those departments where the average salary is greater than $42,000.”</a:t>
            </a:r>
          </a:p>
          <a:p>
            <a:pPr lvl="1"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 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avg_salary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dirty="0"/>
              <a:t>(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 </a:t>
            </a:r>
            <a:r>
              <a:rPr lang="en-US" altLang="en-US" sz="1700" i="1" dirty="0" err="1"/>
              <a:t>avg_salary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b="1" dirty="0"/>
              <a:t>where </a:t>
            </a:r>
            <a:r>
              <a:rPr lang="en-US" altLang="en-US" sz="1700" i="1" dirty="0" err="1"/>
              <a:t>avg_salary</a:t>
            </a:r>
            <a:r>
              <a:rPr lang="en-US" altLang="en-US" sz="1700" i="1" dirty="0"/>
              <a:t> </a:t>
            </a:r>
            <a:r>
              <a:rPr lang="en-US" altLang="en-US" sz="1700" dirty="0"/>
              <a:t>&gt; 42000;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Note that we do not need to use the </a:t>
            </a:r>
            <a:r>
              <a:rPr lang="en-US" altLang="en-US" sz="1700" b="1" dirty="0"/>
              <a:t>having </a:t>
            </a:r>
            <a:r>
              <a:rPr lang="en-US" altLang="en-US" sz="1700" dirty="0"/>
              <a:t>clause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Another way to write above query</a:t>
            </a:r>
          </a:p>
          <a:p>
            <a:pPr marL="0" indent="0"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800" dirty="0"/>
              <a:t> </a:t>
            </a:r>
          </a:p>
          <a:p>
            <a:pPr lvl="1">
              <a:spcBef>
                <a:spcPts val="0"/>
              </a:spcBef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 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avg_salary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dirty="0"/>
              <a:t>(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 </a:t>
            </a:r>
          </a:p>
          <a:p>
            <a:pPr lvl="1">
              <a:spcBef>
                <a:spcPts val="0"/>
              </a:spcBef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            as </a:t>
            </a:r>
            <a:r>
              <a:rPr lang="en-US" altLang="en-US" sz="1700" i="1" dirty="0" err="1"/>
              <a:t>dept_avg</a:t>
            </a:r>
            <a:r>
              <a:rPr lang="en-US" altLang="en-US" sz="1700" i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avg_salary</a:t>
            </a:r>
            <a:r>
              <a:rPr lang="en-US" altLang="en-US" sz="1700" dirty="0"/>
              <a:t>)</a:t>
            </a:r>
          </a:p>
          <a:p>
            <a:pPr lvl="1">
              <a:spcBef>
                <a:spcPts val="0"/>
              </a:spcBef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where </a:t>
            </a:r>
            <a:r>
              <a:rPr lang="en-US" altLang="en-US" sz="1700" i="1" dirty="0" err="1"/>
              <a:t>avg_salary</a:t>
            </a:r>
            <a:r>
              <a:rPr lang="en-US" altLang="en-US" sz="1700" i="1" dirty="0"/>
              <a:t> </a:t>
            </a:r>
            <a:r>
              <a:rPr lang="en-US" altLang="en-US" sz="1700" dirty="0"/>
              <a:t>&gt; 42000;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FD24C6-7020-8B09-3C45-AF879E082212}"/>
              </a:ext>
            </a:extLst>
          </p:cNvPr>
          <p:cNvSpPr txBox="1"/>
          <p:nvPr/>
        </p:nvSpPr>
        <p:spPr>
          <a:xfrm>
            <a:off x="2090058" y="259188"/>
            <a:ext cx="578498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HAVING version:</a:t>
            </a:r>
          </a:p>
          <a:p>
            <a:endParaRPr lang="en-IN" dirty="0"/>
          </a:p>
          <a:p>
            <a:r>
              <a:rPr lang="en-IN" dirty="0"/>
              <a:t>instructor</a:t>
            </a:r>
          </a:p>
          <a:p>
            <a:r>
              <a:rPr lang="en-IN" dirty="0"/>
              <a:t>    ↓</a:t>
            </a:r>
          </a:p>
          <a:p>
            <a:r>
              <a:rPr lang="en-IN" dirty="0"/>
              <a:t>GROUP BY</a:t>
            </a:r>
          </a:p>
          <a:p>
            <a:r>
              <a:rPr lang="en-IN" dirty="0"/>
              <a:t>    ↓</a:t>
            </a:r>
          </a:p>
          <a:p>
            <a:r>
              <a:rPr lang="en-IN" dirty="0"/>
              <a:t>AVG(salary)</a:t>
            </a:r>
          </a:p>
          <a:p>
            <a:r>
              <a:rPr lang="en-IN" dirty="0"/>
              <a:t>    ↓</a:t>
            </a:r>
          </a:p>
          <a:p>
            <a:r>
              <a:rPr lang="en-IN" dirty="0"/>
              <a:t>HAVING AVG(salary) &gt; 42000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Subquery version:</a:t>
            </a:r>
          </a:p>
          <a:p>
            <a:endParaRPr lang="en-IN" dirty="0"/>
          </a:p>
          <a:p>
            <a:r>
              <a:rPr lang="en-IN" dirty="0"/>
              <a:t>instructor</a:t>
            </a:r>
          </a:p>
          <a:p>
            <a:r>
              <a:rPr lang="en-IN" dirty="0"/>
              <a:t>    ↓</a:t>
            </a:r>
          </a:p>
          <a:p>
            <a:r>
              <a:rPr lang="en-IN" dirty="0"/>
              <a:t>GROUP BY</a:t>
            </a:r>
          </a:p>
          <a:p>
            <a:r>
              <a:rPr lang="en-IN" dirty="0"/>
              <a:t>    ↓</a:t>
            </a:r>
          </a:p>
          <a:p>
            <a:r>
              <a:rPr lang="en-IN" dirty="0"/>
              <a:t>AVG(salary)</a:t>
            </a:r>
          </a:p>
          <a:p>
            <a:r>
              <a:rPr lang="en-IN" dirty="0"/>
              <a:t>    ↓</a:t>
            </a:r>
          </a:p>
          <a:p>
            <a:r>
              <a:rPr lang="en-IN" dirty="0"/>
              <a:t>temporary table</a:t>
            </a:r>
          </a:p>
          <a:p>
            <a:r>
              <a:rPr lang="en-IN" dirty="0"/>
              <a:t>    ↓</a:t>
            </a:r>
          </a:p>
          <a:p>
            <a:r>
              <a:rPr lang="en-IN" dirty="0"/>
              <a:t>WHERE </a:t>
            </a:r>
            <a:r>
              <a:rPr lang="en-IN" dirty="0" err="1"/>
              <a:t>avg_salary</a:t>
            </a:r>
            <a:r>
              <a:rPr lang="en-IN" dirty="0"/>
              <a:t> &gt; 42000</a:t>
            </a:r>
          </a:p>
        </p:txBody>
      </p:sp>
    </p:spTree>
    <p:extLst>
      <p:ext uri="{BB962C8B-B14F-4D97-AF65-F5344CB8AC3E}">
        <p14:creationId xmlns:p14="http://schemas.microsoft.com/office/powerpoint/2010/main" val="388439030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With Clause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736457" cy="4903787"/>
          </a:xfrm>
        </p:spPr>
        <p:txBody>
          <a:bodyPr/>
          <a:lstStyle/>
          <a:p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with</a:t>
            </a:r>
            <a:r>
              <a:rPr lang="en-US" altLang="en-US" sz="1700" dirty="0"/>
              <a:t> clause provides a way of defining a temporary relation whose definition is available only to the query in which the </a:t>
            </a:r>
            <a:r>
              <a:rPr lang="en-US" altLang="en-US" sz="1700" b="1" dirty="0"/>
              <a:t>with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clause occurs. </a:t>
            </a:r>
          </a:p>
          <a:p>
            <a:r>
              <a:rPr lang="en-US" altLang="en-US" sz="1700" dirty="0"/>
              <a:t>Find all departments with the maximum budget 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  <a:br>
              <a:rPr lang="en-US" altLang="en-US" sz="1700" b="1" dirty="0"/>
            </a:br>
            <a:r>
              <a:rPr lang="en-US" altLang="en-US" sz="1700" b="1" dirty="0"/>
              <a:t>     with </a:t>
            </a:r>
            <a:r>
              <a:rPr lang="en-US" altLang="en-US" sz="1700" i="1" dirty="0" err="1"/>
              <a:t>max_budget</a:t>
            </a:r>
            <a:r>
              <a:rPr lang="en-US" altLang="en-US" sz="1700" i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 </a:t>
            </a:r>
            <a:br>
              <a:rPr lang="en-US" altLang="en-US" sz="1700" b="1" dirty="0"/>
            </a:br>
            <a:r>
              <a:rPr lang="en-US" altLang="en-US" sz="1700" b="1" dirty="0"/>
              <a:t>            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max</a:t>
            </a:r>
            <a:r>
              <a:rPr lang="en-US" altLang="en-US" sz="1700" dirty="0"/>
              <a:t>(</a:t>
            </a:r>
            <a:r>
              <a:rPr lang="en-US" altLang="en-US" sz="1700" i="1" dirty="0"/>
              <a:t>budget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department.name</a:t>
            </a:r>
            <a:br>
              <a:rPr lang="en-US" altLang="en-US" sz="1700" i="1" dirty="0"/>
            </a:br>
            <a:r>
              <a:rPr lang="en-US" altLang="en-US" sz="1700" i="1" dirty="0"/>
              <a:t>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max_budget</a:t>
            </a:r>
            <a:br>
              <a:rPr lang="en-US" altLang="en-US" sz="1700" i="1" dirty="0"/>
            </a:br>
            <a:r>
              <a:rPr lang="en-US" altLang="en-US" sz="1700" i="1" dirty="0"/>
              <a:t>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department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budget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max_budget.value</a:t>
            </a:r>
            <a:r>
              <a:rPr lang="en-US" altLang="en-US" sz="1700" dirty="0"/>
              <a:t>;</a:t>
            </a:r>
          </a:p>
          <a:p>
            <a:r>
              <a:rPr lang="en-IN" dirty="0"/>
              <a:t>The WITH version is useful because for larger queries, giving an intermediate result a meaningful name can make the SQL easier to read and reuse within the statement.</a:t>
            </a:r>
            <a:endParaRPr lang="en-US" altLang="en-US" sz="17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429E7-1E41-5282-8014-E50C0DBFF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With Clause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DC1BB9-68DC-6645-E66D-2F9B56E9F1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779730"/>
              </p:ext>
            </p:extLst>
          </p:nvPr>
        </p:nvGraphicFramePr>
        <p:xfrm>
          <a:off x="852326" y="727075"/>
          <a:ext cx="7707312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9104">
                  <a:extLst>
                    <a:ext uri="{9D8B030D-6E8A-4147-A177-3AD203B41FA5}">
                      <a16:colId xmlns:a16="http://schemas.microsoft.com/office/drawing/2014/main" val="1060180696"/>
                    </a:ext>
                  </a:extLst>
                </a:gridCol>
                <a:gridCol w="2569104">
                  <a:extLst>
                    <a:ext uri="{9D8B030D-6E8A-4147-A177-3AD203B41FA5}">
                      <a16:colId xmlns:a16="http://schemas.microsoft.com/office/drawing/2014/main" val="634341357"/>
                    </a:ext>
                  </a:extLst>
                </a:gridCol>
                <a:gridCol w="2569104">
                  <a:extLst>
                    <a:ext uri="{9D8B030D-6E8A-4147-A177-3AD203B41FA5}">
                      <a16:colId xmlns:a16="http://schemas.microsoft.com/office/drawing/2014/main" val="20615166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building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budget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5923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Watson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90,000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6365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Comp. Sci.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Taylor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120,000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7926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Painter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120,000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4919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Music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Packard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80,000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8648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Physics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Watson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939873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8B788F6-4985-6254-2C6D-20F6600843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49060"/>
              </p:ext>
            </p:extLst>
          </p:nvPr>
        </p:nvGraphicFramePr>
        <p:xfrm>
          <a:off x="852326" y="3165475"/>
          <a:ext cx="7707313" cy="73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07313">
                  <a:extLst>
                    <a:ext uri="{9D8B030D-6E8A-4147-A177-3AD203B41FA5}">
                      <a16:colId xmlns:a16="http://schemas.microsoft.com/office/drawing/2014/main" val="42588093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2839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120000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893968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58784B2-1F0A-0543-E91E-FEDDDC5DF0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751076"/>
              </p:ext>
            </p:extLst>
          </p:nvPr>
        </p:nvGraphicFramePr>
        <p:xfrm>
          <a:off x="852326" y="4062597"/>
          <a:ext cx="7707312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9104">
                  <a:extLst>
                    <a:ext uri="{9D8B030D-6E8A-4147-A177-3AD203B41FA5}">
                      <a16:colId xmlns:a16="http://schemas.microsoft.com/office/drawing/2014/main" val="2172336126"/>
                    </a:ext>
                  </a:extLst>
                </a:gridCol>
                <a:gridCol w="2569104">
                  <a:extLst>
                    <a:ext uri="{9D8B030D-6E8A-4147-A177-3AD203B41FA5}">
                      <a16:colId xmlns:a16="http://schemas.microsoft.com/office/drawing/2014/main" val="4271099457"/>
                    </a:ext>
                  </a:extLst>
                </a:gridCol>
                <a:gridCol w="2569104">
                  <a:extLst>
                    <a:ext uri="{9D8B030D-6E8A-4147-A177-3AD203B41FA5}">
                      <a16:colId xmlns:a16="http://schemas.microsoft.com/office/drawing/2014/main" val="41623707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Budget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budget = 120000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4598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90,000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0574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Comp. Sci.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120,000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3682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120,000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0951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Music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80,000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3343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Physics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2343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038942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Complex Queries using With Clause</a:t>
            </a:r>
          </a:p>
        </p:txBody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47763"/>
            <a:ext cx="7557504" cy="693864"/>
          </a:xfrm>
        </p:spPr>
        <p:txBody>
          <a:bodyPr/>
          <a:lstStyle/>
          <a:p>
            <a:r>
              <a:rPr lang="en-US" altLang="en-US" sz="1700" dirty="0"/>
              <a:t>Find all departments where the total salary is greater than the average of the total salary at all departments</a:t>
            </a:r>
          </a:p>
        </p:txBody>
      </p:sp>
      <p:sp>
        <p:nvSpPr>
          <p:cNvPr id="46083" name="Text Box 4"/>
          <p:cNvSpPr txBox="1">
            <a:spLocks noChangeArrowheads="1"/>
          </p:cNvSpPr>
          <p:nvPr/>
        </p:nvSpPr>
        <p:spPr bwMode="auto">
          <a:xfrm>
            <a:off x="1562471" y="1841627"/>
            <a:ext cx="6858036" cy="2730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with </a:t>
            </a:r>
            <a:r>
              <a:rPr lang="en-US" altLang="en-US" sz="1700" i="1" dirty="0" err="1"/>
              <a:t>dept</a:t>
            </a:r>
            <a:r>
              <a:rPr lang="en-US" altLang="en-US" sz="1700" i="1" dirty="0"/>
              <a:t> _total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</a:p>
          <a:p>
            <a:r>
              <a:rPr lang="en-US" altLang="en-US" sz="1700" dirty="0"/>
              <a:t>        (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/>
              <a:t>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         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         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),</a:t>
            </a:r>
          </a:p>
          <a:p>
            <a:r>
              <a:rPr lang="en-US" altLang="en-US" sz="1700" i="1" dirty="0" err="1"/>
              <a:t>dept_total_avg</a:t>
            </a:r>
            <a:r>
              <a:rPr lang="en-US" altLang="en-US" sz="1700" dirty="0"/>
              <a:t>(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</a:p>
          <a:p>
            <a:r>
              <a:rPr lang="en-US" altLang="en-US" sz="1700" dirty="0"/>
              <a:t>       (</a:t>
            </a:r>
            <a:r>
              <a:rPr lang="en-US" altLang="en-US" sz="1700" b="1" dirty="0"/>
              <a:t>select </a:t>
            </a:r>
            <a:r>
              <a:rPr lang="en-US" altLang="en-US" sz="1700" b="1" dirty="0" err="1"/>
              <a:t>avg</a:t>
            </a:r>
            <a:r>
              <a:rPr lang="en-US" altLang="en-US" sz="1700" dirty="0"/>
              <a:t>(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       from </a:t>
            </a:r>
            <a:r>
              <a:rPr lang="en-US" altLang="en-US" sz="1700" i="1" dirty="0" err="1"/>
              <a:t>dept_total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</a:p>
          <a:p>
            <a:r>
              <a:rPr lang="en-US" altLang="en-US" sz="1700" b="1" dirty="0"/>
              <a:t>from </a:t>
            </a:r>
            <a:r>
              <a:rPr lang="en-US" altLang="en-US" sz="1700" i="1" dirty="0" err="1"/>
              <a:t>dept_total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dept_total_avg</a:t>
            </a:r>
            <a:endParaRPr lang="en-US" altLang="en-US" sz="1700" i="1" dirty="0"/>
          </a:p>
          <a:p>
            <a:r>
              <a:rPr lang="en-US" altLang="en-US" sz="1700" b="1" dirty="0"/>
              <a:t>where </a:t>
            </a:r>
            <a:r>
              <a:rPr lang="en-US" altLang="en-US" sz="1700" i="1" dirty="0" err="1"/>
              <a:t>dept_total.value</a:t>
            </a:r>
            <a:r>
              <a:rPr lang="en-US" altLang="en-US" sz="1700" i="1" dirty="0"/>
              <a:t> </a:t>
            </a:r>
            <a:r>
              <a:rPr lang="en-US" altLang="en-US" sz="1700" dirty="0"/>
              <a:t>&gt; </a:t>
            </a:r>
            <a:r>
              <a:rPr lang="en-US" altLang="en-US" sz="1700" i="1" dirty="0" err="1"/>
              <a:t>dept_total_avg.value</a:t>
            </a:r>
            <a:r>
              <a:rPr lang="en-US" altLang="en-US" sz="1700" dirty="0"/>
              <a:t>;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Scalar Subquery</a:t>
            </a:r>
          </a:p>
        </p:txBody>
      </p:sp>
      <p:sp>
        <p:nvSpPr>
          <p:cNvPr id="604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546594" cy="4721796"/>
          </a:xfrm>
        </p:spPr>
        <p:txBody>
          <a:bodyPr/>
          <a:lstStyle/>
          <a:p>
            <a:r>
              <a:rPr lang="en-US" altLang="en-US" sz="1700" dirty="0"/>
              <a:t>Scalar subquery is one which is used where a single value is expected</a:t>
            </a:r>
          </a:p>
          <a:p>
            <a:r>
              <a:rPr lang="en-US" altLang="en-US" sz="1700" dirty="0"/>
              <a:t>List all departments along with the number of instructors in each department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	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br>
              <a:rPr lang="en-US" altLang="en-US" sz="1700" dirty="0"/>
            </a:br>
            <a:r>
              <a:rPr lang="en-US" altLang="en-US" sz="1700" dirty="0"/>
              <a:t>             ( </a:t>
            </a:r>
            <a:r>
              <a:rPr lang="en-US" altLang="en-US" sz="1700" b="1" dirty="0"/>
              <a:t>select count</a:t>
            </a:r>
            <a:r>
              <a:rPr lang="en-US" altLang="en-US" sz="1700" dirty="0"/>
              <a:t>(*) </a:t>
            </a:r>
            <a:br>
              <a:rPr lang="en-US" altLang="en-US" sz="1700" dirty="0"/>
            </a:br>
            <a:r>
              <a:rPr lang="en-US" altLang="en-US" sz="1700" dirty="0"/>
              <a:t>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 </a:t>
            </a:r>
            <a:br>
              <a:rPr lang="en-US" altLang="en-US" sz="1700" i="1" dirty="0"/>
            </a:br>
            <a:r>
              <a:rPr lang="en-US" altLang="en-US" sz="1700" i="1" dirty="0"/>
              <a:t>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department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instructor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</a:t>
            </a:r>
            <a:r>
              <a:rPr lang="en-US" altLang="en-US" sz="1700" b="1" dirty="0"/>
              <a:t>as </a:t>
            </a:r>
            <a:r>
              <a:rPr lang="en-US" altLang="en-US" sz="1700" i="1" dirty="0" err="1"/>
              <a:t>num_instructors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;</a:t>
            </a:r>
          </a:p>
          <a:p>
            <a:r>
              <a:rPr lang="en-US" altLang="en-US" sz="1700" dirty="0"/>
              <a:t>Runtime error if subquery returns more than one result tuple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28331-7173-6EA6-1ACD-D9D5A1029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Scalar Subquery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CA201B-912D-9AC2-CA73-43EB0B7C3C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105756"/>
              </p:ext>
            </p:extLst>
          </p:nvPr>
        </p:nvGraphicFramePr>
        <p:xfrm>
          <a:off x="768350" y="849134"/>
          <a:ext cx="4083568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7021">
                  <a:extLst>
                    <a:ext uri="{9D8B030D-6E8A-4147-A177-3AD203B41FA5}">
                      <a16:colId xmlns:a16="http://schemas.microsoft.com/office/drawing/2014/main" val="457785359"/>
                    </a:ext>
                  </a:extLst>
                </a:gridCol>
                <a:gridCol w="1166327">
                  <a:extLst>
                    <a:ext uri="{9D8B030D-6E8A-4147-A177-3AD203B41FA5}">
                      <a16:colId xmlns:a16="http://schemas.microsoft.com/office/drawing/2014/main" val="1237000450"/>
                    </a:ext>
                  </a:extLst>
                </a:gridCol>
                <a:gridCol w="1530220">
                  <a:extLst>
                    <a:ext uri="{9D8B030D-6E8A-4147-A177-3AD203B41FA5}">
                      <a16:colId xmlns:a16="http://schemas.microsoft.com/office/drawing/2014/main" val="29021294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dept_name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building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budget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774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Watson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90000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9134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Comp. Sci.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Taylor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1163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Music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Packard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80000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2134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Physics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Watson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95000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683082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6F277A3-88FF-7A21-8A35-96AA5F11AE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49564"/>
              </p:ext>
            </p:extLst>
          </p:nvPr>
        </p:nvGraphicFramePr>
        <p:xfrm>
          <a:off x="768350" y="2899907"/>
          <a:ext cx="4120891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1161">
                  <a:extLst>
                    <a:ext uri="{9D8B030D-6E8A-4147-A177-3AD203B41FA5}">
                      <a16:colId xmlns:a16="http://schemas.microsoft.com/office/drawing/2014/main" val="2711073842"/>
                    </a:ext>
                  </a:extLst>
                </a:gridCol>
                <a:gridCol w="1390261">
                  <a:extLst>
                    <a:ext uri="{9D8B030D-6E8A-4147-A177-3AD203B41FA5}">
                      <a16:colId xmlns:a16="http://schemas.microsoft.com/office/drawing/2014/main" val="1870901805"/>
                    </a:ext>
                  </a:extLst>
                </a:gridCol>
                <a:gridCol w="1819469">
                  <a:extLst>
                    <a:ext uri="{9D8B030D-6E8A-4147-A177-3AD203B41FA5}">
                      <a16:colId xmlns:a16="http://schemas.microsoft.com/office/drawing/2014/main" val="34255002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dept_name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2810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5849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Ravi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0915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Comp. Sci.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0297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Comp. Sci.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4832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Comp. Sci.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7667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Mohan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Physics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605903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462350E-4F6D-E952-D465-84310AEFEDAD}"/>
              </a:ext>
            </a:extLst>
          </p:cNvPr>
          <p:cNvSpPr txBox="1"/>
          <p:nvPr/>
        </p:nvSpPr>
        <p:spPr>
          <a:xfrm>
            <a:off x="4889241" y="932537"/>
            <a:ext cx="40308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COUNT(*) FROM instructor</a:t>
            </a:r>
          </a:p>
          <a:p>
            <a:r>
              <a:rPr lang="en-IN" dirty="0"/>
              <a:t>WHERE 'Biology’ = </a:t>
            </a:r>
            <a:r>
              <a:rPr lang="en-IN" dirty="0" err="1"/>
              <a:t>instructor.dept_name</a:t>
            </a:r>
            <a:r>
              <a:rPr lang="en-IN" dirty="0"/>
              <a:t>;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98F8593-5184-6235-DB4B-51166516E4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33971"/>
              </p:ext>
            </p:extLst>
          </p:nvPr>
        </p:nvGraphicFramePr>
        <p:xfrm>
          <a:off x="5514278" y="1894067"/>
          <a:ext cx="2995241" cy="1005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95649">
                  <a:extLst>
                    <a:ext uri="{9D8B030D-6E8A-4147-A177-3AD203B41FA5}">
                      <a16:colId xmlns:a16="http://schemas.microsoft.com/office/drawing/2014/main" val="1850377149"/>
                    </a:ext>
                  </a:extLst>
                </a:gridCol>
                <a:gridCol w="1399592">
                  <a:extLst>
                    <a:ext uri="{9D8B030D-6E8A-4147-A177-3AD203B41FA5}">
                      <a16:colId xmlns:a16="http://schemas.microsoft.com/office/drawing/2014/main" val="4149625396"/>
                    </a:ext>
                  </a:extLst>
                </a:gridCol>
              </a:tblGrid>
              <a:tr h="574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dept_name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num_instructors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0680769"/>
                  </a:ext>
                </a:extLst>
              </a:tr>
              <a:tr h="328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Biology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398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0E5784A-D8B1-0A74-4AAB-BF5F1E0E43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943306"/>
              </p:ext>
            </p:extLst>
          </p:nvPr>
        </p:nvGraphicFramePr>
        <p:xfrm>
          <a:off x="5400634" y="3704301"/>
          <a:ext cx="3222528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1264">
                  <a:extLst>
                    <a:ext uri="{9D8B030D-6E8A-4147-A177-3AD203B41FA5}">
                      <a16:colId xmlns:a16="http://schemas.microsoft.com/office/drawing/2014/main" val="3907896026"/>
                    </a:ext>
                  </a:extLst>
                </a:gridCol>
                <a:gridCol w="1611264">
                  <a:extLst>
                    <a:ext uri="{9D8B030D-6E8A-4147-A177-3AD203B41FA5}">
                      <a16:colId xmlns:a16="http://schemas.microsoft.com/office/drawing/2014/main" val="132410663"/>
                    </a:ext>
                  </a:extLst>
                </a:gridCol>
              </a:tblGrid>
              <a:tr h="236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dept_name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num_instructors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2346545"/>
                  </a:ext>
                </a:extLst>
              </a:tr>
              <a:tr h="236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Biology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9659839"/>
                  </a:ext>
                </a:extLst>
              </a:tr>
              <a:tr h="236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Comp. Sci.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377496"/>
                  </a:ext>
                </a:extLst>
              </a:tr>
              <a:tr h="236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Music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4336988"/>
                  </a:ext>
                </a:extLst>
              </a:tr>
              <a:tr h="236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Physics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4686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620917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>
          <a:xfrm>
            <a:off x="909638" y="112713"/>
            <a:ext cx="8077200" cy="609600"/>
          </a:xfrm>
        </p:spPr>
        <p:txBody>
          <a:bodyPr/>
          <a:lstStyle/>
          <a:p>
            <a:r>
              <a:rPr lang="en-US" altLang="en-US" sz="2800" dirty="0"/>
              <a:t>Modification of the Database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45219"/>
            <a:ext cx="7420668" cy="3134173"/>
          </a:xfrm>
        </p:spPr>
        <p:txBody>
          <a:bodyPr/>
          <a:lstStyle/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Deletion of tuples from a given relation.</a:t>
            </a:r>
            <a:endParaRPr lang="en-US" altLang="en-US" sz="1700" dirty="0">
              <a:latin typeface="Century Gothic" panose="020B0502020202020204" pitchFamily="34" charset="0"/>
            </a:endParaRP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Insertion of new tuples into a given relation</a:t>
            </a: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Updating of values in some tuples in a given relation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09638" y="167450"/>
            <a:ext cx="8077200" cy="609600"/>
          </a:xfrm>
        </p:spPr>
        <p:txBody>
          <a:bodyPr/>
          <a:lstStyle/>
          <a:p>
            <a:r>
              <a:rPr lang="en-US" altLang="en-US" sz="2800" dirty="0"/>
              <a:t>Deletion</a:t>
            </a:r>
          </a:p>
        </p:txBody>
      </p:sp>
      <p:sp>
        <p:nvSpPr>
          <p:cNvPr id="624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6" y="1143064"/>
            <a:ext cx="7634796" cy="5175250"/>
          </a:xfrm>
        </p:spPr>
        <p:txBody>
          <a:bodyPr/>
          <a:lstStyle/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Delete all instructors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delete from </a:t>
            </a:r>
            <a:r>
              <a:rPr lang="en-US" altLang="en-US" sz="1700" i="1" dirty="0"/>
              <a:t>instructor</a:t>
            </a:r>
            <a:r>
              <a:rPr lang="en-US" altLang="en-US" sz="1700" dirty="0">
                <a:latin typeface="Century Gothic" panose="020B0502020202020204" pitchFamily="34" charset="0"/>
              </a:rPr>
              <a:t> 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endParaRPr lang="en-US" altLang="en-US" sz="800" dirty="0">
              <a:latin typeface="Century Gothic" panose="020B0502020202020204" pitchFamily="34" charset="0"/>
            </a:endParaRP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Delete all instructors from the Finance department</a:t>
            </a:r>
            <a:br>
              <a:rPr lang="en-US" altLang="en-US" sz="1700" dirty="0"/>
            </a:br>
            <a:r>
              <a:rPr lang="en-US" altLang="en-US" sz="1700" dirty="0"/>
              <a:t>                     </a:t>
            </a:r>
            <a:r>
              <a:rPr lang="en-US" altLang="en-US" sz="1700" b="1" dirty="0"/>
              <a:t>delete 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= 'Finance’;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i="1" dirty="0"/>
              <a:t>Delete all tuples in the instructor relation for those instructors associated with a department located in the Watson building.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r>
              <a:rPr lang="en-US" altLang="en-US" sz="1700" b="1" dirty="0"/>
              <a:t>	                     delete 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dept name </a:t>
            </a:r>
            <a:r>
              <a:rPr lang="en-US" altLang="en-US" sz="1700" b="1" dirty="0"/>
              <a:t>in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 name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building </a:t>
            </a:r>
            <a:r>
              <a:rPr lang="en-US" altLang="en-US" sz="1700" dirty="0"/>
              <a:t>= 'Watson');</a:t>
            </a:r>
          </a:p>
          <a:p>
            <a:pPr>
              <a:tabLst>
                <a:tab pos="1652588" algn="l"/>
                <a:tab pos="2633663" algn="l"/>
              </a:tabLst>
            </a:pPr>
            <a:endParaRPr lang="en-US" altLang="en-US" sz="17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>
          <a:xfrm>
            <a:off x="969963" y="277813"/>
            <a:ext cx="8077200" cy="457200"/>
          </a:xfrm>
        </p:spPr>
        <p:txBody>
          <a:bodyPr/>
          <a:lstStyle/>
          <a:p>
            <a:r>
              <a:rPr lang="en-US" altLang="en-US" sz="2800" dirty="0"/>
              <a:t>Insertion</a:t>
            </a:r>
          </a:p>
        </p:txBody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8" y="1135412"/>
            <a:ext cx="7652552" cy="4587176"/>
          </a:xfrm>
        </p:spPr>
        <p:txBody>
          <a:bodyPr/>
          <a:lstStyle/>
          <a:p>
            <a:pPr>
              <a:tabLst>
                <a:tab pos="1204913" algn="l"/>
                <a:tab pos="1890713" algn="l"/>
              </a:tabLst>
            </a:pPr>
            <a:r>
              <a:rPr lang="en-US" altLang="en-US" sz="1700" dirty="0"/>
              <a:t>Add a new tuple to </a:t>
            </a:r>
            <a:r>
              <a:rPr lang="en-US" altLang="en-US" sz="1700" i="1" dirty="0"/>
              <a:t>course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1700" b="1" dirty="0"/>
              <a:t>	      insert into </a:t>
            </a:r>
            <a:r>
              <a:rPr lang="en-US" altLang="en-US" sz="1700" i="1" dirty="0"/>
              <a:t>course</a:t>
            </a:r>
            <a:br>
              <a:rPr lang="en-US" altLang="en-US" sz="1700" i="1" dirty="0"/>
            </a:br>
            <a:r>
              <a:rPr lang="en-US" altLang="en-US" sz="1700" i="1" dirty="0"/>
              <a:t>            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('CS-437', 'Database Systems', 'Comp. Sci.', 4);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204913" algn="l"/>
                <a:tab pos="1890713" algn="l"/>
              </a:tabLst>
            </a:pPr>
            <a:r>
              <a:rPr lang="en-US" altLang="en-US" sz="1700" dirty="0"/>
              <a:t>or equivalently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1700" dirty="0"/>
              <a:t>           </a:t>
            </a:r>
            <a:r>
              <a:rPr lang="en-US" altLang="en-US" sz="1700" b="1" dirty="0"/>
              <a:t>insert into </a:t>
            </a:r>
            <a:r>
              <a:rPr lang="en-US" altLang="en-US" sz="1700" i="1" dirty="0"/>
              <a:t>course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title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('CS-437', 'Database Systems', 'Comp. Sci.', 4);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204913" algn="l"/>
                <a:tab pos="1890713" algn="l"/>
              </a:tabLst>
            </a:pPr>
            <a:r>
              <a:rPr lang="en-US" altLang="en-US" sz="1700" dirty="0"/>
              <a:t>Add a new tuple to </a:t>
            </a:r>
            <a:r>
              <a:rPr lang="en-US" altLang="en-US" sz="1700" i="1" dirty="0"/>
              <a:t>student  </a:t>
            </a:r>
            <a:r>
              <a:rPr lang="en-US" altLang="en-US" sz="1700" dirty="0"/>
              <a:t>with </a:t>
            </a:r>
            <a:r>
              <a:rPr lang="en-US" altLang="en-US" sz="1700" i="1" dirty="0"/>
              <a:t>tot_creds </a:t>
            </a:r>
            <a:r>
              <a:rPr lang="en-US" altLang="en-US" sz="1700" dirty="0"/>
              <a:t>set to null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1700" b="1" dirty="0"/>
              <a:t>	      insert into </a:t>
            </a:r>
            <a:r>
              <a:rPr lang="en-US" altLang="en-US" sz="1700" i="1" dirty="0"/>
              <a:t>student</a:t>
            </a:r>
            <a:br>
              <a:rPr lang="en-US" altLang="en-US" sz="1700" i="1" dirty="0"/>
            </a:br>
            <a:r>
              <a:rPr lang="en-US" altLang="en-US" sz="1700" i="1" dirty="0"/>
              <a:t>            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('3003', 'Green', 'Finance', </a:t>
            </a:r>
            <a:r>
              <a:rPr lang="en-US" altLang="en-US" sz="1700" i="1" dirty="0"/>
              <a:t>null</a:t>
            </a:r>
            <a:r>
              <a:rPr lang="en-US" altLang="en-US" sz="1700" dirty="0"/>
              <a:t>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endParaRPr lang="en-US" altLang="en-US" sz="17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89000" y="246063"/>
            <a:ext cx="8058150" cy="457200"/>
          </a:xfrm>
        </p:spPr>
        <p:txBody>
          <a:bodyPr/>
          <a:lstStyle/>
          <a:p>
            <a:r>
              <a:rPr lang="en-US" altLang="en-US" sz="2800" dirty="0"/>
              <a:t>Insertion (Cont.)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0113" y="1106488"/>
            <a:ext cx="7561407" cy="5074856"/>
          </a:xfrm>
        </p:spPr>
        <p:txBody>
          <a:bodyPr/>
          <a:lstStyle/>
          <a:p>
            <a:pPr>
              <a:tabLst>
                <a:tab pos="908050" algn="l"/>
              </a:tabLst>
            </a:pPr>
            <a:r>
              <a:rPr lang="en-US" altLang="en-US" sz="1700" dirty="0"/>
              <a:t>Make each student in the Music department who has earned more than 144 credit hours an instructor in the Music department with a salary of  $18,000.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	    </a:t>
            </a:r>
            <a:r>
              <a:rPr lang="en-US" altLang="en-US" sz="1700" b="1" dirty="0"/>
              <a:t>insert into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ID, name, dept_name, 18000</a:t>
            </a:r>
            <a:br>
              <a:rPr lang="en-US" altLang="en-US" sz="1700" i="1" dirty="0"/>
            </a:br>
            <a:r>
              <a:rPr lang="en-US" altLang="en-US" sz="1700" i="1" dirty="0"/>
              <a:t>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  student </a:t>
            </a:r>
            <a:br>
              <a:rPr lang="en-US" altLang="en-US" sz="1700" i="1" dirty="0"/>
            </a:br>
            <a:r>
              <a:rPr lang="en-US" altLang="en-US" sz="1700" i="1" dirty="0"/>
              <a:t>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  dept_name = '</a:t>
            </a:r>
            <a:r>
              <a:rPr lang="en-US" altLang="en-US" sz="1700" dirty="0"/>
              <a:t>Music'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total_cred</a:t>
            </a:r>
            <a:r>
              <a:rPr lang="en-US" altLang="en-US" sz="1700" b="1" dirty="0"/>
              <a:t> </a:t>
            </a:r>
            <a:r>
              <a:rPr lang="en-US" altLang="en-US" sz="1700" dirty="0"/>
              <a:t>&gt;</a:t>
            </a:r>
            <a:r>
              <a:rPr lang="en-US" altLang="en-US" sz="1700" b="1" dirty="0"/>
              <a:t> </a:t>
            </a:r>
            <a:r>
              <a:rPr lang="en-US" altLang="en-US" sz="1700" dirty="0"/>
              <a:t>144;</a:t>
            </a:r>
            <a:endParaRPr lang="en-US" altLang="en-US" i="1" dirty="0"/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800" i="1" dirty="0"/>
              <a:t> </a:t>
            </a:r>
          </a:p>
          <a:p>
            <a:pPr>
              <a:tabLst>
                <a:tab pos="908050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/>
              <a:t>select from where</a:t>
            </a:r>
            <a:r>
              <a:rPr lang="en-US" altLang="en-US" sz="1700" dirty="0"/>
              <a:t> statement is evaluated fully before any of its results are inserted into the relation.  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     Otherwise queries like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       	</a:t>
            </a:r>
            <a:r>
              <a:rPr lang="en-US" altLang="en-US" sz="1700" b="1" dirty="0"/>
              <a:t>insert into</a:t>
            </a:r>
            <a:r>
              <a:rPr lang="en-US" altLang="en-US" sz="1700" dirty="0"/>
              <a:t> </a:t>
            </a:r>
            <a:r>
              <a:rPr lang="en-US" altLang="en-US" sz="1700" i="1" dirty="0"/>
              <a:t>table</a:t>
            </a:r>
            <a:r>
              <a:rPr lang="en-US" altLang="en-US" sz="1700" dirty="0"/>
              <a:t>1 </a:t>
            </a:r>
            <a:r>
              <a:rPr lang="en-US" altLang="en-US" sz="1700" b="1" dirty="0"/>
              <a:t>select</a:t>
            </a:r>
            <a:r>
              <a:rPr lang="en-US" altLang="en-US" sz="1700" dirty="0"/>
              <a:t> * </a:t>
            </a:r>
            <a:r>
              <a:rPr lang="en-US" altLang="en-US" sz="1700" b="1" dirty="0"/>
              <a:t>from</a:t>
            </a:r>
            <a:r>
              <a:rPr lang="en-US" altLang="en-US" sz="1700" dirty="0"/>
              <a:t> </a:t>
            </a:r>
            <a:r>
              <a:rPr lang="en-US" altLang="en-US" sz="1700" i="1" dirty="0"/>
              <a:t>table</a:t>
            </a:r>
            <a:r>
              <a:rPr lang="en-US" altLang="en-US" sz="1700" dirty="0"/>
              <a:t>1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       would cause problem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65495-53F0-97E6-3310-FE6D877FB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Insertion (Cont.)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FC4CED-A823-061C-1D60-F167D462F3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501488"/>
              </p:ext>
            </p:extLst>
          </p:nvPr>
        </p:nvGraphicFramePr>
        <p:xfrm>
          <a:off x="953294" y="727075"/>
          <a:ext cx="7707312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6828">
                  <a:extLst>
                    <a:ext uri="{9D8B030D-6E8A-4147-A177-3AD203B41FA5}">
                      <a16:colId xmlns:a16="http://schemas.microsoft.com/office/drawing/2014/main" val="907647293"/>
                    </a:ext>
                  </a:extLst>
                </a:gridCol>
                <a:gridCol w="1926828">
                  <a:extLst>
                    <a:ext uri="{9D8B030D-6E8A-4147-A177-3AD203B41FA5}">
                      <a16:colId xmlns:a16="http://schemas.microsoft.com/office/drawing/2014/main" val="2049694463"/>
                    </a:ext>
                  </a:extLst>
                </a:gridCol>
                <a:gridCol w="1926828">
                  <a:extLst>
                    <a:ext uri="{9D8B030D-6E8A-4147-A177-3AD203B41FA5}">
                      <a16:colId xmlns:a16="http://schemas.microsoft.com/office/drawing/2014/main" val="323155509"/>
                    </a:ext>
                  </a:extLst>
                </a:gridCol>
                <a:gridCol w="1926828">
                  <a:extLst>
                    <a:ext uri="{9D8B030D-6E8A-4147-A177-3AD203B41FA5}">
                      <a16:colId xmlns:a16="http://schemas.microsoft.com/office/drawing/2014/main" val="3416894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dept_name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total_cred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6506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Music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5632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Ravi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Music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8782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Physics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7036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Music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809464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71C44AB-F1A3-FA2C-4BDA-B1CDB5B783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620007"/>
              </p:ext>
            </p:extLst>
          </p:nvPr>
        </p:nvGraphicFramePr>
        <p:xfrm>
          <a:off x="878649" y="2555875"/>
          <a:ext cx="7707312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6828">
                  <a:extLst>
                    <a:ext uri="{9D8B030D-6E8A-4147-A177-3AD203B41FA5}">
                      <a16:colId xmlns:a16="http://schemas.microsoft.com/office/drawing/2014/main" val="392331509"/>
                    </a:ext>
                  </a:extLst>
                </a:gridCol>
                <a:gridCol w="1926828">
                  <a:extLst>
                    <a:ext uri="{9D8B030D-6E8A-4147-A177-3AD203B41FA5}">
                      <a16:colId xmlns:a16="http://schemas.microsoft.com/office/drawing/2014/main" val="3408570584"/>
                    </a:ext>
                  </a:extLst>
                </a:gridCol>
                <a:gridCol w="1926828">
                  <a:extLst>
                    <a:ext uri="{9D8B030D-6E8A-4147-A177-3AD203B41FA5}">
                      <a16:colId xmlns:a16="http://schemas.microsoft.com/office/drawing/2014/main" val="1815716972"/>
                    </a:ext>
                  </a:extLst>
                </a:gridCol>
                <a:gridCol w="1926828">
                  <a:extLst>
                    <a:ext uri="{9D8B030D-6E8A-4147-A177-3AD203B41FA5}">
                      <a16:colId xmlns:a16="http://schemas.microsoft.com/office/drawing/2014/main" val="16003601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Student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Music?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Credits &gt; 144?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Selected?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6530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150 &gt; 144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1043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Ravi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130 &gt; 144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2734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155 &gt; 144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0594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160 &gt; 144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609402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CC1DC87-D860-AB5E-877C-3AD99CE3F2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437317"/>
              </p:ext>
            </p:extLst>
          </p:nvPr>
        </p:nvGraphicFramePr>
        <p:xfrm>
          <a:off x="878649" y="4581379"/>
          <a:ext cx="7707312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6828">
                  <a:extLst>
                    <a:ext uri="{9D8B030D-6E8A-4147-A177-3AD203B41FA5}">
                      <a16:colId xmlns:a16="http://schemas.microsoft.com/office/drawing/2014/main" val="1327611508"/>
                    </a:ext>
                  </a:extLst>
                </a:gridCol>
                <a:gridCol w="1926828">
                  <a:extLst>
                    <a:ext uri="{9D8B030D-6E8A-4147-A177-3AD203B41FA5}">
                      <a16:colId xmlns:a16="http://schemas.microsoft.com/office/drawing/2014/main" val="836130976"/>
                    </a:ext>
                  </a:extLst>
                </a:gridCol>
                <a:gridCol w="1926828">
                  <a:extLst>
                    <a:ext uri="{9D8B030D-6E8A-4147-A177-3AD203B41FA5}">
                      <a16:colId xmlns:a16="http://schemas.microsoft.com/office/drawing/2014/main" val="1452347823"/>
                    </a:ext>
                  </a:extLst>
                </a:gridCol>
                <a:gridCol w="1926828">
                  <a:extLst>
                    <a:ext uri="{9D8B030D-6E8A-4147-A177-3AD203B41FA5}">
                      <a16:colId xmlns:a16="http://schemas.microsoft.com/office/drawing/2014/main" val="1978490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dept_name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salary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9556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201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Smith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Biology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65000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7233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202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Brown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Physics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72000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1758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solidFill>
                            <a:srgbClr val="00B050"/>
                          </a:solidFill>
                        </a:rPr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0B050"/>
                          </a:solidFill>
                        </a:rPr>
                        <a:t>Amit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0B050"/>
                          </a:solidFill>
                        </a:rPr>
                        <a:t>Music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solidFill>
                            <a:srgbClr val="00B050"/>
                          </a:solidFill>
                        </a:rPr>
                        <a:t>18000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2286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solidFill>
                            <a:srgbClr val="00B050"/>
                          </a:solidFill>
                        </a:rPr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0B050"/>
                          </a:solidFill>
                        </a:rPr>
                        <a:t>Tina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0B050"/>
                          </a:solidFill>
                        </a:rPr>
                        <a:t>Music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solidFill>
                            <a:srgbClr val="00B050"/>
                          </a:solidFill>
                        </a:rPr>
                        <a:t>18000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676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258538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>
          <a:xfrm>
            <a:off x="881063" y="123825"/>
            <a:ext cx="8077200" cy="609600"/>
          </a:xfrm>
        </p:spPr>
        <p:txBody>
          <a:bodyPr/>
          <a:lstStyle/>
          <a:p>
            <a:r>
              <a:rPr lang="en-US" altLang="en-US" sz="2800" dirty="0"/>
              <a:t>Updates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105345"/>
            <a:ext cx="7634796" cy="4876800"/>
          </a:xfrm>
        </p:spPr>
        <p:txBody>
          <a:bodyPr/>
          <a:lstStyle/>
          <a:p>
            <a:pPr>
              <a:tabLst>
                <a:tab pos="2336800" algn="l"/>
              </a:tabLst>
            </a:pPr>
            <a:r>
              <a:rPr lang="en-US" altLang="en-US" sz="1700" dirty="0"/>
              <a:t>Give  a  5% salary raise to all instructors</a:t>
            </a:r>
          </a:p>
          <a:p>
            <a:pPr lvl="1">
              <a:buFont typeface="Monotype Sorts" charset="2"/>
              <a:buNone/>
              <a:tabLst>
                <a:tab pos="2336800" algn="l"/>
              </a:tabLst>
            </a:pPr>
            <a:r>
              <a:rPr lang="en-US" altLang="en-US" sz="1700" dirty="0"/>
              <a:t>	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</a:p>
          <a:p>
            <a:pPr>
              <a:tabLst>
                <a:tab pos="2336800" algn="l"/>
              </a:tabLst>
            </a:pPr>
            <a:r>
              <a:rPr lang="en-US" altLang="en-US" sz="1700" dirty="0"/>
              <a:t>Give  a 5% salary raise to those instructors who </a:t>
            </a:r>
            <a:r>
              <a:rPr lang="en-US" altLang="en-US" dirty="0"/>
              <a:t>earn</a:t>
            </a:r>
            <a:r>
              <a:rPr lang="en-US" altLang="en-US" sz="1700" dirty="0"/>
              <a:t> less than 70000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&lt; 70000;</a:t>
            </a:r>
          </a:p>
          <a:p>
            <a:pPr>
              <a:tabLst>
                <a:tab pos="2336800" algn="l"/>
              </a:tabLst>
            </a:pPr>
            <a:r>
              <a:rPr lang="en-US" altLang="en-US" sz="1700" dirty="0"/>
              <a:t>Give  a 5% salary raise to instructors whose salary is less than average</a:t>
            </a:r>
          </a:p>
          <a:p>
            <a:pPr>
              <a:buNone/>
              <a:tabLst>
                <a:tab pos="2336800" algn="l"/>
              </a:tabLst>
            </a:pPr>
            <a:r>
              <a:rPr lang="en-US" altLang="en-US" sz="1700" b="1" dirty="0">
                <a:sym typeface="Symbol" panose="05050102010706020507" pitchFamily="18" charset="2"/>
              </a:rPr>
              <a:t>                          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&lt;  (</a:t>
            </a:r>
            <a:r>
              <a:rPr lang="en-US" altLang="en-US" sz="1700" b="1" dirty="0">
                <a:sym typeface="Symbol" panose="05050102010706020507" pitchFamily="18" charset="2"/>
              </a:rPr>
              <a:t>select </a:t>
            </a:r>
            <a:r>
              <a:rPr lang="en-US" altLang="en-US" sz="1700" b="1" dirty="0" err="1">
                <a:sym typeface="Symbol" panose="05050102010706020507" pitchFamily="18" charset="2"/>
              </a:rPr>
              <a:t>avg</a:t>
            </a:r>
            <a:r>
              <a:rPr lang="en-US" altLang="en-US" sz="1700" b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(salary)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            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from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r>
              <a:rPr lang="en-US" altLang="en-US" sz="1700" dirty="0">
                <a:sym typeface="Symbol" panose="05050102010706020507" pitchFamily="18" charset="2"/>
              </a:rPr>
              <a:t>);</a:t>
            </a:r>
          </a:p>
          <a:p>
            <a:pPr>
              <a:tabLst>
                <a:tab pos="2336800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>
          <a:xfrm>
            <a:off x="881063" y="123825"/>
            <a:ext cx="8077200" cy="609600"/>
          </a:xfrm>
        </p:spPr>
        <p:txBody>
          <a:bodyPr/>
          <a:lstStyle/>
          <a:p>
            <a:r>
              <a:rPr lang="en-US" altLang="en-US" sz="2800" dirty="0"/>
              <a:t>Updates (Cont.)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6" y="1100831"/>
            <a:ext cx="7634795" cy="3946657"/>
          </a:xfrm>
        </p:spPr>
        <p:txBody>
          <a:bodyPr/>
          <a:lstStyle/>
          <a:p>
            <a:pPr>
              <a:tabLst>
                <a:tab pos="2336800" algn="l"/>
              </a:tabLst>
            </a:pPr>
            <a:r>
              <a:rPr lang="en-US" altLang="en-US" sz="1700" dirty="0"/>
              <a:t>Increase salaries of instructors whose salary is over $100,000 by 3%, and all others by a 5% </a:t>
            </a:r>
          </a:p>
          <a:p>
            <a:pPr lvl="1">
              <a:tabLst>
                <a:tab pos="2336800" algn="l"/>
              </a:tabLst>
            </a:pPr>
            <a:r>
              <a:rPr lang="en-US" altLang="en-US" sz="1700" dirty="0"/>
              <a:t>Write two </a:t>
            </a:r>
            <a:r>
              <a:rPr lang="en-US" altLang="en-US" sz="1700" b="1" dirty="0"/>
              <a:t>update </a:t>
            </a:r>
            <a:r>
              <a:rPr lang="en-US" altLang="en-US" sz="1700" dirty="0"/>
              <a:t>statements:</a:t>
            </a:r>
          </a:p>
          <a:p>
            <a:pPr lvl="1">
              <a:buFont typeface="Monotype Sorts" charset="2"/>
              <a:buNone/>
              <a:tabLst>
                <a:tab pos="2336800" algn="l"/>
              </a:tabLst>
            </a:pPr>
            <a:r>
              <a:rPr lang="en-US" altLang="en-US" sz="1700" dirty="0"/>
              <a:t>	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1.03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&gt; 100000;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&lt;= 100000;</a:t>
            </a:r>
          </a:p>
          <a:p>
            <a:pPr lvl="1">
              <a:tabLst>
                <a:tab pos="2336800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The order is important</a:t>
            </a:r>
          </a:p>
          <a:p>
            <a:pPr lvl="1">
              <a:tabLst>
                <a:tab pos="2336800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Can be done better using the </a:t>
            </a:r>
            <a:r>
              <a:rPr lang="en-US" altLang="en-US" sz="1700" b="1" dirty="0">
                <a:sym typeface="Symbol" panose="05050102010706020507" pitchFamily="18" charset="2"/>
              </a:rPr>
              <a:t>case </a:t>
            </a:r>
            <a:r>
              <a:rPr lang="en-US" altLang="en-US" sz="1700" dirty="0">
                <a:sym typeface="Symbol" panose="05050102010706020507" pitchFamily="18" charset="2"/>
              </a:rPr>
              <a:t>statement (next slide)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>
          <a:xfrm>
            <a:off x="895350" y="80963"/>
            <a:ext cx="8077200" cy="609600"/>
          </a:xfrm>
        </p:spPr>
        <p:txBody>
          <a:bodyPr/>
          <a:lstStyle/>
          <a:p>
            <a:r>
              <a:rPr lang="en-US" altLang="en-US" sz="2800" dirty="0"/>
              <a:t>Case Statement for Conditional Updates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093789"/>
            <a:ext cx="7228909" cy="2576003"/>
          </a:xfrm>
        </p:spPr>
        <p:txBody>
          <a:bodyPr/>
          <a:lstStyle/>
          <a:p>
            <a:r>
              <a:rPr lang="en-US" altLang="en-US" sz="1700" dirty="0"/>
              <a:t>Same query as before but with case statement</a:t>
            </a:r>
          </a:p>
          <a:p>
            <a:pPr>
              <a:buFont typeface="Monotype Sorts" charset="2"/>
              <a:buNone/>
            </a:pPr>
            <a:r>
              <a:rPr lang="en-US" altLang="en-US" sz="1700" dirty="0"/>
              <a:t>		 </a:t>
            </a:r>
            <a:r>
              <a:rPr lang="en-US" altLang="en-US" sz="1700" b="1" dirty="0"/>
              <a:t>update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    </a:t>
            </a:r>
            <a:r>
              <a:rPr lang="en-US" altLang="en-US" sz="1700" b="1" dirty="0"/>
              <a:t>set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= </a:t>
            </a:r>
          </a:p>
          <a:p>
            <a:pPr>
              <a:buFont typeface="Monotype Sorts" charset="2"/>
              <a:buNone/>
            </a:pPr>
            <a:r>
              <a:rPr lang="en-US" altLang="en-US" b="1" dirty="0"/>
              <a:t>			</a:t>
            </a:r>
            <a:r>
              <a:rPr lang="en-US" altLang="en-US" sz="1700" b="1" dirty="0"/>
              <a:t>case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      when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&lt;= 100000 </a:t>
            </a:r>
          </a:p>
          <a:p>
            <a:pPr>
              <a:buFont typeface="Monotype Sorts" charset="2"/>
              <a:buNone/>
            </a:pPr>
            <a:r>
              <a:rPr lang="en-US" altLang="en-US" b="1" dirty="0"/>
              <a:t>					</a:t>
            </a:r>
            <a:r>
              <a:rPr lang="en-US" altLang="en-US" sz="1700" b="1" dirty="0"/>
              <a:t>then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* 1.05</a:t>
            </a:r>
            <a:br>
              <a:rPr lang="en-US" altLang="en-US" sz="1700" dirty="0"/>
            </a:br>
            <a:r>
              <a:rPr lang="en-US" altLang="en-US" sz="1700" dirty="0"/>
              <a:t>                                      </a:t>
            </a:r>
            <a:r>
              <a:rPr lang="en-US" altLang="en-US" sz="1700" b="1" dirty="0"/>
              <a:t>else </a:t>
            </a:r>
          </a:p>
          <a:p>
            <a:pPr>
              <a:buFont typeface="Monotype Sorts" charset="2"/>
              <a:buNone/>
            </a:pPr>
            <a:r>
              <a:rPr lang="en-US" altLang="en-US" b="1" i="1" dirty="0"/>
              <a:t>				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* 1.03</a:t>
            </a:r>
            <a:br>
              <a:rPr lang="en-US" altLang="en-US" sz="1700" dirty="0"/>
            </a:br>
            <a:r>
              <a:rPr lang="en-US" altLang="en-US" sz="1700" dirty="0"/>
              <a:t>                         </a:t>
            </a:r>
            <a:r>
              <a:rPr lang="en-US" altLang="en-US" sz="1700" b="1" dirty="0"/>
              <a:t>end</a:t>
            </a:r>
            <a:endParaRPr lang="en-US" altLang="en-US" sz="1700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Updates with Scalar Subqueries</a:t>
            </a:r>
          </a:p>
        </p:txBody>
      </p:sp>
      <p:sp>
        <p:nvSpPr>
          <p:cNvPr id="686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57213"/>
            <a:ext cx="7656559" cy="4538916"/>
          </a:xfrm>
        </p:spPr>
        <p:txBody>
          <a:bodyPr/>
          <a:lstStyle/>
          <a:p>
            <a:r>
              <a:rPr lang="en-US" altLang="en-US" sz="1700" dirty="0"/>
              <a:t>Recompute and update tot_creds value for all students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           update </a:t>
            </a:r>
            <a:r>
              <a:rPr lang="en-US" altLang="en-US" sz="1700" i="1" dirty="0"/>
              <a:t>student S </a:t>
            </a:r>
            <a:br>
              <a:rPr lang="en-US" altLang="en-US" sz="1700" i="1" dirty="0"/>
            </a:br>
            <a:r>
              <a:rPr lang="en-US" altLang="en-US" sz="1700" i="1" dirty="0"/>
              <a:t>     </a:t>
            </a:r>
            <a:r>
              <a:rPr lang="en-US" altLang="en-US" sz="1700" b="1" dirty="0"/>
              <a:t>set </a:t>
            </a:r>
            <a:r>
              <a:rPr lang="en-US" altLang="en-US" sz="1700" i="1" dirty="0"/>
              <a:t>tot_cred </a:t>
            </a:r>
            <a:r>
              <a:rPr lang="en-US" altLang="en-US" sz="1700" dirty="0"/>
              <a:t>= (</a:t>
            </a:r>
            <a:r>
              <a:rPr lang="en-US" altLang="en-US" sz="1700" b="1" dirty="0"/>
              <a:t>select 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takes, course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takes.course_id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course.course_id</a:t>
            </a:r>
            <a:r>
              <a:rPr lang="en-US" altLang="en-US" sz="1700" i="1" dirty="0"/>
              <a:t>  </a:t>
            </a:r>
            <a:r>
              <a:rPr lang="en-US" altLang="en-US" sz="1700" b="1" dirty="0"/>
              <a:t>and 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         </a:t>
            </a:r>
            <a:r>
              <a:rPr lang="en-US" altLang="en-US" sz="1700" i="1" dirty="0"/>
              <a:t>S</a:t>
            </a:r>
            <a:r>
              <a:rPr lang="en-US" altLang="en-US" sz="1700" dirty="0"/>
              <a:t>.</a:t>
            </a:r>
            <a:r>
              <a:rPr lang="en-US" altLang="en-US" sz="1700" i="1" dirty="0"/>
              <a:t>ID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takes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ID.</a:t>
            </a:r>
            <a:r>
              <a:rPr lang="en-US" altLang="en-US" sz="1700" b="1" dirty="0" err="1"/>
              <a:t>and</a:t>
            </a:r>
            <a:r>
              <a:rPr lang="en-US" altLang="en-US" sz="1700" b="1" dirty="0"/>
              <a:t>                             				  </a:t>
            </a:r>
            <a:r>
              <a:rPr lang="en-US" altLang="en-US" sz="1700" i="1" dirty="0" err="1"/>
              <a:t>takes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grade</a:t>
            </a:r>
            <a:r>
              <a:rPr lang="en-US" altLang="en-US" sz="1700" i="1" dirty="0"/>
              <a:t> </a:t>
            </a:r>
            <a:r>
              <a:rPr lang="en-US" altLang="en-US" sz="1700" dirty="0"/>
              <a:t>&lt;&gt; 'F' </a:t>
            </a:r>
            <a:r>
              <a:rPr lang="en-US" altLang="en-US" sz="1700" b="1" dirty="0"/>
              <a:t>and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          </a:t>
            </a:r>
            <a:r>
              <a:rPr lang="en-US" altLang="en-US" sz="1700" i="1" dirty="0" err="1"/>
              <a:t>takes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grade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is not null</a:t>
            </a:r>
            <a:r>
              <a:rPr lang="en-US" altLang="en-US" sz="1700" dirty="0"/>
              <a:t>);</a:t>
            </a:r>
          </a:p>
          <a:p>
            <a:r>
              <a:rPr lang="en-US" altLang="en-US" sz="1700" dirty="0"/>
              <a:t>Sets </a:t>
            </a:r>
            <a:r>
              <a:rPr lang="en-US" altLang="en-US" sz="1700" i="1" dirty="0"/>
              <a:t>tot_creds</a:t>
            </a:r>
            <a:r>
              <a:rPr lang="en-US" altLang="en-US" sz="1700" dirty="0"/>
              <a:t> to null for students who have not taken any course</a:t>
            </a:r>
          </a:p>
          <a:p>
            <a:r>
              <a:rPr lang="en-US" altLang="en-US" sz="1700" dirty="0"/>
              <a:t>Instead of </a:t>
            </a:r>
            <a:r>
              <a:rPr lang="en-US" altLang="en-US" sz="1700" b="1" dirty="0"/>
              <a:t>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), use: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                  case </a:t>
            </a:r>
            <a:br>
              <a:rPr lang="en-US" altLang="en-US" sz="1700" b="1" dirty="0"/>
            </a:br>
            <a:r>
              <a:rPr lang="en-US" altLang="en-US" sz="1700" b="1" dirty="0"/>
              <a:t>                 when 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 </a:t>
            </a:r>
            <a:r>
              <a:rPr lang="en-US" altLang="en-US" sz="1700" b="1" dirty="0"/>
              <a:t>is not null then 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    </a:t>
            </a:r>
            <a:r>
              <a:rPr lang="en-US" altLang="en-US" sz="1700" b="1" dirty="0"/>
              <a:t>else </a:t>
            </a:r>
            <a:r>
              <a:rPr lang="en-US" altLang="en-US" sz="1700" dirty="0"/>
              <a:t>0</a:t>
            </a:r>
            <a:br>
              <a:rPr lang="en-US" altLang="en-US" sz="1700" dirty="0"/>
            </a:br>
            <a:r>
              <a:rPr lang="en-US" altLang="en-US" sz="1700" dirty="0"/>
              <a:t>             </a:t>
            </a:r>
            <a:r>
              <a:rPr lang="en-US" altLang="en-US" sz="1700" b="1" dirty="0"/>
              <a:t>end</a:t>
            </a:r>
            <a:endParaRPr lang="en-US" altLang="en-US" sz="1700" dirty="0"/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0D3A8-61C4-D970-966F-A9F254850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683361F-5065-8723-D175-049F6DFC6E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0784683"/>
              </p:ext>
            </p:extLst>
          </p:nvPr>
        </p:nvGraphicFramePr>
        <p:xfrm>
          <a:off x="83976" y="1101061"/>
          <a:ext cx="2687216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8899">
                  <a:extLst>
                    <a:ext uri="{9D8B030D-6E8A-4147-A177-3AD203B41FA5}">
                      <a16:colId xmlns:a16="http://schemas.microsoft.com/office/drawing/2014/main" val="2708181334"/>
                    </a:ext>
                  </a:extLst>
                </a:gridCol>
                <a:gridCol w="926636">
                  <a:extLst>
                    <a:ext uri="{9D8B030D-6E8A-4147-A177-3AD203B41FA5}">
                      <a16:colId xmlns:a16="http://schemas.microsoft.com/office/drawing/2014/main" val="3571661703"/>
                    </a:ext>
                  </a:extLst>
                </a:gridCol>
                <a:gridCol w="1091681">
                  <a:extLst>
                    <a:ext uri="{9D8B030D-6E8A-4147-A177-3AD203B41FA5}">
                      <a16:colId xmlns:a16="http://schemas.microsoft.com/office/drawing/2014/main" val="4011724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tot_cred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2505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4917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Ravi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5947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4072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Mohan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374601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AF1A417-2DDC-BB1B-FFEA-22BBAD54DC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695056"/>
              </p:ext>
            </p:extLst>
          </p:nvPr>
        </p:nvGraphicFramePr>
        <p:xfrm>
          <a:off x="2989035" y="1101061"/>
          <a:ext cx="4139552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0409">
                  <a:extLst>
                    <a:ext uri="{9D8B030D-6E8A-4147-A177-3AD203B41FA5}">
                      <a16:colId xmlns:a16="http://schemas.microsoft.com/office/drawing/2014/main" val="1109175863"/>
                    </a:ext>
                  </a:extLst>
                </a:gridCol>
                <a:gridCol w="1642188">
                  <a:extLst>
                    <a:ext uri="{9D8B030D-6E8A-4147-A177-3AD203B41FA5}">
                      <a16:colId xmlns:a16="http://schemas.microsoft.com/office/drawing/2014/main" val="1682977133"/>
                    </a:ext>
                  </a:extLst>
                </a:gridCol>
                <a:gridCol w="1296955">
                  <a:extLst>
                    <a:ext uri="{9D8B030D-6E8A-4147-A177-3AD203B41FA5}">
                      <a16:colId xmlns:a16="http://schemas.microsoft.com/office/drawing/2014/main" val="4064765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course_id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credits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027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CS-101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Programming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3786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CS-201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DBMS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532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CS-301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6167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MA-101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Mathematics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40044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04F0BB8-1A54-825C-0A0A-A36A3010F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391357"/>
              </p:ext>
            </p:extLst>
          </p:nvPr>
        </p:nvGraphicFramePr>
        <p:xfrm>
          <a:off x="83976" y="3146330"/>
          <a:ext cx="2715208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0238">
                  <a:extLst>
                    <a:ext uri="{9D8B030D-6E8A-4147-A177-3AD203B41FA5}">
                      <a16:colId xmlns:a16="http://schemas.microsoft.com/office/drawing/2014/main" val="2804961878"/>
                    </a:ext>
                  </a:extLst>
                </a:gridCol>
                <a:gridCol w="1187893">
                  <a:extLst>
                    <a:ext uri="{9D8B030D-6E8A-4147-A177-3AD203B41FA5}">
                      <a16:colId xmlns:a16="http://schemas.microsoft.com/office/drawing/2014/main" val="2145060939"/>
                    </a:ext>
                  </a:extLst>
                </a:gridCol>
                <a:gridCol w="877077">
                  <a:extLst>
                    <a:ext uri="{9D8B030D-6E8A-4147-A177-3AD203B41FA5}">
                      <a16:colId xmlns:a16="http://schemas.microsoft.com/office/drawing/2014/main" val="16586249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course_id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grade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5610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CS-101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1079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CS-201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7097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MA-101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5840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CS-101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1570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CS-301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895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CS-201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35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MA-101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185104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4C433BD-FA3F-D57A-31F9-15C4A2D2C8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294893"/>
              </p:ext>
            </p:extLst>
          </p:nvPr>
        </p:nvGraphicFramePr>
        <p:xfrm>
          <a:off x="5654481" y="4208154"/>
          <a:ext cx="3191069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7560">
                  <a:extLst>
                    <a:ext uri="{9D8B030D-6E8A-4147-A177-3AD203B41FA5}">
                      <a16:colId xmlns:a16="http://schemas.microsoft.com/office/drawing/2014/main" val="3017213801"/>
                    </a:ext>
                  </a:extLst>
                </a:gridCol>
                <a:gridCol w="1141240">
                  <a:extLst>
                    <a:ext uri="{9D8B030D-6E8A-4147-A177-3AD203B41FA5}">
                      <a16:colId xmlns:a16="http://schemas.microsoft.com/office/drawing/2014/main" val="1599499766"/>
                    </a:ext>
                  </a:extLst>
                </a:gridCol>
                <a:gridCol w="1362269">
                  <a:extLst>
                    <a:ext uri="{9D8B030D-6E8A-4147-A177-3AD203B41FA5}">
                      <a16:colId xmlns:a16="http://schemas.microsoft.com/office/drawing/2014/main" val="35743219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new tot_cred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1380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0939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Ravi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5646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4661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Mohan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7071314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E4CDB44-C1AF-3AEE-06F9-52BE72CA1CCF}"/>
              </a:ext>
            </a:extLst>
          </p:cNvPr>
          <p:cNvCxnSpPr/>
          <p:nvPr/>
        </p:nvCxnSpPr>
        <p:spPr bwMode="auto">
          <a:xfrm>
            <a:off x="3237722" y="3429000"/>
            <a:ext cx="2099388" cy="14509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337933985"/>
      </p:ext>
    </p:extLst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93218</TotalTime>
  <Words>6642</Words>
  <Application>Microsoft Office PowerPoint</Application>
  <PresentationFormat>On-screen Show (4:3)</PresentationFormat>
  <Paragraphs>1177</Paragraphs>
  <Slides>84</Slides>
  <Notes>55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  <vt:variant>
        <vt:lpstr>Custom Shows</vt:lpstr>
      </vt:variant>
      <vt:variant>
        <vt:i4>1</vt:i4>
      </vt:variant>
    </vt:vector>
  </HeadingPairs>
  <TitlesOfParts>
    <vt:vector size="94" baseType="lpstr">
      <vt:lpstr>Arial</vt:lpstr>
      <vt:lpstr>Century Gothic</vt:lpstr>
      <vt:lpstr>Helvetica</vt:lpstr>
      <vt:lpstr>Monotype Sorts</vt:lpstr>
      <vt:lpstr>Symbol</vt:lpstr>
      <vt:lpstr>Times New Roman</vt:lpstr>
      <vt:lpstr>Webdings</vt:lpstr>
      <vt:lpstr>Wingdings</vt:lpstr>
      <vt:lpstr>2_db-5-grey</vt:lpstr>
      <vt:lpstr>Chapter 3: Introduction to SQL</vt:lpstr>
      <vt:lpstr>Outline</vt:lpstr>
      <vt:lpstr>SQL Parts</vt:lpstr>
      <vt:lpstr>Data Definition Language</vt:lpstr>
      <vt:lpstr>Domain Types in SQL</vt:lpstr>
      <vt:lpstr>Domain Types in SQL</vt:lpstr>
      <vt:lpstr>Create Table Construct</vt:lpstr>
      <vt:lpstr>Integrity Constraints in Create Table</vt:lpstr>
      <vt:lpstr>Integrity Constraints in Create Table</vt:lpstr>
      <vt:lpstr>And a Few More Relation Definitions</vt:lpstr>
      <vt:lpstr>And more still</vt:lpstr>
      <vt:lpstr>Updates to tables</vt:lpstr>
      <vt:lpstr>Updates to tables</vt:lpstr>
      <vt:lpstr>Basic Query Structure </vt:lpstr>
      <vt:lpstr>The select Clause</vt:lpstr>
      <vt:lpstr>The select Clause (Cont.)</vt:lpstr>
      <vt:lpstr>The select Clause (Cont.)</vt:lpstr>
      <vt:lpstr>The select Clause (Cont.)</vt:lpstr>
      <vt:lpstr>The select Clause (Cont.)</vt:lpstr>
      <vt:lpstr>The where Clause</vt:lpstr>
      <vt:lpstr>The from Clause</vt:lpstr>
      <vt:lpstr>Examples</vt:lpstr>
      <vt:lpstr>The Rename Operation</vt:lpstr>
      <vt:lpstr>The Rename Operation</vt:lpstr>
      <vt:lpstr>String Operations</vt:lpstr>
      <vt:lpstr>String Operations</vt:lpstr>
      <vt:lpstr>String Operations (Cont.)</vt:lpstr>
      <vt:lpstr>String Operations (Cont.)</vt:lpstr>
      <vt:lpstr>Ordering the Display of Tuples</vt:lpstr>
      <vt:lpstr>Ordering the Display of Tuples</vt:lpstr>
      <vt:lpstr>Ordering the Display of Tuples</vt:lpstr>
      <vt:lpstr>Where Clause Predicates</vt:lpstr>
      <vt:lpstr>Where Clause Predicates</vt:lpstr>
      <vt:lpstr>Set Operations</vt:lpstr>
      <vt:lpstr>Set Operations (Cont.)</vt:lpstr>
      <vt:lpstr>Null Values</vt:lpstr>
      <vt:lpstr>Null Values</vt:lpstr>
      <vt:lpstr>Null Values (Cont.)</vt:lpstr>
      <vt:lpstr>Aggregate Functions</vt:lpstr>
      <vt:lpstr>Aggregate Functions Examples</vt:lpstr>
      <vt:lpstr>Aggregate Functions – Group By</vt:lpstr>
      <vt:lpstr>Aggregation (Cont.)</vt:lpstr>
      <vt:lpstr>Aggregate Functions – Having Clause</vt:lpstr>
      <vt:lpstr>Nested Subqueries</vt:lpstr>
      <vt:lpstr>Nested Subqueries</vt:lpstr>
      <vt:lpstr>Nested Subqueries</vt:lpstr>
      <vt:lpstr>Set Membership</vt:lpstr>
      <vt:lpstr>Set Membership </vt:lpstr>
      <vt:lpstr>Set Membership (Cont.)</vt:lpstr>
      <vt:lpstr>Set Comparison</vt:lpstr>
      <vt:lpstr>Set Comparison – “some” Clause</vt:lpstr>
      <vt:lpstr>Set Comparison – “all” Clause</vt:lpstr>
      <vt:lpstr>Set Comparison</vt:lpstr>
      <vt:lpstr>Use of “exists” Clause</vt:lpstr>
      <vt:lpstr>Use of “exists” Clause</vt:lpstr>
      <vt:lpstr>Use of “exists” Clause</vt:lpstr>
      <vt:lpstr>Use of “not exists” Clause</vt:lpstr>
      <vt:lpstr>Use of “not exists” Clause</vt:lpstr>
      <vt:lpstr>Use of “not exists” Clause</vt:lpstr>
      <vt:lpstr>Use of “not exists” Clause</vt:lpstr>
      <vt:lpstr>Use of “not exists” Clause</vt:lpstr>
      <vt:lpstr>Use of “not exists” Clause</vt:lpstr>
      <vt:lpstr>Use of “exists” and “not exists” Clause</vt:lpstr>
      <vt:lpstr>Test for Absence of Duplicate Tuples</vt:lpstr>
      <vt:lpstr>Test for Absence of Duplicate Tuples</vt:lpstr>
      <vt:lpstr>For offered exactly once in 2017</vt:lpstr>
      <vt:lpstr>Subqueries in the From Clause</vt:lpstr>
      <vt:lpstr>Subqueries in the From Clause</vt:lpstr>
      <vt:lpstr>PowerPoint Presentation</vt:lpstr>
      <vt:lpstr>With Clause</vt:lpstr>
      <vt:lpstr>With Clause</vt:lpstr>
      <vt:lpstr>Complex Queries using With Clause</vt:lpstr>
      <vt:lpstr>Scalar Subquery</vt:lpstr>
      <vt:lpstr>Scalar Subquery</vt:lpstr>
      <vt:lpstr>Modification of the Database</vt:lpstr>
      <vt:lpstr>Deletion</vt:lpstr>
      <vt:lpstr>Insertion</vt:lpstr>
      <vt:lpstr>Insertion (Cont.)</vt:lpstr>
      <vt:lpstr>Insertion (Cont.)</vt:lpstr>
      <vt:lpstr>Updates</vt:lpstr>
      <vt:lpstr>Updates (Cont.)</vt:lpstr>
      <vt:lpstr>Case Statement for Conditional Updates</vt:lpstr>
      <vt:lpstr>Updates with Scalar Subqueries</vt:lpstr>
      <vt:lpstr>PowerPoint Presentation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Shiraz Khurana</cp:lastModifiedBy>
  <cp:revision>509</cp:revision>
  <cp:lastPrinted>1999-06-28T19:27:31Z</cp:lastPrinted>
  <dcterms:created xsi:type="dcterms:W3CDTF">2009-12-21T15:40:22Z</dcterms:created>
  <dcterms:modified xsi:type="dcterms:W3CDTF">2026-09-22T06:49:19Z</dcterms:modified>
</cp:coreProperties>
</file>