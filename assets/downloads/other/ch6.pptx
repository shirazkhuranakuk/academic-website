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8"/>
  </p:notesMasterIdLst>
  <p:handoutMasterIdLst>
    <p:handoutMasterId r:id="rId69"/>
  </p:handoutMasterIdLst>
  <p:sldIdLst>
    <p:sldId id="423" r:id="rId2"/>
    <p:sldId id="337" r:id="rId3"/>
    <p:sldId id="424" r:id="rId4"/>
    <p:sldId id="421" r:id="rId5"/>
    <p:sldId id="339" r:id="rId6"/>
    <p:sldId id="456" r:id="rId7"/>
    <p:sldId id="340" r:id="rId8"/>
    <p:sldId id="341" r:id="rId9"/>
    <p:sldId id="342" r:id="rId10"/>
    <p:sldId id="343" r:id="rId11"/>
    <p:sldId id="344" r:id="rId12"/>
    <p:sldId id="457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458" r:id="rId22"/>
    <p:sldId id="353" r:id="rId23"/>
    <p:sldId id="354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66" r:id="rId36"/>
    <p:sldId id="368" r:id="rId37"/>
    <p:sldId id="369" r:id="rId38"/>
    <p:sldId id="370" r:id="rId39"/>
    <p:sldId id="371" r:id="rId40"/>
    <p:sldId id="373" r:id="rId41"/>
    <p:sldId id="374" r:id="rId42"/>
    <p:sldId id="375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83" r:id="rId51"/>
    <p:sldId id="384" r:id="rId52"/>
    <p:sldId id="385" r:id="rId53"/>
    <p:sldId id="459" r:id="rId54"/>
    <p:sldId id="386" r:id="rId55"/>
    <p:sldId id="387" r:id="rId56"/>
    <p:sldId id="425" r:id="rId57"/>
    <p:sldId id="426" r:id="rId58"/>
    <p:sldId id="427" r:id="rId59"/>
    <p:sldId id="428" r:id="rId60"/>
    <p:sldId id="429" r:id="rId61"/>
    <p:sldId id="430" r:id="rId62"/>
    <p:sldId id="431" r:id="rId63"/>
    <p:sldId id="433" r:id="rId64"/>
    <p:sldId id="434" r:id="rId65"/>
    <p:sldId id="435" r:id="rId66"/>
    <p:sldId id="436" r:id="rId67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 Sudarshan" initials="SS" lastIdx="1" clrIdx="0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0562" autoAdjust="0"/>
  </p:normalViewPr>
  <p:slideViewPr>
    <p:cSldViewPr snapToGrid="0">
      <p:cViewPr>
        <p:scale>
          <a:sx n="75" d="100"/>
          <a:sy n="75" d="100"/>
        </p:scale>
        <p:origin x="1512" y="43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41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9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7696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7696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7696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7696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91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202F3DB-D83B-4369-B6DF-4EFAC58302F7}" type="slidenum">
              <a:rPr lang="en-US" altLang="en-US" sz="1200"/>
              <a:pPr algn="r"/>
              <a:t>5</a:t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BA43-8C8F-3AE4-E627-8C74E4E8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E7B0F8C-4435-9A87-FE72-6488180E193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202F3DB-D83B-4369-B6DF-4EFAC58302F7}" type="slidenum">
              <a:rPr lang="en-US" altLang="en-US" sz="1200"/>
              <a:pPr algn="r"/>
              <a:t>6</a:t>
            </a:fld>
            <a:endParaRPr lang="en-US" altLang="en-US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A87075E9-DBE4-F8A1-647F-D59845CBCD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B782F963-0157-0C50-1C4B-A038173D4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368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4932D46-DD78-4BAB-BBDC-DC51872AFEF6}" type="slidenum">
              <a:rPr lang="en-US" altLang="en-US" sz="1200"/>
              <a:pPr algn="r"/>
              <a:t>7</a:t>
            </a:fld>
            <a:endParaRPr lang="en-US" alt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572F582-7A30-44E2-B9AE-85A1CA63CB6B}" type="slidenum">
              <a:rPr lang="en-US" altLang="en-US" sz="1200"/>
              <a:pPr algn="r"/>
              <a:t>8</a:t>
            </a:fld>
            <a:endParaRPr lang="en-US" alt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76179E-0825-42BA-A86D-E07CE2CDFB4A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8D77EB-8DA4-473C-85D9-A2C867216A15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2298E3-52AF-4F84-BC83-1D80A0E7F6B5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C87BE7-122B-4399-B1F6-35CC3C43642F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4D2032-F7A1-47FB-8029-FF01734C1A45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D6698B-82E8-4243-BAB0-D6783EE2B84F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E75EE63-BBAB-4B59-AB6C-C7C62F9D7EF6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A286EA-37A2-4E74-A5EA-47322F5F22B9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34FE36-22BB-471F-B5BA-20ABB5BF6430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6F3D21-A5A9-4DF0-817E-313DA5AE0CC9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681DB7B-8BB9-428D-983D-60F2DF463925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469615-0B6C-4E37-A5DC-FDCF4C566C37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F97F58-FA04-4838-BA8D-1673429622FF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E8ABFFE-D826-4EF9-B15D-4180085C23C7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A9C970B-8220-4517-837F-B56840EC81F1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B53E9A-4F1C-4562-B43B-B5CFB7E98BB2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71DE7E-FF0D-4034-AE63-651A3A350F6F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281BB1-9FD8-4756-B07C-05F43DCBB1D1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02CC610-2C92-4BB3-8D98-C7E1312CA104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844853C-1565-4D82-BAFB-17FA6226FCB3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5E82CE-5F33-4AA9-922C-5F54A6966317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449F55-0331-42F3-8185-5550FA6588AF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A24CF4-9A58-4D8C-8B4A-1F5B4A557C17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733CA9-4ACE-4C8E-94A6-AF7CB20743E9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D2532D8-F19F-403F-A34B-7117B24BF533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0ADC53-D181-43CB-9865-BA969C5AAEFD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4E467F-6EAC-4F92-B33E-2BE268A09E9A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F7D5D7-1528-465C-90C3-10C59F6113C4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D1A45DA-CA64-41FA-A1E8-AD1BAE08C0BB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4DA130-9CE3-4E7D-9E7F-223297258F10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BB2FFBC-ECC8-4E72-ACD7-AC5B3AC7D391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33A54A-C6D5-44D3-B193-2B68843B2348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57AE074-BB24-467C-A389-042288128DCE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07090B-43B1-4E96-BBBD-29C4E144CED6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1DAE2F-0D65-4187-8195-66E3DFCF9142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12A99F-88C8-4413-BBDB-E9633A53948D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9B5DD2D-80F8-4C47-BE29-F71863EB928E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D1584D15-F658-456F-8F61-E80EBA02FF6A}" type="slidenum">
              <a:rPr lang="en-US" altLang="en-US" sz="1200"/>
              <a:pPr algn="r"/>
              <a:t>49</a:t>
            </a:fld>
            <a:endParaRPr lang="en-US" alt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2C13233-64BC-4954-9464-11A8667DC6C3}" type="slidenum">
              <a:rPr lang="en-US" altLang="en-US" sz="1200"/>
              <a:pPr algn="r"/>
              <a:t>50</a:t>
            </a:fld>
            <a:endParaRPr lang="en-US" alt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02DC87-2809-4E8A-B7E5-19578CF611CB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5B6243-9F6C-4A40-B7AB-819F09B48280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3671C7C-5C30-4951-A09C-C7DE0069A227}" type="slidenum">
              <a:rPr lang="en-US" altLang="en-US" sz="1200"/>
              <a:pPr algn="r"/>
              <a:t>54</a:t>
            </a:fld>
            <a:endParaRPr lang="en-US" alt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896E650-A8FF-4A75-8D3E-76E6F7496A62}" type="slidenum">
              <a:rPr lang="en-US" altLang="en-US" sz="1200"/>
              <a:pPr algn="r"/>
              <a:t>55</a:t>
            </a:fld>
            <a:endParaRPr lang="en-US" altLang="en-US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60B134-387B-41E7-B677-3964AC0C6785}" type="slidenum">
              <a:rPr lang="en-US" altLang="en-US" sz="1200"/>
              <a:pPr/>
              <a:t>56</a:t>
            </a:fld>
            <a:endParaRPr lang="en-US" altLang="en-US" sz="12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2385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5F59032-4CC8-49AA-B921-0985818A4A69}" type="slidenum">
              <a:rPr lang="en-US" altLang="en-US" sz="1200"/>
              <a:pPr/>
              <a:t>57</a:t>
            </a:fld>
            <a:endParaRPr lang="en-US" altLang="en-US" sz="12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624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BB37812-7A60-4D4D-B158-CDF22B62669D}" type="slidenum">
              <a:rPr lang="en-US" altLang="en-US" sz="1200"/>
              <a:pPr/>
              <a:t>58</a:t>
            </a:fld>
            <a:endParaRPr lang="en-US" altLang="en-US" sz="12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2756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19A4C02-8989-47FD-A904-144A669035C3}" type="slidenum">
              <a:rPr lang="en-US" altLang="en-US" sz="1200"/>
              <a:pPr algn="r"/>
              <a:t>59</a:t>
            </a:fld>
            <a:endParaRPr lang="en-US" altLang="en-US" sz="12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0169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36AEDBC9-C94E-4A98-8290-172F520CC2AF}" type="slidenum">
              <a:rPr lang="en-US" altLang="en-US" sz="1200"/>
              <a:pPr algn="r"/>
              <a:t>60</a:t>
            </a:fld>
            <a:endParaRPr lang="en-US" altLang="en-US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375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1C0836-68E5-499B-9488-51A72A955B8C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936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25D0B9-C0C0-40E8-996B-37789D8CE8CB}" type="slidenum">
              <a:rPr lang="en-US" altLang="en-US" sz="1200"/>
              <a:pPr/>
              <a:t>62</a:t>
            </a:fld>
            <a:endParaRPr lang="en-US" altLang="en-US" sz="120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558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B36896-4F4E-48BE-8ED8-64318D033CE8}" type="slidenum">
              <a:rPr lang="en-US" altLang="en-US" sz="1200"/>
              <a:pPr/>
              <a:t>63</a:t>
            </a:fld>
            <a:endParaRPr lang="en-US" altLang="en-US" sz="120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98375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DE8E9FC-6F08-40BB-B772-EA0C2AE1A7A0}" type="slidenum">
              <a:rPr lang="en-US" altLang="en-US" sz="1200"/>
              <a:pPr/>
              <a:t>64</a:t>
            </a:fld>
            <a:endParaRPr lang="en-US" alt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819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999CF1A-EE2D-40C7-88BC-5CB4646E5D8B}" type="slidenum">
              <a:rPr lang="en-US" altLang="en-US" sz="1200"/>
              <a:pPr algn="r"/>
              <a:t>65</a:t>
            </a:fld>
            <a:endParaRPr lang="en-US" altLang="en-US" sz="120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1420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DBE05D-165E-44E5-8FF5-12AB8BF987CB}" type="slidenum">
              <a:rPr lang="en-US" altLang="en-US" sz="1200"/>
              <a:pPr/>
              <a:t>66</a:t>
            </a:fld>
            <a:endParaRPr lang="en-US" altLang="en-US" sz="120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17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5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6.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2DBFC5-E763-46C1-ABAD-DD42419B93B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6: Database Design Using the E-R Model</a:t>
            </a:r>
          </a:p>
        </p:txBody>
      </p:sp>
    </p:spTree>
    <p:extLst>
      <p:ext uri="{BB962C8B-B14F-4D97-AF65-F5344CB8AC3E}">
        <p14:creationId xmlns:p14="http://schemas.microsoft.com/office/powerpoint/2010/main" val="41622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E9369-7062-4D0C-AC8D-5A7E652C03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85799"/>
            <a:ext cx="7473949" cy="4105529"/>
          </a:xfrm>
        </p:spPr>
        <p:txBody>
          <a:bodyPr/>
          <a:lstStyle/>
          <a:p>
            <a:r>
              <a:rPr lang="en-US" altLang="en-US" sz="1700" dirty="0"/>
              <a:t>Overview of the Design Process</a:t>
            </a:r>
          </a:p>
          <a:p>
            <a:r>
              <a:rPr lang="en-US" altLang="en-US" sz="1700" dirty="0"/>
              <a:t>The Entity-Relationship Model</a:t>
            </a:r>
          </a:p>
          <a:p>
            <a:r>
              <a:rPr lang="en-US" altLang="en-US" sz="1700" dirty="0"/>
              <a:t>Complex Attributes</a:t>
            </a:r>
          </a:p>
          <a:p>
            <a:r>
              <a:rPr lang="en-US" altLang="en-US" sz="1700" dirty="0"/>
              <a:t>Mapping Cardinalities</a:t>
            </a:r>
          </a:p>
          <a:p>
            <a:r>
              <a:rPr lang="en-US" altLang="en-US" sz="1700" dirty="0"/>
              <a:t>Primary Key</a:t>
            </a:r>
          </a:p>
          <a:p>
            <a:r>
              <a:rPr lang="en-US" altLang="en-US" sz="1700" dirty="0"/>
              <a:t>Removing Redundant Attributes in Entity Sets</a:t>
            </a:r>
          </a:p>
          <a:p>
            <a:r>
              <a:rPr lang="en-US" altLang="en-US" sz="1700" dirty="0"/>
              <a:t>Reducing ER Diagrams to Relational Schemas</a:t>
            </a:r>
          </a:p>
          <a:p>
            <a:r>
              <a:rPr lang="en-US" altLang="en-US" dirty="0"/>
              <a:t>Extended E-R Features</a:t>
            </a:r>
          </a:p>
          <a:p>
            <a:r>
              <a:rPr lang="en-US" altLang="en-US" dirty="0"/>
              <a:t>Entity-Relationship Design Issues</a:t>
            </a:r>
          </a:p>
          <a:p>
            <a:r>
              <a:rPr lang="en-US" altLang="en-US" dirty="0"/>
              <a:t>Alternative Notations for Modeling Data</a:t>
            </a:r>
          </a:p>
          <a:p>
            <a:r>
              <a:rPr lang="en-US" altLang="en-US" dirty="0"/>
              <a:t>Other Aspects of Database Design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AFE568E-7EE2-451B-AB3F-F04DFB7B76F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222375"/>
            <a:ext cx="7620254" cy="2861945"/>
          </a:xfrm>
        </p:spPr>
        <p:txBody>
          <a:bodyPr/>
          <a:lstStyle/>
          <a:p>
            <a:r>
              <a:rPr lang="en-US" altLang="en-US" sz="1700" dirty="0"/>
              <a:t>Extended E-R Features</a:t>
            </a:r>
          </a:p>
          <a:p>
            <a:r>
              <a:rPr lang="en-US" altLang="en-US" sz="1700" dirty="0"/>
              <a:t>Entity-Relationship Design Issues</a:t>
            </a:r>
          </a:p>
          <a:p>
            <a:r>
              <a:rPr lang="en-US" altLang="en-US" sz="1700" dirty="0"/>
              <a:t>Alternative Notations for Modeling Data</a:t>
            </a:r>
          </a:p>
          <a:p>
            <a:r>
              <a:rPr lang="en-US" altLang="en-US" sz="1700" dirty="0"/>
              <a:t>Other Aspects of Database Design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9213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8CDAE9-E387-4B01-A720-4ACF35118A5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/>
              </a:rPr>
              <a:t>Design Phases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185799"/>
            <a:ext cx="7595870" cy="4767961"/>
          </a:xfrm>
        </p:spPr>
        <p:txBody>
          <a:bodyPr/>
          <a:lstStyle/>
          <a:p>
            <a:r>
              <a:rPr lang="en-US" altLang="en-US" sz="1800" dirty="0"/>
              <a:t>Initial phase -- characterize fully the data needs of the prospective database users. </a:t>
            </a:r>
          </a:p>
          <a:p>
            <a:r>
              <a:rPr lang="en-US" altLang="en-US" sz="1800" dirty="0"/>
              <a:t>Second phase  -- choosing  a data model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Applying the concepts of the chosen data model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Translating  these requirements into a conceptual schema of the database.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A fully developed conceptual schema indicates the functional requirements of the enterprise. 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Describe the kinds of operations (or transactions) that will be performed on the data.</a:t>
            </a: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1640C5-367D-4A64-85B5-D5EF1C9AED4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Phases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6762" y="1175195"/>
            <a:ext cx="7610476" cy="43751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Final Phase -- Moving from an abstract data model to the implementation of the database</a:t>
            </a:r>
            <a:endParaRPr lang="en-US" altLang="en-US" sz="1700" i="1" dirty="0"/>
          </a:p>
          <a:p>
            <a:pPr marL="800100" lvl="1" indent="-342900"/>
            <a:r>
              <a:rPr lang="en-US" altLang="en-US" sz="1700" dirty="0">
                <a:ea typeface="ＭＳ Ｐゴシック" panose="020B0600070205080204" pitchFamily="34" charset="-128"/>
              </a:rPr>
              <a:t>Logical Design –  Deciding on the database schema. </a:t>
            </a:r>
          </a:p>
          <a:p>
            <a:pPr marL="1143000" lvl="2" indent="-342900"/>
            <a:r>
              <a:rPr lang="en-US" altLang="en-US" dirty="0">
                <a:ea typeface="ＭＳ Ｐゴシック" panose="020B0600070205080204" pitchFamily="34" charset="-128"/>
              </a:rPr>
              <a:t>Database design requires that we find a “good” collection of relation schemas.</a:t>
            </a:r>
          </a:p>
          <a:p>
            <a:pPr marL="1143000" lvl="2" indent="-342900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Business decision – What attributes should we record in the database?</a:t>
            </a:r>
          </a:p>
          <a:p>
            <a:pPr marL="1143000" lvl="2" indent="-342900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Computer Science decision –  What relation schemas should we have and how should the attributes be distributed among the various relation schemas?</a:t>
            </a:r>
          </a:p>
          <a:p>
            <a:pPr marL="800100" lvl="1" indent="-342900"/>
            <a:r>
              <a:rPr lang="en-US" altLang="en-US" sz="1700" dirty="0">
                <a:ea typeface="ＭＳ Ｐゴシック" panose="020B0600070205080204" pitchFamily="34" charset="-128"/>
              </a:rPr>
              <a:t>Physical Design – Deciding on the physical layout of the database                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927100" y="1074738"/>
            <a:ext cx="7450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>
                <a:sym typeface="Symbol" panose="05050102010706020507" pitchFamily="18" charset="2"/>
              </a:rPr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253EA54-A52A-9A02-DF3E-0B85C6D29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5E9CC6-03EE-CEF6-6B44-2F5DA247909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8194" name="Rectangle 2">
            <a:extLst>
              <a:ext uri="{FF2B5EF4-FFF2-40B4-BE49-F238E27FC236}">
                <a16:creationId xmlns:a16="http://schemas.microsoft.com/office/drawing/2014/main" id="{5EC730B1-8220-3507-86DB-083DE91117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Phases (Cont.)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C080625-F4A2-0730-B6D0-4722E2A8B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1074738"/>
            <a:ext cx="7450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>
                <a:sym typeface="Symbol" panose="05050102010706020507" pitchFamily="18" charset="2"/>
              </a:rPr>
              <a:t> </a:t>
            </a:r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DE7348-2329-9B7D-B12F-43563F19C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1074738"/>
            <a:ext cx="3556000" cy="458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25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275412E-4708-4FFB-A8BD-6C255990832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Alternatives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123950"/>
            <a:ext cx="7612170" cy="44477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In designing a database schema, we must ensure that we avoid two major pitfalls: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Redundancy:  a bad design  may result in repeat information. 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Redundant representation of information may lead to data inconsistency among the various copies of information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Incompleteness: a bad design may make certain aspects of the enterprise difficult or impossible to model.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Avoiding bad designs is not enough. There may be a  large number  of  good designs from which we must choose.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DAB4D9-DBE9-41E1-A278-0E7435847F7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Approaches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1" y="1123950"/>
            <a:ext cx="7763090" cy="45819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Entity Relationship Model (covered in this chapter)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Models an enterprise as a collection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entities </a:t>
            </a:r>
            <a:r>
              <a:rPr lang="en-US" altLang="en-US" sz="1700" dirty="0">
                <a:ea typeface="ＭＳ Ｐゴシック" panose="020B0600070205080204" pitchFamily="34" charset="-128"/>
              </a:rPr>
              <a:t>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relationships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Entity: a “thing” or “object” in the enterprise that is distinguishable from other objects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Described by a set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attributes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Relationship: an association among several entities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Represented diagrammatically by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entity-relationship diagram: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Normalization Theory (Chapter 7)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Formalize what designs are bad, and test for them</a:t>
            </a:r>
          </a:p>
          <a:p>
            <a:pPr lvl="1"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334E2B-E53E-40B6-95AC-130B7A6B18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Outline of the ER Model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E62F591-5EAB-44B3-8668-C4274CA39F6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ER model -- Database Modeling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725410" cy="4274185"/>
          </a:xfrm>
        </p:spPr>
        <p:txBody>
          <a:bodyPr/>
          <a:lstStyle/>
          <a:p>
            <a:r>
              <a:rPr lang="en-US" altLang="en-US" sz="1700" dirty="0"/>
              <a:t>The ER data mode was developed to facilitate database design by allowing specification of an </a:t>
            </a:r>
            <a:r>
              <a:rPr lang="en-US" altLang="en-US" sz="1700" b="1" dirty="0">
                <a:solidFill>
                  <a:srgbClr val="002060"/>
                </a:solidFill>
              </a:rPr>
              <a:t>enterprise schema </a:t>
            </a:r>
            <a:r>
              <a:rPr lang="en-US" altLang="en-US" sz="1700" dirty="0"/>
              <a:t>that represents the overall logical structure of a database.</a:t>
            </a:r>
          </a:p>
          <a:p>
            <a:r>
              <a:rPr lang="en-US" altLang="en-US" sz="1700" dirty="0"/>
              <a:t>The ER data model employs three basic concepts: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entity sets,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relationship sets,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attributes.</a:t>
            </a:r>
          </a:p>
          <a:p>
            <a:r>
              <a:rPr lang="en-US" altLang="en-US" sz="1700" dirty="0"/>
              <a:t>The ER model also has an associated diagrammatic representation, the </a:t>
            </a:r>
            <a:r>
              <a:rPr lang="en-US" altLang="en-US" sz="1700" b="1" dirty="0">
                <a:solidFill>
                  <a:srgbClr val="002060"/>
                </a:solidFill>
              </a:rPr>
              <a:t>ER diagram</a:t>
            </a:r>
            <a:r>
              <a:rPr lang="en-US" altLang="en-US" sz="1700" dirty="0"/>
              <a:t>, which can express the overall logical structure of a database graphically</a:t>
            </a:r>
            <a:r>
              <a:rPr lang="en-US" altLang="en-US" sz="2000" dirty="0"/>
              <a:t>.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0696CC-41D0-4058-A673-1DB6F539427B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Entity Sets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394"/>
            <a:ext cx="7514515" cy="4998159"/>
          </a:xfrm>
        </p:spPr>
        <p:txBody>
          <a:bodyPr/>
          <a:lstStyle/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entity</a:t>
            </a:r>
            <a:r>
              <a:rPr lang="en-US" altLang="en-US" sz="1700" b="1" dirty="0"/>
              <a:t> </a:t>
            </a:r>
            <a:r>
              <a:rPr lang="en-US" altLang="en-US" sz="1700" dirty="0"/>
              <a:t>is an object that exists and is distinguishable from other objects.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 specific person, company, event, plant</a:t>
            </a:r>
          </a:p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entity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set of entities of the same type that share the same properties.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set of all persons, companies, trees, holidays</a:t>
            </a:r>
          </a:p>
          <a:p>
            <a:r>
              <a:rPr lang="en-US" altLang="en-US" sz="1700" dirty="0"/>
              <a:t>An entity is represented by a set of attributes; i.e., descriptive properties possessed by all members of an entity set.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>
                <a:ea typeface="ＭＳ Ｐゴシック" panose="020B0600070205080204" pitchFamily="34" charset="-128"/>
              </a:rPr>
              <a:t>     	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 = </a:t>
            </a:r>
            <a:r>
              <a:rPr lang="en-US" altLang="en-US" sz="1700" dirty="0">
                <a:ea typeface="ＭＳ Ｐゴシック" panose="020B0600070205080204" pitchFamily="34" charset="-128"/>
              </a:rPr>
              <a:t>(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ID, name, salary </a:t>
            </a:r>
            <a:r>
              <a:rPr lang="en-US" altLang="en-US" sz="1700" dirty="0">
                <a:ea typeface="ＭＳ Ｐゴシック" panose="020B0600070205080204" pitchFamily="34" charset="-128"/>
              </a:rPr>
              <a:t>)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	course= </a:t>
            </a:r>
            <a:r>
              <a:rPr lang="en-US" altLang="en-US" sz="1700" dirty="0">
                <a:ea typeface="ＭＳ Ｐゴシック" panose="020B0600070205080204" pitchFamily="34" charset="-128"/>
              </a:rPr>
              <a:t>(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course_id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title, credits</a:t>
            </a:r>
            <a:r>
              <a:rPr lang="en-US" altLang="en-US" sz="1700" dirty="0">
                <a:ea typeface="ＭＳ Ｐゴシック" panose="020B0600070205080204" pitchFamily="34" charset="-128"/>
              </a:rPr>
              <a:t>)</a:t>
            </a:r>
            <a:endParaRPr lang="en-US" altLang="en-US" sz="1700" i="1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sz="1700" dirty="0"/>
              <a:t>A subset of the attributes form a  </a:t>
            </a:r>
            <a:r>
              <a:rPr lang="en-US" altLang="en-US" sz="1700" b="1" dirty="0">
                <a:solidFill>
                  <a:srgbClr val="002060"/>
                </a:solidFill>
              </a:rPr>
              <a:t>primary key </a:t>
            </a:r>
            <a:r>
              <a:rPr lang="en-US" altLang="en-US" sz="1700" dirty="0"/>
              <a:t>of the entity set; i.e., uniquely identifying each member of the set.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8771AE-293C-CBD2-1B38-F96A0ADE5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66" y="1305374"/>
            <a:ext cx="3449974" cy="3815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928CDB-FD54-0063-BDB6-9D7652D44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300" y="2702406"/>
            <a:ext cx="4867340" cy="122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9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650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Entity Sets --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instructor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and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student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charset="-128"/>
            </a:endParaRPr>
          </a:p>
        </p:txBody>
      </p:sp>
      <p:pic>
        <p:nvPicPr>
          <p:cNvPr id="1433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430338"/>
            <a:ext cx="5795962" cy="32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12435AE-617D-44C7-8B87-71DB3CDF765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 in ER Diagram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781235" y="1109663"/>
            <a:ext cx="7615561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Entity sets can be represented graphically as follows: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Rectangles represent entity sets.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Attributes listed inside entity rectangle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Underline indicates primary key attributes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290F8C-1B79-4693-9B6C-81A613B75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719" y="3435718"/>
            <a:ext cx="4465041" cy="17154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74E6FC-02E6-4B65-AD45-B06E1C45B296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Relationship Sets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7031"/>
            <a:ext cx="7766050" cy="4876800"/>
          </a:xfrm>
        </p:spPr>
        <p:txBody>
          <a:bodyPr/>
          <a:lstStyle/>
          <a:p>
            <a:pPr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relationship</a:t>
            </a:r>
            <a:r>
              <a:rPr lang="en-US" altLang="en-US" sz="1700" dirty="0"/>
              <a:t> is an association among several entities</a:t>
            </a:r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	Example:</a:t>
            </a:r>
            <a:br>
              <a:rPr lang="en-US" altLang="en-US" sz="1700" dirty="0"/>
            </a:br>
            <a:r>
              <a:rPr lang="en-US" altLang="en-US" sz="1700" dirty="0"/>
              <a:t>	 44553 (Peltier</a:t>
            </a:r>
            <a:r>
              <a:rPr lang="en-US" altLang="en-US" sz="1700" u="sng" dirty="0"/>
              <a:t>)</a:t>
            </a:r>
            <a:r>
              <a:rPr lang="en-US" altLang="en-US" sz="1700" dirty="0"/>
              <a:t> 	</a:t>
            </a:r>
            <a:r>
              <a:rPr lang="en-US" altLang="en-US" sz="1700" i="1" u="sng" dirty="0"/>
              <a:t>advisor</a:t>
            </a:r>
            <a:r>
              <a:rPr lang="en-US" altLang="en-US" sz="1700" dirty="0"/>
              <a:t>	 22222 (</a:t>
            </a:r>
            <a:r>
              <a:rPr lang="en-US" altLang="en-US" sz="1700" u="sng" dirty="0"/>
              <a:t>Einstein)</a:t>
            </a:r>
            <a:r>
              <a:rPr lang="en-US" altLang="en-US" sz="1700" dirty="0"/>
              <a:t> </a:t>
            </a:r>
            <a:br>
              <a:rPr lang="en-US" altLang="en-US" sz="1700" u="sng" dirty="0"/>
            </a:br>
            <a:r>
              <a:rPr lang="en-US" altLang="en-US" sz="1700" dirty="0"/>
              <a:t>	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entity	relationship set	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entity</a:t>
            </a:r>
          </a:p>
          <a:p>
            <a:pPr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relationship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mathematical relation among </a:t>
            </a:r>
            <a:r>
              <a:rPr lang="en-US" altLang="en-US" sz="1700" i="1" dirty="0"/>
              <a:t>n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 2 entities, each taken from entity sets</a:t>
            </a:r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		{(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) |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  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  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…,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  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}</a:t>
            </a:r>
            <a:br>
              <a:rPr lang="en-US" altLang="en-US" sz="1700" dirty="0">
                <a:sym typeface="Symbol" panose="05050102010706020507" pitchFamily="18" charset="2"/>
              </a:rPr>
            </a:b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where 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…,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) is a relationship</a:t>
            </a:r>
          </a:p>
          <a:p>
            <a:pPr lvl="1"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  <a:sym typeface="Symbol" panose="05050102010706020507" pitchFamily="18" charset="2"/>
              </a:rPr>
              <a:t>Example: </a:t>
            </a:r>
          </a:p>
          <a:p>
            <a:pPr lvl="1"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	        (44553,22222)  </a:t>
            </a:r>
            <a:r>
              <a:rPr lang="en-US" altLang="en-US" sz="17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advisor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519C1B-53E7-465F-B2F5-C1D824F17F9D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109663"/>
            <a:ext cx="7521391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Example: we define the relationship set  </a:t>
            </a:r>
            <a:r>
              <a:rPr kumimoji="1" lang="en-US" altLang="en-US" sz="1700" i="1" dirty="0"/>
              <a:t>advisor</a:t>
            </a:r>
            <a:r>
              <a:rPr kumimoji="1" lang="en-US" altLang="en-US" sz="1700" dirty="0"/>
              <a:t> to denote the associations between students and the instructors who act as their advisors.</a:t>
            </a:r>
          </a:p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Pictorially, we draw a line between related entities.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11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184" y="2488483"/>
            <a:ext cx="4967024" cy="275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A44E25-1815-4B95-9BF0-190672492B6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0" y="85725"/>
            <a:ext cx="835025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 Sets via ER Diagrams 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823595" y="1205034"/>
            <a:ext cx="749681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Diamonds represent relationship sets.</a:t>
            </a:r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281" y="2012264"/>
            <a:ext cx="6006782" cy="122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11BF5E-0D22-4F77-9B3A-CB373E33C1E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21047" cy="1250759"/>
          </a:xfrm>
        </p:spPr>
        <p:txBody>
          <a:bodyPr/>
          <a:lstStyle/>
          <a:p>
            <a:r>
              <a:rPr lang="en-US" altLang="en-US" sz="1700" dirty="0"/>
              <a:t>An attribute can also be associated with a relationship set.</a:t>
            </a:r>
          </a:p>
          <a:p>
            <a:r>
              <a:rPr lang="en-US" altLang="en-US" sz="1700" dirty="0"/>
              <a:t>For instance, the </a:t>
            </a:r>
            <a:r>
              <a:rPr lang="en-US" altLang="en-US" sz="1700" i="1" dirty="0"/>
              <a:t>advisor </a:t>
            </a:r>
            <a:r>
              <a:rPr lang="en-US" altLang="en-US" sz="1700" dirty="0"/>
              <a:t>relationship set between entity sets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student </a:t>
            </a:r>
            <a:r>
              <a:rPr lang="en-US" altLang="en-US" sz="1700" dirty="0"/>
              <a:t>may have the attribute </a:t>
            </a:r>
            <a:r>
              <a:rPr lang="en-US" altLang="en-US" sz="1700" i="1" dirty="0"/>
              <a:t>date </a:t>
            </a:r>
            <a:r>
              <a:rPr lang="en-US" altLang="en-US" sz="1700" dirty="0"/>
              <a:t>which tracks when the student started being associated with the advisor</a:t>
            </a:r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825" y="2511552"/>
            <a:ext cx="5993450" cy="2842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28CB72F-FF9B-4DEC-8E2A-4D7317ABCAA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with Attributes</a:t>
            </a:r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87500"/>
            <a:ext cx="6932613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01F842-A753-4C1B-8632-C62B81979AC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Roles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349"/>
            <a:ext cx="7888097" cy="1476375"/>
          </a:xfrm>
        </p:spPr>
        <p:txBody>
          <a:bodyPr/>
          <a:lstStyle/>
          <a:p>
            <a:r>
              <a:rPr kumimoji="0" lang="en-US" altLang="en-US" sz="1700" dirty="0"/>
              <a:t>Entity sets of a relationship need not be distinct</a:t>
            </a:r>
          </a:p>
          <a:p>
            <a:pPr lvl="1"/>
            <a:r>
              <a:rPr kumimoji="0" lang="en-US" altLang="en-US" sz="1700" dirty="0">
                <a:ea typeface="ＭＳ Ｐゴシック" panose="020B0600070205080204" pitchFamily="34" charset="-128"/>
              </a:rPr>
              <a:t>Each occurrence of an entity set plays a “role” in the relationship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r>
              <a:rPr lang="en-US" altLang="en-US" sz="1700" dirty="0"/>
              <a:t>The labels “</a:t>
            </a:r>
            <a:r>
              <a:rPr lang="en-US" altLang="ja-JP" sz="1700" i="1" dirty="0" err="1"/>
              <a:t>course_id</a:t>
            </a:r>
            <a:r>
              <a:rPr lang="en-US" altLang="en-US" sz="1700" dirty="0"/>
              <a:t>”</a:t>
            </a:r>
            <a:r>
              <a:rPr lang="en-US" altLang="ja-JP" sz="1700" dirty="0"/>
              <a:t> and </a:t>
            </a:r>
            <a:r>
              <a:rPr lang="en-US" altLang="en-US" sz="1700" dirty="0"/>
              <a:t>“</a:t>
            </a:r>
            <a:r>
              <a:rPr lang="en-US" altLang="ja-JP" sz="1700" i="1" dirty="0" err="1"/>
              <a:t>prereq_id</a:t>
            </a:r>
            <a:r>
              <a:rPr lang="en-US" altLang="en-US" sz="1700" dirty="0"/>
              <a:t>”</a:t>
            </a:r>
            <a:r>
              <a:rPr lang="en-US" altLang="ja-JP" sz="1700" dirty="0"/>
              <a:t> are called </a:t>
            </a:r>
            <a:r>
              <a:rPr lang="en-US" altLang="ja-JP" sz="1700" b="1" dirty="0">
                <a:solidFill>
                  <a:srgbClr val="002060"/>
                </a:solidFill>
              </a:rPr>
              <a:t>roles</a:t>
            </a:r>
            <a:r>
              <a:rPr lang="en-US" altLang="ja-JP" sz="1700" dirty="0"/>
              <a:t>.</a:t>
            </a:r>
            <a:endParaRPr lang="en-US" altLang="en-US" sz="1700" dirty="0"/>
          </a:p>
        </p:txBody>
      </p:sp>
      <p:pic>
        <p:nvPicPr>
          <p:cNvPr id="2150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520" y="2478346"/>
            <a:ext cx="5139204" cy="151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7AAB66-2D7E-5C7B-29C6-09F322D7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16"/>
          <a:stretch>
            <a:fillRect/>
          </a:stretch>
        </p:blipFill>
        <p:spPr>
          <a:xfrm>
            <a:off x="433562" y="656215"/>
            <a:ext cx="8446617" cy="557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84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D097E6-19A2-465A-AE4B-A74A87D9A89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Degree of a Relationship Set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558787" cy="3783012"/>
          </a:xfrm>
        </p:spPr>
        <p:txBody>
          <a:bodyPr/>
          <a:lstStyle/>
          <a:p>
            <a:r>
              <a:rPr lang="en-US" altLang="en-US" sz="1700" dirty="0"/>
              <a:t>Binary relationship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involve two entity sets (or degree two).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most relationship sets in a database system are binary.</a:t>
            </a:r>
          </a:p>
          <a:p>
            <a:r>
              <a:rPr lang="en-US" altLang="en-US" sz="1700" dirty="0"/>
              <a:t>Relationships between more than two entity sets are rare.  Most relationships are binary. (More on this later.)</a:t>
            </a:r>
          </a:p>
          <a:p>
            <a:pPr lvl="1">
              <a:buClr>
                <a:srgbClr val="FF9933"/>
              </a:buClr>
            </a:pPr>
            <a:r>
              <a:rPr lang="en-US" altLang="en-US" sz="1700" dirty="0">
                <a:ea typeface="ＭＳ Ｐゴシック" panose="020B0600070205080204" pitchFamily="34" charset="-128"/>
              </a:rPr>
              <a:t>Example: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students</a:t>
            </a:r>
            <a:r>
              <a:rPr lang="en-US" altLang="en-US" sz="1700" dirty="0">
                <a:ea typeface="ＭＳ Ｐゴシック" panose="020B0600070205080204" pitchFamily="34" charset="-128"/>
              </a:rPr>
              <a:t> work on research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projects</a:t>
            </a:r>
            <a:r>
              <a:rPr lang="en-US" altLang="en-US" sz="1700" dirty="0">
                <a:ea typeface="ＭＳ Ｐゴシック" panose="020B0600070205080204" pitchFamily="34" charset="-128"/>
              </a:rPr>
              <a:t> under the guidance of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. </a:t>
            </a:r>
          </a:p>
          <a:p>
            <a:pPr lvl="1">
              <a:buClr>
                <a:srgbClr val="FF9933"/>
              </a:buClr>
            </a:pPr>
            <a:r>
              <a:rPr lang="en-US" altLang="en-US" sz="1700" dirty="0">
                <a:ea typeface="ＭＳ Ｐゴシック" panose="020B0600070205080204" pitchFamily="34" charset="-128"/>
              </a:rPr>
              <a:t>relationship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 ternary relationship between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instructor, student, </a:t>
            </a:r>
            <a:r>
              <a:rPr lang="en-US" altLang="en-US" sz="1700" dirty="0">
                <a:ea typeface="ＭＳ Ｐゴシック" panose="020B0600070205080204" pitchFamily="34" charset="-128"/>
              </a:rPr>
              <a:t>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project</a:t>
            </a:r>
            <a:endParaRPr kumimoji="0" lang="en-US" altLang="en-US" sz="1700" dirty="0">
              <a:ea typeface="ＭＳ Ｐゴシック" panose="020B0600070205080204" pitchFamily="34" charset="-128"/>
            </a:endParaRPr>
          </a:p>
          <a:p>
            <a:pPr lvl="1"/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6AF3CF1-7052-4132-BC05-7C4131D52E9A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397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Non-binary Relationship Sets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84275"/>
            <a:ext cx="7634796" cy="1680845"/>
          </a:xfrm>
        </p:spPr>
        <p:txBody>
          <a:bodyPr/>
          <a:lstStyle/>
          <a:p>
            <a:r>
              <a:rPr lang="en-US" altLang="en-US" sz="1700" dirty="0"/>
              <a:t>Most relationship sets are binary</a:t>
            </a:r>
          </a:p>
          <a:p>
            <a:r>
              <a:rPr lang="en-US" altLang="en-US" sz="1700" dirty="0"/>
              <a:t>There are  occasions when it is more convenient to represent relationships as non-binary.</a:t>
            </a:r>
          </a:p>
          <a:p>
            <a:r>
              <a:rPr lang="en-US" altLang="en-US" sz="1700" dirty="0"/>
              <a:t>E-R Diagram with a Ternary Relationship</a:t>
            </a:r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23556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952" y="2755392"/>
            <a:ext cx="5098159" cy="1963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147FF76-3AD8-4E24-9552-77EC77D1DBAC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Complex Attributes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753859" cy="3335210"/>
          </a:xfrm>
        </p:spPr>
        <p:txBody>
          <a:bodyPr/>
          <a:lstStyle/>
          <a:p>
            <a:r>
              <a:rPr lang="en-US" altLang="en-US" sz="1700" dirty="0"/>
              <a:t>Attribute types: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Simple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composite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Single-valued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multivalued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Example: multivalued attribute: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phone_numbers</a:t>
            </a:r>
            <a:endParaRPr lang="en-US" altLang="en-US" sz="1700" i="1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Derived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Can be computed from other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Example:  age, given 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date_of_birth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/>
              <a:t> – the set of permitted values for each attribute 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743894-A7D2-481D-9232-969407554A7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Composite Attributes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558786" cy="901700"/>
          </a:xfrm>
        </p:spPr>
        <p:txBody>
          <a:bodyPr/>
          <a:lstStyle/>
          <a:p>
            <a:r>
              <a:rPr lang="en-US" altLang="en-US" sz="1700" dirty="0"/>
              <a:t>Composite attributes allow us to divided attributes  into subparts (other attributes).</a:t>
            </a: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524" y="1987296"/>
            <a:ext cx="6119901" cy="1882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1E5383E-01AA-44A8-9245-3174AB52F5DC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3480" y="73025"/>
            <a:ext cx="8158578" cy="639763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Complex Attributes  in ER Diagram</a:t>
            </a: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80" y="1177095"/>
            <a:ext cx="2782360" cy="4475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BBD592-CDBA-B598-CF7C-50F505E1A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742" y="1177095"/>
            <a:ext cx="3901778" cy="45038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951B197-0634-436E-AF91-B9FCD0568D3D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Cardinality Constraints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12170" cy="4114800"/>
          </a:xfrm>
        </p:spPr>
        <p:txBody>
          <a:bodyPr/>
          <a:lstStyle/>
          <a:p>
            <a:r>
              <a:rPr lang="en-US" altLang="en-US" sz="1700" dirty="0"/>
              <a:t>Express the number of entities to which another entity can be associated via a relationship set.</a:t>
            </a:r>
          </a:p>
          <a:p>
            <a:r>
              <a:rPr lang="en-US" altLang="en-US" sz="1700" dirty="0"/>
              <a:t>Most useful in describing binary relationship sets.</a:t>
            </a:r>
          </a:p>
          <a:p>
            <a:r>
              <a:rPr lang="en-US" altLang="en-US" sz="1700" dirty="0"/>
              <a:t>For a binary relationship set the mapping cardinality must be one of the following types: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One to one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One to many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Many to one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Many to many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7FDFECB-BF84-4C4B-9869-536D9A33F5E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529459" y="4675886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one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6265696" y="4679855"/>
            <a:ext cx="1487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many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488821" y="5267579"/>
            <a:ext cx="606929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en-US" sz="1700" dirty="0"/>
              <a:t>Note: Some elements in </a:t>
            </a:r>
            <a:r>
              <a:rPr kumimoji="1" lang="en-US" altLang="en-US" sz="1700" i="1" dirty="0"/>
              <a:t>A</a:t>
            </a:r>
            <a:r>
              <a:rPr kumimoji="1" lang="en-US" altLang="en-US" sz="1700" dirty="0"/>
              <a:t> and </a:t>
            </a:r>
            <a:r>
              <a:rPr kumimoji="1" lang="en-US" altLang="en-US" sz="1700" i="1" dirty="0"/>
              <a:t>B</a:t>
            </a:r>
            <a:r>
              <a:rPr kumimoji="1" lang="en-US" altLang="en-US" sz="1700" dirty="0"/>
              <a:t> may not be mapped to any </a:t>
            </a:r>
          </a:p>
          <a:p>
            <a:r>
              <a:rPr kumimoji="1" lang="en-US" altLang="en-US" sz="1700" dirty="0"/>
              <a:t>elements in the other set</a:t>
            </a:r>
          </a:p>
        </p:txBody>
      </p:sp>
      <p:pic>
        <p:nvPicPr>
          <p:cNvPr id="28678" name="Picture 7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1389379"/>
            <a:ext cx="5939028" cy="3025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131B0C-19E4-4A63-BF29-BB039C88E93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 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4921" y="4593781"/>
            <a:ext cx="168967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one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962206" y="4632452"/>
            <a:ext cx="160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many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507109" y="5126038"/>
            <a:ext cx="604518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en-US" sz="1700" dirty="0"/>
              <a:t>Note: Some elements in A and B may not be mapped to any </a:t>
            </a:r>
          </a:p>
          <a:p>
            <a:r>
              <a:rPr kumimoji="1" lang="en-US" altLang="en-US" sz="1700" dirty="0"/>
              <a:t>elements in the other set</a:t>
            </a:r>
          </a:p>
        </p:txBody>
      </p:sp>
      <p:pic>
        <p:nvPicPr>
          <p:cNvPr id="29702" name="Picture 7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277156"/>
            <a:ext cx="5851524" cy="3053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171FF3-63AB-41B5-B0A2-FC5B1E933C3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Cardinality Constraints in ER Diagram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475"/>
            <a:ext cx="7647681" cy="27447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We express cardinality constraints by drawing either a directed line (</a:t>
            </a:r>
            <a:r>
              <a:rPr lang="en-US" altLang="en-US" sz="1700" dirty="0">
                <a:sym typeface="Symbol" panose="05050102010706020507" pitchFamily="18" charset="2"/>
              </a:rPr>
              <a:t>), signifying “one,” or an undirected line (—), signifying “many,” between the relationship set and the entity set.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1700" dirty="0"/>
              <a:t>One-to-one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 </a:t>
            </a:r>
            <a:r>
              <a:rPr lang="en-US" altLang="en-US" sz="17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A student is associated with at most one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via the relationship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student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associated with at most one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department</a:t>
            </a:r>
            <a:r>
              <a:rPr lang="en-US" altLang="en-US" sz="1700" dirty="0">
                <a:ea typeface="ＭＳ Ｐゴシック" panose="020B0600070205080204" pitchFamily="34" charset="-128"/>
              </a:rPr>
              <a:t> via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stud_dept</a:t>
            </a:r>
            <a:endParaRPr lang="en-US" altLang="en-US" sz="1700" dirty="0">
              <a:ea typeface="ＭＳ Ｐゴシック" panose="020B0600070205080204" pitchFamily="34" charset="-128"/>
            </a:endParaRP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18"/>
          <a:stretch>
            <a:fillRect/>
          </a:stretch>
        </p:blipFill>
        <p:spPr bwMode="auto">
          <a:xfrm>
            <a:off x="2267712" y="3654347"/>
            <a:ext cx="5534851" cy="145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84CFEF-5B98-4A34-910C-283EB9B840B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One-to-Many Relationship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1" y="1087438"/>
            <a:ext cx="7643672" cy="1582610"/>
          </a:xfrm>
        </p:spPr>
        <p:txBody>
          <a:bodyPr/>
          <a:lstStyle/>
          <a:p>
            <a:r>
              <a:rPr lang="en-US" altLang="en-US" sz="1700" dirty="0"/>
              <a:t>one-to-many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 instructor is associated with several (including 0) students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 student is associated with at most one instructor via advisor, </a:t>
            </a:r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59" b="44698"/>
          <a:stretch>
            <a:fillRect/>
          </a:stretch>
        </p:blipFill>
        <p:spPr bwMode="auto">
          <a:xfrm>
            <a:off x="2340864" y="2372472"/>
            <a:ext cx="5152400" cy="149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A7C434-1F11-433B-B868-5B8C52821A1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852488" y="225425"/>
            <a:ext cx="8113712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Many-to-One Relationships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5724" y="1108012"/>
            <a:ext cx="7752101" cy="1814512"/>
          </a:xfrm>
        </p:spPr>
        <p:txBody>
          <a:bodyPr/>
          <a:lstStyle/>
          <a:p>
            <a:r>
              <a:rPr lang="en-US" altLang="en-US" sz="1700" dirty="0"/>
              <a:t>In a many-to-one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 instructor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associated with at most one student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and a student is associated with several (including 0) instructors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11A9D3-B35F-4D20-8A97-EE883DFF5759}"/>
              </a:ext>
            </a:extLst>
          </p:cNvPr>
          <p:cNvGrpSpPr/>
          <p:nvPr/>
        </p:nvGrpSpPr>
        <p:grpSpPr>
          <a:xfrm>
            <a:off x="1999869" y="2532454"/>
            <a:ext cx="5876163" cy="1814513"/>
            <a:chOff x="1999869" y="2532454"/>
            <a:chExt cx="5876163" cy="1814513"/>
          </a:xfrm>
        </p:grpSpPr>
        <p:pic>
          <p:nvPicPr>
            <p:cNvPr id="32772" name="Picture 5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164" b="6378"/>
            <a:stretch>
              <a:fillRect/>
            </a:stretch>
          </p:blipFill>
          <p:spPr bwMode="auto">
            <a:xfrm>
              <a:off x="1999869" y="2532454"/>
              <a:ext cx="5876163" cy="181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3" name="Line 6"/>
            <p:cNvSpPr>
              <a:spLocks noChangeShapeType="1"/>
            </p:cNvSpPr>
            <p:nvPr/>
          </p:nvSpPr>
          <p:spPr bwMode="auto">
            <a:xfrm>
              <a:off x="6361211" y="3472078"/>
              <a:ext cx="22860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D901F7-E18E-4092-8CEE-D775F0E83EE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Many-to-Many Relationship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772972" cy="1546225"/>
          </a:xfrm>
        </p:spPr>
        <p:txBody>
          <a:bodyPr/>
          <a:lstStyle/>
          <a:p>
            <a:r>
              <a:rPr lang="en-US" altLang="en-US" sz="1700" dirty="0"/>
              <a:t>An instructor is associated with several (possibly 0) students via </a:t>
            </a:r>
            <a:r>
              <a:rPr lang="en-US" altLang="en-US" sz="1700" i="1" dirty="0"/>
              <a:t>advisor</a:t>
            </a:r>
          </a:p>
          <a:p>
            <a:r>
              <a:rPr lang="en-US" altLang="en-US" sz="1700" dirty="0"/>
              <a:t>A student is associated with several (possibly 0) instructors via </a:t>
            </a:r>
            <a:r>
              <a:rPr lang="en-US" altLang="en-US" sz="1700" i="1" dirty="0"/>
              <a:t>advisor</a:t>
            </a:r>
            <a:r>
              <a:rPr lang="en-US" altLang="en-US" sz="1700" dirty="0"/>
              <a:t> </a:t>
            </a:r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34480"/>
            <a:ext cx="6161088" cy="1260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0AAD82A-5D5B-40A7-94DA-C76C720BA78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6988" y="233363"/>
            <a:ext cx="7427912" cy="45561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Total and Partial Participation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72357" y="1068642"/>
            <a:ext cx="7762043" cy="457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b="1" dirty="0"/>
              <a:t>Total participation </a:t>
            </a:r>
            <a:r>
              <a:rPr kumimoji="1" lang="en-US" altLang="en-US" sz="1700" dirty="0"/>
              <a:t>(indicated by double line):  every entity in the entity set participates in at least one relationship in the relationship set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altLang="en-US" sz="1700" dirty="0"/>
              <a:t>participation of </a:t>
            </a:r>
            <a:r>
              <a:rPr kumimoji="1" lang="en-US" altLang="en-US" sz="1700" i="1" dirty="0"/>
              <a:t>student  </a:t>
            </a:r>
            <a:r>
              <a:rPr kumimoji="1" lang="en-US" altLang="en-US" sz="1700" dirty="0"/>
              <a:t>in </a:t>
            </a:r>
            <a:r>
              <a:rPr kumimoji="1" lang="en-US" altLang="en-US" sz="1700" i="1" dirty="0"/>
              <a:t>advisor r</a:t>
            </a:r>
            <a:r>
              <a:rPr kumimoji="1" lang="en-US" altLang="en-US" sz="1700" dirty="0"/>
              <a:t>elation is total</a:t>
            </a:r>
          </a:p>
          <a:p>
            <a:pPr marL="1200150" lvl="2" indent="-342900">
              <a:spcBef>
                <a:spcPct val="35000"/>
              </a:spcBef>
              <a:buClr>
                <a:srgbClr val="33CC33"/>
              </a:buClr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 every </a:t>
            </a:r>
            <a:r>
              <a:rPr kumimoji="1" lang="en-US" altLang="en-US" sz="1700" i="1" dirty="0"/>
              <a:t>student </a:t>
            </a:r>
            <a:r>
              <a:rPr kumimoji="1" lang="en-US" altLang="en-US" sz="1700" dirty="0"/>
              <a:t>must have an associated instructor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b="1" dirty="0"/>
              <a:t>Partial participation</a:t>
            </a:r>
            <a:r>
              <a:rPr kumimoji="1" lang="en-US" altLang="en-US" sz="1700" dirty="0"/>
              <a:t>:  some entities may not participate in any relationship in the relationship set</a:t>
            </a:r>
          </a:p>
          <a:p>
            <a:pPr marL="800100" lvl="1" indent="-342900">
              <a:spcBef>
                <a:spcPct val="35000"/>
              </a:spcBef>
              <a:buClr>
                <a:schemeClr val="hlink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Example: participation of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 in </a:t>
            </a:r>
            <a:r>
              <a:rPr kumimoji="1" lang="en-US" altLang="en-US" sz="1700" i="1" dirty="0"/>
              <a:t>advisor</a:t>
            </a:r>
            <a:r>
              <a:rPr kumimoji="1" lang="en-US" altLang="en-US" sz="1700" dirty="0"/>
              <a:t> is partial</a:t>
            </a:r>
          </a:p>
        </p:txBody>
      </p:sp>
      <p:pic>
        <p:nvPicPr>
          <p:cNvPr id="504851" name="Picture 504850">
            <a:extLst>
              <a:ext uri="{FF2B5EF4-FFF2-40B4-BE49-F238E27FC236}">
                <a16:creationId xmlns:a16="http://schemas.microsoft.com/office/drawing/2014/main" id="{7AD8FC18-4D82-4ED5-AF97-0EC81F628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753" y="1836380"/>
            <a:ext cx="5985366" cy="11811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7BCFE4-7BE2-4D24-8AB3-C7558E9772FA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Notation for Expressing More Complex Constraints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0706" y="1106487"/>
            <a:ext cx="7895613" cy="519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A line may have an associated minimum and maximum cardinality, shown in the form </a:t>
            </a:r>
            <a:r>
              <a:rPr kumimoji="1" lang="en-US" altLang="en-US" sz="1700" i="1" dirty="0" err="1"/>
              <a:t>l..h</a:t>
            </a:r>
            <a:r>
              <a:rPr kumimoji="1" lang="en-US" altLang="en-US" sz="1700" dirty="0"/>
              <a:t>, where </a:t>
            </a:r>
            <a:r>
              <a:rPr kumimoji="1" lang="en-US" altLang="en-US" sz="1700" i="1" dirty="0"/>
              <a:t>l</a:t>
            </a:r>
            <a:r>
              <a:rPr kumimoji="1" lang="en-US" altLang="en-US" sz="1700" dirty="0"/>
              <a:t> is the minimum and </a:t>
            </a:r>
            <a:r>
              <a:rPr kumimoji="1" lang="en-US" altLang="en-US" sz="1700" i="1" dirty="0"/>
              <a:t>h</a:t>
            </a:r>
            <a:r>
              <a:rPr kumimoji="1" lang="en-US" altLang="en-US" sz="1700" dirty="0"/>
              <a:t> the maximum cardinality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minimum value of 1 indicates total participation.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maximum value of 1 indicates that the entity participates  in at most one relationship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maximum value of * indicates no limit.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Instructor can advise 0 or more students.  A student must have 1 advisor; cannot have multiple advisors</a:t>
            </a:r>
          </a:p>
          <a:p>
            <a:pPr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lang="en-IN" sz="1800" b="1" dirty="0"/>
              <a:t>An instructor may advise zero or many students (</a:t>
            </a:r>
            <a:r>
              <a:rPr lang="en-IN" b="1" dirty="0"/>
              <a:t>0..*</a:t>
            </a:r>
            <a:r>
              <a:rPr lang="en-IN" sz="1800" b="1" dirty="0"/>
              <a:t>), while every student must have exactly one advisor (</a:t>
            </a:r>
            <a:r>
              <a:rPr lang="en-IN" b="1" dirty="0"/>
              <a:t>1..1</a:t>
            </a:r>
            <a:r>
              <a:rPr lang="en-IN" sz="1800" b="1" dirty="0"/>
              <a:t>).</a:t>
            </a:r>
            <a:endParaRPr kumimoji="1" lang="en-US" altLang="en-US" sz="1700" b="1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57" y="3602833"/>
            <a:ext cx="5392484" cy="10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C6DFD9-7FC0-49F4-952D-5E315506DDB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222375"/>
            <a:ext cx="7647681" cy="3386201"/>
          </a:xfrm>
        </p:spPr>
        <p:txBody>
          <a:bodyPr/>
          <a:lstStyle/>
          <a:p>
            <a:r>
              <a:rPr lang="en-US" altLang="en-US" sz="1700" dirty="0"/>
              <a:t>Primary keys provide a way to specify how entities and  relations are distinguished.  We will consider: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Entity sets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Relationship sets.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Weak entity sets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D15450F-CD50-4228-93A1-517A01BC9FC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Entity Sets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7925"/>
            <a:ext cx="7534401" cy="3893947"/>
          </a:xfrm>
        </p:spPr>
        <p:txBody>
          <a:bodyPr/>
          <a:lstStyle/>
          <a:p>
            <a:pPr algn="just"/>
            <a:r>
              <a:rPr lang="en-US" altLang="en-US" sz="1700" dirty="0"/>
              <a:t>By definition, individual entities are distinct.</a:t>
            </a:r>
          </a:p>
          <a:p>
            <a:pPr algn="just"/>
            <a:r>
              <a:rPr lang="en-US" altLang="en-US" sz="1700" dirty="0"/>
              <a:t>From database perspective, the differences among them must be expressed in terms of their attributes.</a:t>
            </a:r>
          </a:p>
          <a:p>
            <a:pPr algn="just"/>
            <a:r>
              <a:rPr lang="en-US" altLang="en-US" sz="1700" dirty="0"/>
              <a:t>The values of the attribute values of an entity must be such that they can uniquely identify the entity.</a:t>
            </a:r>
          </a:p>
          <a:p>
            <a:pPr lvl="1" algn="just"/>
            <a:r>
              <a:rPr lang="en-US" altLang="en-US" sz="1700" dirty="0">
                <a:ea typeface="ＭＳ Ｐゴシック" panose="020B0600070205080204" pitchFamily="34" charset="-128"/>
              </a:rPr>
              <a:t>No two entities in an entity set are allowed to have exactly the same value for all attributes.</a:t>
            </a:r>
          </a:p>
          <a:p>
            <a:pPr algn="just"/>
            <a:r>
              <a:rPr lang="en-US" altLang="en-US" sz="1700" dirty="0"/>
              <a:t>A key for an entity is a set of attributes that suffice to distinguish entities from each other</a:t>
            </a:r>
          </a:p>
          <a:p>
            <a:pPr algn="just"/>
            <a:r>
              <a:rPr lang="en-IN" b="1" dirty="0"/>
              <a:t>A key is an attribute or set of attributes whose values are sufficient to uniquely distinguish one entity from every other entity in the entity set.</a:t>
            </a:r>
            <a:endParaRPr lang="en-US" altLang="en-US" sz="17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0B272E9-6B86-466C-89CA-04C4FFF714A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Relationship Sets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857"/>
            <a:ext cx="7665436" cy="4462272"/>
          </a:xfrm>
        </p:spPr>
        <p:txBody>
          <a:bodyPr/>
          <a:lstStyle/>
          <a:p>
            <a:r>
              <a:rPr lang="en-US" altLang="en-US" sz="1700" dirty="0"/>
              <a:t>To distinguish among the various relationships of a relationship set we use the individual  primary keys of the entities in the relationship set.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Let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700" dirty="0">
                <a:ea typeface="ＭＳ Ｐゴシック" panose="020B0600070205080204" pitchFamily="34" charset="-128"/>
              </a:rPr>
              <a:t> be a relationship set involving entity sets E1, E2, .. 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En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The primary key for R is consists of the  union of the primary keys of entity sets E1, E2, ..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En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If the relationship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700" dirty="0">
                <a:ea typeface="ＭＳ Ｐゴシック" panose="020B0600070205080204" pitchFamily="34" charset="-128"/>
              </a:rPr>
              <a:t> has attributes  a1, a2, .., am associated with it, then the  primary key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  </a:t>
            </a:r>
            <a:r>
              <a:rPr lang="en-US" altLang="en-US" sz="1700" dirty="0">
                <a:ea typeface="ＭＳ Ｐゴシック" panose="020B0600070205080204" pitchFamily="34" charset="-128"/>
              </a:rPr>
              <a:t>also includes the attributes  a1, a2, .., am </a:t>
            </a:r>
          </a:p>
          <a:p>
            <a:r>
              <a:rPr lang="en-US" altLang="en-US" sz="1700" dirty="0"/>
              <a:t>Example: relationship set “advisor”.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The primary key  consists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instructor.ID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s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tudent.ID</a:t>
            </a:r>
          </a:p>
          <a:p>
            <a:r>
              <a:rPr lang="en-US" altLang="en-US" sz="1700" dirty="0"/>
              <a:t>The choice of the primary key for a relationship set depends on  the mapping cardinality of the relationship set.</a:t>
            </a:r>
          </a:p>
          <a:p>
            <a:pPr algn="just"/>
            <a:r>
              <a:rPr lang="en-IN" b="1" dirty="0"/>
              <a:t>A relationship is identified using the primary keys of its participating entities, and the minimum set actually needed depends on the relationship's mapping cardinality.</a:t>
            </a:r>
            <a:endParaRPr lang="en-US" altLang="en-US" sz="17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7133808-BDE8-4C4B-BE46-AB5DFF7F916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5123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Primary key for Binary Relationship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93869"/>
            <a:ext cx="7741328" cy="5096060"/>
          </a:xfrm>
        </p:spPr>
        <p:txBody>
          <a:bodyPr/>
          <a:lstStyle/>
          <a:p>
            <a:r>
              <a:rPr lang="en-US" altLang="en-US" sz="1700" dirty="0"/>
              <a:t>Many-to-Many relationships.   The preceding union of the primary keys is a minimal superkey and is chosen  as the primary key.</a:t>
            </a:r>
          </a:p>
          <a:p>
            <a:r>
              <a:rPr lang="en-US" altLang="en-US" sz="1700" dirty="0"/>
              <a:t>One-to-Many relationships . The primary key of the “Many” side is a minimal superkey and is used as the primary key.</a:t>
            </a:r>
          </a:p>
          <a:p>
            <a:r>
              <a:rPr lang="en-US" altLang="en-US" sz="1700" dirty="0"/>
              <a:t>Many-to-one relationships. The primary key of the “Many” side is a minimal superkey and is used as the primary key.</a:t>
            </a:r>
          </a:p>
          <a:p>
            <a:r>
              <a:rPr lang="en-US" altLang="en-US" sz="1700" dirty="0"/>
              <a:t>One-to-one relationships. The primary key of either one of the participating entity sets forms a minimal superkey, and either one can be chosen as the primary key.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7992AA-4E72-44C7-8240-7058EF6CCDF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89371"/>
            <a:ext cx="7629925" cy="4138533"/>
          </a:xfrm>
        </p:spPr>
        <p:txBody>
          <a:bodyPr/>
          <a:lstStyle/>
          <a:p>
            <a:r>
              <a:rPr lang="en-US" altLang="en-US" sz="1700" dirty="0"/>
              <a:t>Consider a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entity, which is uniquely identified by a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semester, year</a:t>
            </a:r>
            <a:r>
              <a:rPr lang="en-US" altLang="en-US" sz="1700" dirty="0"/>
              <a:t>, and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Clearly, section entities are related to course entities. Suppose we create a relationship set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between entity sets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Note that the information in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is redundant, since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already has an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which identifies the course with which the section is related. </a:t>
            </a:r>
          </a:p>
          <a:p>
            <a:r>
              <a:rPr lang="en-US" altLang="en-US" sz="1700" dirty="0"/>
              <a:t>One option to deal with this redundancy is to get rid of the relationship </a:t>
            </a:r>
            <a:r>
              <a:rPr lang="en-US" altLang="en-US" sz="1700" dirty="0" err="1"/>
              <a:t>s</a:t>
            </a:r>
            <a:r>
              <a:rPr lang="en-US" altLang="en-US" sz="1700" i="1" dirty="0" err="1"/>
              <a:t>ec_course</a:t>
            </a:r>
            <a:r>
              <a:rPr lang="en-US" altLang="en-US" sz="1700" dirty="0"/>
              <a:t>;  however, by doing so the relationship between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becomes implicit in an attribute, which is not desirable.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D73449-60D4-4B06-B02E-221FA5D7001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56443"/>
            <a:ext cx="7668514" cy="5042732"/>
          </a:xfrm>
        </p:spPr>
        <p:txBody>
          <a:bodyPr/>
          <a:lstStyle/>
          <a:p>
            <a:r>
              <a:rPr lang="en-US" altLang="en-US" sz="1700" dirty="0"/>
              <a:t>An alternative way to deal with this redundancy is to not store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in the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entity and to only store the remaining attributes </a:t>
            </a:r>
            <a:r>
              <a:rPr lang="en-US" altLang="en-US" sz="1700" i="1" dirty="0" err="1"/>
              <a:t>section_id</a:t>
            </a:r>
            <a:r>
              <a:rPr lang="en-US" altLang="en-US" sz="1700" dirty="0"/>
              <a:t>,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, and </a:t>
            </a:r>
            <a:r>
              <a:rPr lang="en-US" altLang="en-US" sz="1700" i="1" dirty="0"/>
              <a:t>semester.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However, the entity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section</a:t>
            </a:r>
            <a:r>
              <a:rPr lang="en-US" altLang="en-US" sz="1700" dirty="0">
                <a:ea typeface="ＭＳ Ｐゴシック" panose="020B0600070205080204" pitchFamily="34" charset="-128"/>
              </a:rPr>
              <a:t> then does not have enough attributes to identify a particular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section</a:t>
            </a:r>
            <a:r>
              <a:rPr lang="en-US" altLang="en-US" sz="1700" dirty="0">
                <a:ea typeface="ＭＳ Ｐゴシック" panose="020B0600070205080204" pitchFamily="34" charset="-128"/>
              </a:rPr>
              <a:t> entity uniquely</a:t>
            </a:r>
          </a:p>
          <a:p>
            <a:r>
              <a:rPr lang="en-US" altLang="en-US" sz="1700" dirty="0"/>
              <a:t>To deal with this problem, we treat the relationship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 as a special relationship that provides extra information, in this case, the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required to identify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 entities uniquely.</a:t>
            </a:r>
          </a:p>
          <a:p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weak entity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one whose existence is dependent on another entity, called its </a:t>
            </a:r>
            <a:r>
              <a:rPr lang="en-US" altLang="en-US" sz="1700" b="1" dirty="0">
                <a:solidFill>
                  <a:srgbClr val="002060"/>
                </a:solidFill>
              </a:rPr>
              <a:t>identifying entity</a:t>
            </a:r>
            <a:endParaRPr lang="en-US" altLang="en-US" sz="1700" dirty="0">
              <a:solidFill>
                <a:srgbClr val="002060"/>
              </a:solidFill>
            </a:endParaRPr>
          </a:p>
          <a:p>
            <a:r>
              <a:rPr lang="en-US" altLang="en-US" sz="1700" dirty="0"/>
              <a:t>Instead of associating a primary key with a weak entity, we use the identifying entity, along with extra attributes called </a:t>
            </a:r>
            <a:r>
              <a:rPr lang="en-US" altLang="en-US" sz="1700" b="1" dirty="0">
                <a:solidFill>
                  <a:srgbClr val="002060"/>
                </a:solidFill>
              </a:rPr>
              <a:t>discriminator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to uniquely identify a weak entity.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C3A8C8-1BA7-4535-808C-0989B0B796D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8415"/>
            <a:ext cx="7534402" cy="4630593"/>
          </a:xfrm>
        </p:spPr>
        <p:txBody>
          <a:bodyPr/>
          <a:lstStyle/>
          <a:p>
            <a:r>
              <a:rPr lang="en-US" altLang="en-US" sz="1700" dirty="0"/>
              <a:t>An entity set that is not a weak entity set is termed a </a:t>
            </a:r>
            <a:r>
              <a:rPr lang="en-US" altLang="en-US" sz="1700" b="1" dirty="0">
                <a:solidFill>
                  <a:srgbClr val="002060"/>
                </a:solidFill>
              </a:rPr>
              <a:t>strong entity set</a:t>
            </a:r>
            <a:r>
              <a:rPr lang="en-US" altLang="en-US" sz="1700" dirty="0">
                <a:solidFill>
                  <a:srgbClr val="000099"/>
                </a:solidFill>
              </a:rPr>
              <a:t>.</a:t>
            </a:r>
          </a:p>
          <a:p>
            <a:r>
              <a:rPr lang="en-US" altLang="en-US" sz="1700" dirty="0"/>
              <a:t>Every weak entity must be associated with an identifying entity; that is, the weak entity set is said to be </a:t>
            </a:r>
            <a:r>
              <a:rPr lang="en-US" altLang="en-US" sz="1700" b="1" dirty="0">
                <a:solidFill>
                  <a:srgbClr val="002060"/>
                </a:solidFill>
              </a:rPr>
              <a:t>existence dependent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on the identifying entity set. </a:t>
            </a:r>
          </a:p>
          <a:p>
            <a:r>
              <a:rPr lang="en-US" altLang="en-US" sz="1700" dirty="0"/>
              <a:t>The identifying entity set is said to </a:t>
            </a:r>
            <a:r>
              <a:rPr lang="en-US" altLang="en-US" sz="1700" b="1" dirty="0">
                <a:solidFill>
                  <a:srgbClr val="002060"/>
                </a:solidFill>
              </a:rPr>
              <a:t>own</a:t>
            </a:r>
            <a:r>
              <a:rPr lang="en-US" altLang="en-US" sz="1700" dirty="0"/>
              <a:t> the weak entity set that it identifies. </a:t>
            </a:r>
          </a:p>
          <a:p>
            <a:r>
              <a:rPr lang="en-US" altLang="en-US" sz="1700" dirty="0"/>
              <a:t>The relationship associating the weak entity set with the identifying entity set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identifying relationship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Note that the relational schema we eventually create from the entity set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does have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for reasons that will become clear later, even though we have dropped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from the entity set </a:t>
            </a:r>
            <a:r>
              <a:rPr lang="en-US" altLang="en-US" sz="1700" i="1" dirty="0"/>
              <a:t>section.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7B4A19-FF1C-465B-95AB-C7FE48D7DDD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57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Expressing Weak Entity Sets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42557"/>
            <a:ext cx="7411789" cy="2222436"/>
          </a:xfrm>
        </p:spPr>
        <p:txBody>
          <a:bodyPr/>
          <a:lstStyle/>
          <a:p>
            <a:r>
              <a:rPr lang="en-US" altLang="en-US" sz="1700" dirty="0"/>
              <a:t>In E-R diagrams, a weak entity set is depicted via a double rectangle.</a:t>
            </a:r>
          </a:p>
          <a:p>
            <a:r>
              <a:rPr lang="en-US" altLang="en-US" sz="1700" dirty="0"/>
              <a:t>We underline the discriminator of a weak entity set  with a dashed line.</a:t>
            </a:r>
          </a:p>
          <a:p>
            <a:r>
              <a:rPr lang="en-US" altLang="en-US" sz="1700" dirty="0"/>
              <a:t>The relationship set connecting the  weak entity set to the identifying strong entity set is depicted by a double diamond. </a:t>
            </a:r>
          </a:p>
          <a:p>
            <a:r>
              <a:rPr lang="en-US" altLang="en-US" sz="1700" dirty="0"/>
              <a:t>Primary key for </a:t>
            </a:r>
            <a:r>
              <a:rPr lang="en-US" altLang="en-US" sz="1700" i="1" dirty="0"/>
              <a:t>section </a:t>
            </a:r>
            <a:r>
              <a:rPr lang="en-US" altLang="en-US" sz="1700" dirty="0"/>
              <a:t>– 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2000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AEF5BF-475C-4A31-832E-515CEDA7E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965" y="3429000"/>
            <a:ext cx="6591616" cy="135128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FE1A20F-926A-46D5-878A-CC8BCEA5D0C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Redundant Attributes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5145"/>
            <a:ext cx="7594415" cy="3313975"/>
          </a:xfrm>
        </p:spPr>
        <p:txBody>
          <a:bodyPr/>
          <a:lstStyle/>
          <a:p>
            <a:r>
              <a:rPr lang="en-US" altLang="en-US" sz="1700" dirty="0"/>
              <a:t>Suppose we have entity sets:</a:t>
            </a:r>
          </a:p>
          <a:p>
            <a:pPr lvl="1"/>
            <a:r>
              <a:rPr lang="en-US" altLang="en-US" sz="1700" i="1" dirty="0">
                <a:ea typeface="ＭＳ Ｐゴシック" panose="020B0600070205080204" pitchFamily="34" charset="-128"/>
              </a:rPr>
              <a:t>student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with attributes: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ID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tot_cred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dept_name</a:t>
            </a:r>
          </a:p>
          <a:p>
            <a:pPr lvl="1"/>
            <a:r>
              <a:rPr lang="en-US" altLang="en-US" sz="1700" i="1" dirty="0">
                <a:ea typeface="ＭＳ Ｐゴシック" panose="020B0600070205080204" pitchFamily="34" charset="-128"/>
              </a:rPr>
              <a:t>department, </a:t>
            </a:r>
            <a:r>
              <a:rPr lang="en-US" altLang="en-US" sz="1700" dirty="0">
                <a:ea typeface="ＭＳ Ｐゴシック" panose="020B0600070205080204" pitchFamily="34" charset="-128"/>
              </a:rPr>
              <a:t>with attributes: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building, budget</a:t>
            </a:r>
          </a:p>
          <a:p>
            <a:r>
              <a:rPr lang="en-US" altLang="en-US" sz="1700" dirty="0"/>
              <a:t>We model the fact that each student has an associated department</a:t>
            </a:r>
            <a:r>
              <a:rPr lang="en-US" altLang="en-US" sz="1700" i="1" dirty="0"/>
              <a:t> </a:t>
            </a:r>
            <a:r>
              <a:rPr lang="en-US" altLang="en-US" sz="1700" dirty="0"/>
              <a:t>using a relationship set </a:t>
            </a:r>
            <a:r>
              <a:rPr lang="en-US" altLang="en-US" i="1" dirty="0" err="1"/>
              <a:t>stud</a:t>
            </a:r>
            <a:r>
              <a:rPr lang="en-US" altLang="en-US" sz="1700" i="1" dirty="0" err="1"/>
              <a:t>_dept</a:t>
            </a:r>
            <a:endParaRPr lang="en-US" altLang="en-US" sz="1700" i="1" dirty="0"/>
          </a:p>
          <a:p>
            <a:r>
              <a:rPr lang="en-US" altLang="en-US" sz="1700" dirty="0"/>
              <a:t>The attribute </a:t>
            </a:r>
            <a:r>
              <a:rPr lang="en-US" altLang="en-US" sz="1700" i="1" dirty="0"/>
              <a:t>dept_name </a:t>
            </a:r>
            <a:r>
              <a:rPr lang="en-US" altLang="en-US" sz="1700" dirty="0"/>
              <a:t>in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below replicates information present in the relationship and is therefore  redundant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and needs to be removed.</a:t>
            </a:r>
          </a:p>
          <a:p>
            <a:r>
              <a:rPr lang="en-US" altLang="en-US" sz="1700" dirty="0"/>
              <a:t>BUT: when converting back to tables, in some cases the attribute gets reintroduced, as we will see later.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DC5132-C467-4720-85B4-2A9134371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79" y="4655471"/>
            <a:ext cx="5560258" cy="208505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3C57B-A0A6-425B-ABE4-183F329F79F4}"/>
              </a:ext>
            </a:extLst>
          </p:cNvPr>
          <p:cNvCxnSpPr/>
          <p:nvPr/>
        </p:nvCxnSpPr>
        <p:spPr bwMode="auto">
          <a:xfrm>
            <a:off x="2006599" y="6075680"/>
            <a:ext cx="92456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F9C4E9B-3D94-4F2A-98AF-58F41B64941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Diagram for a University Enterprise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2F3C4F-CF32-4104-A221-A27D4040C2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934"/>
          <a:stretch/>
        </p:blipFill>
        <p:spPr>
          <a:xfrm>
            <a:off x="1247095" y="863601"/>
            <a:ext cx="6464227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57B4C2C-4A96-44B1-9B21-040C9858EAC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24399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431AD14-9CAC-4B27-9ABE-33EDDFE6F28A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1143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8167" y="1130365"/>
            <a:ext cx="7563231" cy="3917124"/>
          </a:xfrm>
        </p:spPr>
        <p:txBody>
          <a:bodyPr/>
          <a:lstStyle/>
          <a:p>
            <a:r>
              <a:rPr lang="en-US" altLang="en-US" sz="1700" dirty="0"/>
              <a:t>Entity sets and relationship sets can be expressed uniformly as </a:t>
            </a:r>
            <a:r>
              <a:rPr lang="en-US" altLang="en-US" sz="1700" i="1" dirty="0"/>
              <a:t>relation schemas </a:t>
            </a:r>
            <a:r>
              <a:rPr lang="en-US" altLang="en-US" sz="1700" dirty="0"/>
              <a:t>that represent the contents of the database.</a:t>
            </a:r>
          </a:p>
          <a:p>
            <a:r>
              <a:rPr lang="en-US" altLang="en-US" sz="1700" dirty="0"/>
              <a:t>A database which conforms to an E-R diagram can be represented by a collection of schemas.</a:t>
            </a:r>
          </a:p>
          <a:p>
            <a:r>
              <a:rPr lang="en-US" altLang="en-US" sz="1700" dirty="0"/>
              <a:t>For each entity set and relationship set there is a unique schema that is assigned the name of the corresponding entity set or relationship set.</a:t>
            </a:r>
          </a:p>
          <a:p>
            <a:r>
              <a:rPr lang="en-US" altLang="en-US" sz="1700" dirty="0"/>
              <a:t>Each schema has a number of columns (generally corresponding to attributes), which have unique names.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2604BBA-5A1B-425B-BBBF-E447F1A4D69A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413"/>
            <a:ext cx="7612063" cy="2528887"/>
          </a:xfrm>
        </p:spPr>
        <p:txBody>
          <a:bodyPr/>
          <a:lstStyle/>
          <a:p>
            <a:r>
              <a:rPr lang="en-US" altLang="en-US" sz="1700" dirty="0"/>
              <a:t>A strong entity set reduces to a schema with the same attributes</a:t>
            </a:r>
          </a:p>
          <a:p>
            <a:pPr>
              <a:buFont typeface="Monotype Sorts" charset="2"/>
              <a:buNone/>
            </a:pPr>
            <a:br>
              <a:rPr lang="en-US" altLang="en-US" sz="1700" dirty="0"/>
            </a:br>
            <a:r>
              <a:rPr lang="en-US" altLang="en-US" sz="1700" dirty="0"/>
              <a:t>            </a:t>
            </a:r>
            <a:r>
              <a:rPr lang="en-US" altLang="en-US" sz="1700" i="1" dirty="0"/>
              <a:t>student(</a:t>
            </a:r>
            <a:r>
              <a:rPr lang="en-US" altLang="en-US" sz="1700" i="1" u="sng" dirty="0"/>
              <a:t>ID</a:t>
            </a:r>
            <a:r>
              <a:rPr lang="en-US" altLang="en-US" sz="1700" i="1" dirty="0"/>
              <a:t>, name, </a:t>
            </a:r>
            <a:r>
              <a:rPr lang="en-US" altLang="en-US" sz="1700" i="1" dirty="0" err="1"/>
              <a:t>tot_cred</a:t>
            </a:r>
            <a:r>
              <a:rPr lang="en-US" altLang="en-US" sz="1700" i="1" dirty="0"/>
              <a:t>)</a:t>
            </a:r>
          </a:p>
          <a:p>
            <a:pPr>
              <a:buFont typeface="Monotype Sorts" charset="2"/>
              <a:buNone/>
            </a:pPr>
            <a:endParaRPr lang="en-US" altLang="en-US" sz="800" dirty="0"/>
          </a:p>
          <a:p>
            <a:r>
              <a:rPr lang="en-US" altLang="en-US" sz="1700" dirty="0"/>
              <a:t>A weak entity set becomes a table that includes a column for the primary key of the identifying strong entity set 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</a:t>
            </a:r>
            <a:r>
              <a:rPr lang="en-US" altLang="en-US" sz="1700" i="1" dirty="0"/>
              <a:t>section ( </a:t>
            </a:r>
            <a:r>
              <a:rPr lang="en-US" altLang="en-US" sz="1700" i="1" u="sng" dirty="0" err="1"/>
              <a:t>course_id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sec_id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sem</a:t>
            </a:r>
            <a:r>
              <a:rPr lang="en-US" altLang="en-US" sz="1700" i="1" u="sng" dirty="0"/>
              <a:t>, year</a:t>
            </a:r>
            <a:r>
              <a:rPr lang="en-US" altLang="en-US" sz="1700" i="1" dirty="0"/>
              <a:t>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07854-753C-77F8-4B6E-E61DA3E51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29" y="3887629"/>
            <a:ext cx="6820491" cy="182895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752CFA-C0EB-4F40-9218-876595694A0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3113" y="-11113"/>
            <a:ext cx="8370887" cy="609601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Composite Attributes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49563" y="1104900"/>
            <a:ext cx="6026150" cy="50974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Composite attributes are flattened out by creating a separate attribute for each component attribute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Example: given entity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with composite attribute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with component attributes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and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last_name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the schema corresponding to the entity set has two attributes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name_first_name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 and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name_last_name</a:t>
            </a:r>
            <a:endParaRPr lang="en-US" altLang="en-US" sz="1700" i="1" dirty="0">
              <a:ea typeface="ＭＳ Ｐゴシック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Prefix omitted if there is no ambiguity (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could be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)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Ignoring multivalued attributes, extended instructor schema is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i="1" dirty="0">
                <a:ea typeface="ＭＳ Ｐゴシック" panose="020B0600070205080204" pitchFamily="34" charset="-128"/>
              </a:rPr>
              <a:t>instructor(ID,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middle_initial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last_name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street_number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street_name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apt_number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city, state,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zip_code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date_of_birth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)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27" y="1414272"/>
            <a:ext cx="1963786" cy="41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677EE1-E8DB-4D68-A10F-B4FE5C51B6C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0593" y="47625"/>
            <a:ext cx="8537575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Multivalued Attributes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205115"/>
            <a:ext cx="7518204" cy="48177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A multivalued attribute </a:t>
            </a:r>
            <a:r>
              <a:rPr lang="en-US" altLang="en-US" sz="1700" i="1" dirty="0"/>
              <a:t>M</a:t>
            </a:r>
            <a:r>
              <a:rPr lang="en-US" altLang="en-US" sz="1700" dirty="0"/>
              <a:t> of an entity </a:t>
            </a:r>
            <a:r>
              <a:rPr lang="en-US" altLang="en-US" sz="1700" i="1" dirty="0"/>
              <a:t>E</a:t>
            </a:r>
            <a:r>
              <a:rPr lang="en-US" altLang="en-US" sz="1700" dirty="0"/>
              <a:t> is represented by a separate schema </a:t>
            </a:r>
            <a:r>
              <a:rPr lang="en-US" altLang="en-US" sz="1700" i="1" dirty="0"/>
              <a:t>EM</a:t>
            </a:r>
            <a:endParaRPr lang="en-US" alt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Schema </a:t>
            </a:r>
            <a:r>
              <a:rPr lang="en-US" altLang="en-US" sz="1700" i="1" dirty="0"/>
              <a:t>EM</a:t>
            </a:r>
            <a:r>
              <a:rPr lang="en-US" altLang="en-US" sz="1700" dirty="0"/>
              <a:t> has attributes corresponding to the primary key of </a:t>
            </a:r>
            <a:r>
              <a:rPr lang="en-US" altLang="en-US" sz="1700" i="1" dirty="0"/>
              <a:t>E</a:t>
            </a:r>
            <a:r>
              <a:rPr lang="en-US" altLang="en-US" sz="1700" dirty="0"/>
              <a:t> and an attribute corresponding to multivalued attribute </a:t>
            </a:r>
            <a:r>
              <a:rPr lang="en-US" altLang="en-US" sz="1700" i="1" dirty="0"/>
              <a:t>M</a:t>
            </a:r>
            <a:endParaRPr lang="en-US" alt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Example:  Multivalued attribute </a:t>
            </a:r>
            <a:r>
              <a:rPr lang="en-US" altLang="en-US" sz="1700" i="1" dirty="0" err="1"/>
              <a:t>phone_number</a:t>
            </a:r>
            <a:r>
              <a:rPr lang="en-US" altLang="en-US" sz="1700" i="1" dirty="0"/>
              <a:t> </a:t>
            </a:r>
            <a:r>
              <a:rPr lang="en-US" altLang="en-US" sz="1700" dirty="0"/>
              <a:t>of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is represented by a schema:</a:t>
            </a:r>
            <a:br>
              <a:rPr lang="en-US" altLang="en-US" sz="1700" dirty="0"/>
            </a:br>
            <a:r>
              <a:rPr lang="en-US" altLang="en-US" sz="1700" dirty="0"/>
              <a:t>    </a:t>
            </a:r>
            <a:r>
              <a:rPr lang="en-US" altLang="en-US" sz="1700" i="1" dirty="0" err="1"/>
              <a:t>inst_phone</a:t>
            </a:r>
            <a:r>
              <a:rPr lang="en-US" altLang="en-US" sz="1700" i="1" dirty="0"/>
              <a:t>= </a:t>
            </a:r>
            <a:r>
              <a:rPr lang="en-US" altLang="en-US" sz="1700" dirty="0"/>
              <a:t>(</a:t>
            </a:r>
            <a:r>
              <a:rPr lang="en-US" altLang="en-US" sz="1700" i="1" dirty="0"/>
              <a:t> </a:t>
            </a:r>
            <a:r>
              <a:rPr lang="en-US" altLang="en-US" sz="1700" i="1" u="sng" dirty="0"/>
              <a:t>ID</a:t>
            </a:r>
            <a:r>
              <a:rPr lang="en-US" altLang="en-US" sz="1700" i="1" dirty="0"/>
              <a:t>, </a:t>
            </a:r>
            <a:r>
              <a:rPr lang="en-US" altLang="en-US" sz="1700" i="1" u="sng" dirty="0" err="1"/>
              <a:t>phone_number</a:t>
            </a:r>
            <a:r>
              <a:rPr lang="en-US" altLang="en-US" sz="1700" dirty="0"/>
              <a:t>)</a:t>
            </a:r>
            <a:r>
              <a:rPr lang="en-US" altLang="en-US" sz="1700" i="1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Each value of the multivalued attribute maps to a separate tuple of the relation on schema </a:t>
            </a:r>
            <a:r>
              <a:rPr lang="en-US" altLang="en-US" sz="1700" i="1" dirty="0"/>
              <a:t>EM</a:t>
            </a:r>
            <a:endParaRPr lang="en-US" altLang="en-US" sz="17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For example,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entity with primary key  22222 and phone numbers 456-7890 and 123-4567 maps to two tuples:   </a:t>
            </a:r>
            <a:br>
              <a:rPr lang="en-US" altLang="en-US" sz="1700" dirty="0">
                <a:ea typeface="ＭＳ Ｐゴシック" panose="020B0600070205080204" pitchFamily="34" charset="-128"/>
              </a:rPr>
            </a:br>
            <a:r>
              <a:rPr lang="en-US" altLang="en-US" sz="1700" dirty="0">
                <a:ea typeface="ＭＳ Ｐゴシック" panose="020B0600070205080204" pitchFamily="34" charset="-128"/>
              </a:rPr>
              <a:t>   (22222, 456-7890) and (22222, 123-4567)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55F7536-BC6B-4913-B44A-500E7608634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96838"/>
            <a:ext cx="8429625" cy="60325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Sets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603" y="1189038"/>
            <a:ext cx="7523766" cy="1932114"/>
          </a:xfrm>
        </p:spPr>
        <p:txBody>
          <a:bodyPr/>
          <a:lstStyle/>
          <a:p>
            <a:r>
              <a:rPr lang="en-US" altLang="en-US" sz="1700" dirty="0"/>
              <a:t>A many-to-many relationship set is represented as a schema with attributes for the primary keys of the two participating entity sets, and any descriptive attributes of the relationship set. </a:t>
            </a:r>
          </a:p>
          <a:p>
            <a:r>
              <a:rPr lang="en-US" altLang="en-US" sz="1700" dirty="0"/>
              <a:t>Example: schema for relationship set </a:t>
            </a:r>
            <a:r>
              <a:rPr lang="en-US" altLang="en-US" sz="1700" i="1" dirty="0"/>
              <a:t>advisor</a:t>
            </a:r>
          </a:p>
          <a:p>
            <a:pPr>
              <a:buFont typeface="Monotype Sorts" charset="2"/>
              <a:buNone/>
            </a:pPr>
            <a:endParaRPr lang="en-US" altLang="en-US" sz="1700" i="1" dirty="0"/>
          </a:p>
          <a:p>
            <a:pPr>
              <a:buFont typeface="Monotype Sorts" charset="2"/>
              <a:buNone/>
            </a:pPr>
            <a:r>
              <a:rPr lang="en-US" altLang="en-US" sz="1700" dirty="0"/>
              <a:t>	         </a:t>
            </a:r>
            <a:r>
              <a:rPr lang="en-US" altLang="en-US" sz="1700" i="1" dirty="0"/>
              <a:t>advisor = </a:t>
            </a:r>
            <a:r>
              <a:rPr lang="en-US" altLang="en-US" sz="1700" dirty="0"/>
              <a:t>(</a:t>
            </a:r>
            <a:r>
              <a:rPr lang="en-US" altLang="en-US" sz="1700" i="1" u="sng" dirty="0" err="1"/>
              <a:t>s_id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i_id</a:t>
            </a:r>
            <a:r>
              <a:rPr lang="en-US" altLang="en-US" sz="1700" dirty="0"/>
              <a:t>)</a:t>
            </a:r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auto">
          <a:xfrm rot="-372694">
            <a:off x="2216150" y="3624263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911" y="3467594"/>
            <a:ext cx="5592445" cy="114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4510CF-E01A-48DE-9D75-D2621C2E4C1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</a:t>
            </a: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768350" y="1237997"/>
            <a:ext cx="7729474" cy="203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Many-to-one and one-to-many relationship sets that are total on the many-side can be represented by adding an extra attribute to the “many” side, containing the primary key of the “one” side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Example: Instead of creating a schema for relationship set </a:t>
            </a:r>
            <a:r>
              <a:rPr kumimoji="1" lang="en-US" altLang="en-US" sz="1700" i="1" dirty="0" err="1"/>
              <a:t>inst_dept</a:t>
            </a:r>
            <a:r>
              <a:rPr kumimoji="1" lang="en-US" altLang="en-US" sz="1700" dirty="0"/>
              <a:t>, add an attribute </a:t>
            </a:r>
            <a:r>
              <a:rPr kumimoji="1" lang="en-US" altLang="en-US" sz="1700" i="1" dirty="0"/>
              <a:t>dept_name</a:t>
            </a:r>
            <a:r>
              <a:rPr kumimoji="1" lang="en-US" altLang="en-US" sz="1700" dirty="0"/>
              <a:t> to the schema arising from entity set </a:t>
            </a:r>
            <a:r>
              <a:rPr kumimoji="1" lang="en-US" altLang="en-US" sz="1700" i="1" dirty="0"/>
              <a:t>instructor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</a:t>
            </a:r>
          </a:p>
        </p:txBody>
      </p:sp>
      <p:sp>
        <p:nvSpPr>
          <p:cNvPr id="55300" name="Rectangle 6"/>
          <p:cNvSpPr>
            <a:spLocks noChangeArrowheads="1"/>
          </p:cNvSpPr>
          <p:nvPr/>
        </p:nvSpPr>
        <p:spPr bwMode="auto">
          <a:xfrm rot="-372694">
            <a:off x="1692275" y="3449638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452880" y="3243072"/>
            <a:ext cx="6317679" cy="2578608"/>
            <a:chOff x="0" y="1413"/>
            <a:chExt cx="5483" cy="2545"/>
          </a:xfrm>
        </p:grpSpPr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2" t="423" r="7481" b="61655"/>
            <a:stretch>
              <a:fillRect/>
            </a:stretch>
          </p:blipFill>
          <p:spPr bwMode="auto">
            <a:xfrm>
              <a:off x="175" y="1413"/>
              <a:ext cx="5308" cy="2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3" name="Rectangle 11"/>
            <p:cNvSpPr>
              <a:spLocks noChangeArrowheads="1"/>
            </p:cNvSpPr>
            <p:nvPr/>
          </p:nvSpPr>
          <p:spPr bwMode="auto">
            <a:xfrm>
              <a:off x="0" y="1500"/>
              <a:ext cx="1956" cy="4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04" name="Rectangle 12"/>
            <p:cNvSpPr>
              <a:spLocks noChangeArrowheads="1"/>
            </p:cNvSpPr>
            <p:nvPr/>
          </p:nvSpPr>
          <p:spPr bwMode="auto">
            <a:xfrm>
              <a:off x="1920" y="1690"/>
              <a:ext cx="374" cy="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F303-5E76-CDDF-8235-A0B23AA1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187A5F-B8A8-610D-2ED4-3B837E72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227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C76CA3E-8E5B-4E32-8319-D6101395F8ED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03706"/>
            <a:ext cx="7558904" cy="285623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For one-to-one relationship sets, either side can be chosen to act as the “many” side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That is, an extra attribute can be added to either of the tables corresponding to the two entity sets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If participation is </a:t>
            </a:r>
            <a:r>
              <a:rPr lang="en-US" altLang="en-US" sz="1700" i="1" dirty="0"/>
              <a:t>partial</a:t>
            </a:r>
            <a:r>
              <a:rPr lang="en-US" altLang="en-US" sz="1700" dirty="0"/>
              <a:t> on the “many” side, replacing a schema by an extra attribute in the schema corresponding to the “many” side could result in null values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1B14CE7-7739-4499-9091-0388D54C416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22375"/>
            <a:ext cx="7621047" cy="1545209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The schema corresponding to a relationship set linking a weak entity set to its identifying strong entity set is redundant.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Example: The </a:t>
            </a:r>
            <a:r>
              <a:rPr lang="en-US" altLang="en-US" sz="1700" i="1" dirty="0"/>
              <a:t>section </a:t>
            </a:r>
            <a:r>
              <a:rPr lang="en-US" altLang="en-US" sz="1700" dirty="0"/>
              <a:t>schema already contains the attributes that would appear in the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schema</a:t>
            </a:r>
          </a:p>
          <a:p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A0563-BF23-32AD-3308-C25F0858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27" y="3175938"/>
            <a:ext cx="6820491" cy="182895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0A76AC4-F330-4D11-A19E-B6BCAEE76B9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Extended E-R Features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249226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08D798C-4676-4394-951D-313370757CC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8089"/>
            <a:ext cx="7674314" cy="3924744"/>
          </a:xfrm>
        </p:spPr>
        <p:txBody>
          <a:bodyPr/>
          <a:lstStyle/>
          <a:p>
            <a:r>
              <a:rPr lang="en-US" altLang="en-US" sz="1700" dirty="0"/>
              <a:t>Top-down design process; we designate sub-groupings within an entity set that are distinctive from other entities in the set.</a:t>
            </a:r>
          </a:p>
          <a:p>
            <a:r>
              <a:rPr lang="en-US" altLang="en-US" sz="1700" dirty="0"/>
              <a:t>These sub-groupings become lower-level entity sets that have attributes or participate in relationships that do not apply to the higher-level entity set.</a:t>
            </a:r>
          </a:p>
          <a:p>
            <a:r>
              <a:rPr lang="en-US" altLang="en-US" sz="1700" dirty="0"/>
              <a:t>Depicted by a </a:t>
            </a:r>
            <a:r>
              <a:rPr lang="en-US" altLang="en-US" sz="1700" i="1" dirty="0"/>
              <a:t>triangle</a:t>
            </a:r>
            <a:r>
              <a:rPr lang="en-US" altLang="en-US" sz="1700" dirty="0"/>
              <a:t> component labeled ISA (e.g.,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“is a” </a:t>
            </a:r>
            <a:r>
              <a:rPr lang="en-US" altLang="en-US" sz="1700" i="1" dirty="0"/>
              <a:t>person</a:t>
            </a:r>
            <a:r>
              <a:rPr lang="en-US" altLang="en-US" sz="1700" dirty="0"/>
              <a:t>).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Attribute inheritance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a lower-level entity set inherits all the attributes and relationship participation of the higher-level entity set to which it is linked.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37074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F89BDF-93E5-44B2-AF99-B53F9EA76A6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 Example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993775"/>
            <a:ext cx="7692898" cy="1240952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Overlapping</a:t>
            </a:r>
            <a:r>
              <a:rPr lang="en-US" altLang="en-US" sz="1700" dirty="0"/>
              <a:t> – </a:t>
            </a:r>
            <a:r>
              <a:rPr lang="en-US" altLang="en-US" sz="1700" i="1" dirty="0"/>
              <a:t>employee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student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Disjoint</a:t>
            </a:r>
            <a:r>
              <a:rPr lang="en-US" altLang="en-US" sz="1700" dirty="0"/>
              <a:t> –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secretary</a:t>
            </a:r>
          </a:p>
          <a:p>
            <a:r>
              <a:rPr lang="en-US" altLang="en-US" sz="1700" dirty="0"/>
              <a:t>Total and partial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F3536-A890-497F-97EC-7CB9E8371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52" y="2234727"/>
            <a:ext cx="3496612" cy="36134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2F44F6-BC2E-9C4A-90B0-EEBDBF267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422" y="2213489"/>
            <a:ext cx="2019475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381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477ECB-1B1D-4830-A530-CDBFA91473C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8038" y="492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via Schemas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60" y="1157289"/>
            <a:ext cx="7507195" cy="4499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/>
              <a:t>Method 1: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the higher-level entity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each lower-level entity set, include primary key of higher-level entity set and local attributes</a:t>
            </a:r>
          </a:p>
          <a:p>
            <a:pPr marL="457200" lvl="1" indent="0">
              <a:buSzPct val="110000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br>
              <a:rPr lang="en-US" altLang="en-US" sz="1700" dirty="0">
                <a:ea typeface="ＭＳ Ｐゴシック" panose="020B0600070205080204" pitchFamily="34" charset="-128"/>
              </a:rPr>
            </a:br>
            <a:br>
              <a:rPr lang="en-US" altLang="en-US" sz="1700" dirty="0">
                <a:ea typeface="ＭＳ Ｐゴシック" panose="020B0600070205080204" pitchFamily="34" charset="-128"/>
              </a:rPr>
            </a:b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marL="457200" lvl="1" indent="0"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Drawback:  getting information about,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employee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requires accessing two relations, the one corresponding to the low-level schema and the one corresponding to the high-level schema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37" y="2621661"/>
            <a:ext cx="3633407" cy="126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551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D3AA66-3572-4BFF-962D-40C8BC68FF8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6027" y="96901"/>
            <a:ext cx="8942773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as Schemas (Cont.)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3480" y="1148763"/>
            <a:ext cx="7392969" cy="39729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/>
              <a:t>Method 2: 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each entity set with all local and inherited attributes</a:t>
            </a: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Drawback: 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name, street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city</a:t>
            </a:r>
            <a:r>
              <a:rPr lang="en-US" altLang="en-US" sz="1700" dirty="0">
                <a:ea typeface="ＭＳ Ｐゴシック" panose="020B0600070205080204" pitchFamily="34" charset="-128"/>
              </a:rPr>
              <a:t> may be stored redundantly for people who are both students and employees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83" y="2212449"/>
            <a:ext cx="4451033" cy="12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147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7603E-9E27-4651-BDF9-F99DC2BE23A6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Generalization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68400"/>
            <a:ext cx="7541149" cy="2674938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A bottom-up design process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combine a number of entity sets that share the same features into a higher-level entity set.</a:t>
            </a:r>
          </a:p>
          <a:p>
            <a:r>
              <a:rPr lang="en-US" altLang="en-US" sz="1700" dirty="0"/>
              <a:t>Specialization and generalization are simple inversions of each other; they are represented in an E-R diagram in the same way.</a:t>
            </a:r>
          </a:p>
          <a:p>
            <a:r>
              <a:rPr lang="en-US" altLang="en-US" sz="1700" dirty="0"/>
              <a:t>The terms specialization and generalization are used interchangeably.</a:t>
            </a:r>
          </a:p>
        </p:txBody>
      </p:sp>
    </p:spTree>
    <p:extLst>
      <p:ext uri="{BB962C8B-B14F-4D97-AF65-F5344CB8AC3E}">
        <p14:creationId xmlns:p14="http://schemas.microsoft.com/office/powerpoint/2010/main" val="7256679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E5D142-6198-48DE-9A8C-0A4EBCEB4A3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883" y="1187451"/>
            <a:ext cx="7471591" cy="3165094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Completeness constraint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-- specifies whether or not an entity in the higher-level entity set must belong to at least one of the lower-level entity sets within a generalization.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total</a:t>
            </a:r>
            <a:r>
              <a:rPr lang="en-US" altLang="en-US" sz="1700" dirty="0">
                <a:ea typeface="ＭＳ Ｐゴシック" panose="020B0600070205080204" pitchFamily="34" charset="-128"/>
              </a:rPr>
              <a:t>: an entity must belong to one of the lower-level entity sets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partial</a:t>
            </a:r>
            <a:r>
              <a:rPr lang="en-US" altLang="en-US" sz="1700" dirty="0">
                <a:ea typeface="ＭＳ Ｐゴシック" panose="020B0600070205080204" pitchFamily="34" charset="-128"/>
              </a:rPr>
              <a:t>: an entity need not belong to one of the lower-level entity sets</a:t>
            </a:r>
          </a:p>
          <a:p>
            <a:pPr marL="0" indent="0">
              <a:buNone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186976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44043F-A027-4FC0-ABC7-723F0ED4AB87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75" y="52388"/>
            <a:ext cx="6726238" cy="6223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710215" y="1071563"/>
            <a:ext cx="7679184" cy="100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Consider the ternary relationship </a:t>
            </a:r>
            <a:r>
              <a:rPr kumimoji="1" lang="en-US" altLang="en-US" sz="1700" i="1" dirty="0" err="1"/>
              <a:t>proj_guide</a:t>
            </a:r>
            <a:r>
              <a:rPr kumimoji="1" lang="en-US" altLang="en-US" sz="1700" dirty="0"/>
              <a:t>, which we saw earlier</a:t>
            </a:r>
          </a:p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Suppose we want to record evaluations of a student by a guide on a project</a:t>
            </a:r>
          </a:p>
        </p:txBody>
      </p:sp>
      <p:pic>
        <p:nvPicPr>
          <p:cNvPr id="66564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896" y="2201769"/>
            <a:ext cx="4140454" cy="32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4882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E20832C-B96D-4B75-BA34-D9E99EE91A3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84275"/>
            <a:ext cx="7677723" cy="3760587"/>
          </a:xfrm>
        </p:spPr>
        <p:txBody>
          <a:bodyPr/>
          <a:lstStyle/>
          <a:p>
            <a:r>
              <a:rPr lang="en-US" altLang="en-US" sz="1700" dirty="0"/>
              <a:t>Relationship sets </a:t>
            </a:r>
            <a:r>
              <a:rPr lang="en-US" altLang="en-US" sz="1700" i="1" dirty="0" err="1"/>
              <a:t>eval_for</a:t>
            </a:r>
            <a:r>
              <a:rPr lang="en-US" altLang="en-US" sz="1700" i="1" dirty="0"/>
              <a:t> </a:t>
            </a:r>
            <a:r>
              <a:rPr lang="en-US" altLang="en-US" sz="1700" dirty="0"/>
              <a:t>and </a:t>
            </a:r>
            <a:r>
              <a:rPr lang="en-US" altLang="en-US" sz="1700" i="1" dirty="0" err="1"/>
              <a:t>proj_guide</a:t>
            </a:r>
            <a:r>
              <a:rPr lang="en-US" altLang="en-US" sz="1700" dirty="0"/>
              <a:t> represent overlapping information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Every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eval_for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 corresponds to a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However, some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relationships may not correspond to any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eval_for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relationships 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So we can’t discard the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</a:t>
            </a:r>
          </a:p>
          <a:p>
            <a:r>
              <a:rPr lang="en-US" altLang="en-US" sz="1700" dirty="0"/>
              <a:t>Eliminate this redundancy via </a:t>
            </a:r>
            <a:r>
              <a:rPr lang="en-US" altLang="en-US" sz="1700" i="1" dirty="0"/>
              <a:t>aggregation</a:t>
            </a:r>
            <a:endParaRPr lang="en-US" altLang="en-US" sz="1700" dirty="0"/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Treat relationship as an abstract entity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Allows relationships between relationships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Abstraction of relationship into new entity</a:t>
            </a:r>
          </a:p>
        </p:txBody>
      </p:sp>
    </p:spTree>
    <p:extLst>
      <p:ext uri="{BB962C8B-B14F-4D97-AF65-F5344CB8AC3E}">
        <p14:creationId xmlns:p14="http://schemas.microsoft.com/office/powerpoint/2010/main" val="25069988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B140C94-6C41-4365-BD45-45ADE443FAB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7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1" y="1106488"/>
            <a:ext cx="7647680" cy="17732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Eliminate this redundancy via </a:t>
            </a:r>
            <a:r>
              <a:rPr lang="en-US" altLang="en-US" sz="1700" i="1" dirty="0"/>
              <a:t>aggregation</a:t>
            </a:r>
            <a:r>
              <a:rPr lang="en-US" altLang="en-US" sz="1700" dirty="0"/>
              <a:t> without introducing redundancy, the following diagram represents: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A student is guided by a particular instructor on a particular project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A student, instructor, project combination may have an associated evaluation</a:t>
            </a:r>
          </a:p>
        </p:txBody>
      </p:sp>
      <p:pic>
        <p:nvPicPr>
          <p:cNvPr id="68612" name="Picture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392" y="2837298"/>
            <a:ext cx="3677389" cy="295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104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8962555-0291-4727-B566-F7E227EEC3E4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-180975"/>
            <a:ext cx="8131175" cy="865188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Relational Schemas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222375"/>
            <a:ext cx="482708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kumimoji="1" lang="en-US" altLang="en-US" sz="1700" dirty="0">
                <a:ea typeface="ＭＳ Ｐゴシック" charset="-128"/>
              </a:rPr>
              <a:t>To represent aggregation, create a schema containing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Primary key of the aggregated relationship,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The primary key of the associated entity set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Any descriptive attributes</a:t>
            </a:r>
          </a:p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kumimoji="1" lang="en-US" altLang="en-US" sz="1700" dirty="0">
                <a:ea typeface="ＭＳ Ｐゴシック" charset="-128"/>
              </a:rPr>
              <a:t>In our example: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The schema </a:t>
            </a:r>
            <a:r>
              <a:rPr kumimoji="1" lang="en-US" altLang="en-US" sz="1700" i="1" dirty="0" err="1">
                <a:ea typeface="ＭＳ Ｐゴシック" charset="-128"/>
              </a:rPr>
              <a:t>eval_for</a:t>
            </a:r>
            <a:r>
              <a:rPr kumimoji="1" lang="en-US" altLang="en-US" sz="1700" i="1" dirty="0">
                <a:ea typeface="ＭＳ Ｐゴシック" charset="-128"/>
              </a:rPr>
              <a:t> </a:t>
            </a:r>
            <a:r>
              <a:rPr kumimoji="1" lang="en-US" altLang="en-US" sz="1700" dirty="0">
                <a:ea typeface="ＭＳ Ｐゴシック" charset="-128"/>
              </a:rPr>
              <a:t>is: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defRPr/>
            </a:pPr>
            <a:r>
              <a:rPr kumimoji="1" lang="en-US" altLang="en-US" sz="1700" dirty="0">
                <a:ea typeface="ＭＳ Ｐゴシック" charset="-128"/>
              </a:rPr>
              <a:t>	       </a:t>
            </a:r>
            <a:r>
              <a:rPr kumimoji="1" lang="en-US" altLang="en-US" sz="1700" i="1" dirty="0" err="1">
                <a:ea typeface="ＭＳ Ｐゴシック" charset="-128"/>
              </a:rPr>
              <a:t>eval_for</a:t>
            </a:r>
            <a:r>
              <a:rPr kumimoji="1" lang="en-US" altLang="en-US" sz="1700" i="1" dirty="0">
                <a:ea typeface="ＭＳ Ｐゴシック" charset="-128"/>
              </a:rPr>
              <a:t> </a:t>
            </a:r>
            <a:r>
              <a:rPr kumimoji="1" lang="en-US" altLang="en-US" sz="1700" dirty="0">
                <a:ea typeface="ＭＳ Ｐゴシック" charset="-128"/>
              </a:rPr>
              <a:t>(</a:t>
            </a:r>
            <a:r>
              <a:rPr kumimoji="1" lang="en-US" altLang="en-US" sz="1700" i="1" dirty="0" err="1">
                <a:ea typeface="ＭＳ Ｐゴシック" charset="-128"/>
              </a:rPr>
              <a:t>s_ID</a:t>
            </a:r>
            <a:r>
              <a:rPr kumimoji="1" lang="en-US" altLang="en-US" sz="1700" i="1" dirty="0">
                <a:ea typeface="ＭＳ Ｐゴシック" charset="-128"/>
              </a:rPr>
              <a:t>, </a:t>
            </a:r>
            <a:r>
              <a:rPr kumimoji="1" lang="en-US" altLang="en-US" sz="1700" i="1" dirty="0" err="1">
                <a:ea typeface="ＭＳ Ｐゴシック" charset="-128"/>
              </a:rPr>
              <a:t>project_id</a:t>
            </a:r>
            <a:r>
              <a:rPr kumimoji="1" lang="en-US" altLang="en-US" sz="1700" i="1" dirty="0">
                <a:ea typeface="ＭＳ Ｐゴシック" charset="-128"/>
              </a:rPr>
              <a:t>, </a:t>
            </a:r>
            <a:r>
              <a:rPr kumimoji="1" lang="en-US" altLang="en-US" sz="1700" i="1" dirty="0" err="1">
                <a:ea typeface="ＭＳ Ｐゴシック" charset="-128"/>
              </a:rPr>
              <a:t>i_ID</a:t>
            </a:r>
            <a:r>
              <a:rPr kumimoji="1" lang="en-US" altLang="en-US" sz="1700" i="1" dirty="0">
                <a:ea typeface="ＭＳ Ｐゴシック" charset="-128"/>
              </a:rPr>
              <a:t>, </a:t>
            </a:r>
            <a:r>
              <a:rPr kumimoji="1" lang="en-US" altLang="en-US" sz="1700" i="1" dirty="0" err="1">
                <a:ea typeface="ＭＳ Ｐゴシック" charset="-128"/>
              </a:rPr>
              <a:t>evaluation_id</a:t>
            </a:r>
            <a:r>
              <a:rPr kumimoji="1" lang="en-US" altLang="en-US" sz="1700" dirty="0">
                <a:ea typeface="ＭＳ Ｐゴシック" charset="-128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82D09-1A48-91D9-B45C-8210EEC6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050" y="1368890"/>
            <a:ext cx="2770270" cy="274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61833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121726</TotalTime>
  <Words>3785</Words>
  <Application>Microsoft Office PowerPoint</Application>
  <PresentationFormat>On-screen Show (4:3)</PresentationFormat>
  <Paragraphs>396</Paragraphs>
  <Slides>66</Slides>
  <Notes>63</Notes>
  <HiddenSlides>4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  <vt:variant>
        <vt:lpstr>Custom Shows</vt:lpstr>
      </vt:variant>
      <vt:variant>
        <vt:i4>1</vt:i4>
      </vt:variant>
    </vt:vector>
  </HeadingPairs>
  <TitlesOfParts>
    <vt:vector size="75" baseType="lpstr">
      <vt:lpstr>ＭＳ Ｐゴシック</vt:lpstr>
      <vt:lpstr>Arial</vt:lpstr>
      <vt:lpstr>Helvetica</vt:lpstr>
      <vt:lpstr>Monotype Sorts</vt:lpstr>
      <vt:lpstr>Symbol</vt:lpstr>
      <vt:lpstr>Times New Roman</vt:lpstr>
      <vt:lpstr>Wingdings</vt:lpstr>
      <vt:lpstr>2_db-5-grey</vt:lpstr>
      <vt:lpstr>Chapter 6: Database Design Using the E-R Model</vt:lpstr>
      <vt:lpstr>Outline</vt:lpstr>
      <vt:lpstr>Outline</vt:lpstr>
      <vt:lpstr>Design Phases</vt:lpstr>
      <vt:lpstr>Design Phases (Cont.)</vt:lpstr>
      <vt:lpstr>Design Phases (Cont.)</vt:lpstr>
      <vt:lpstr>Design Alternatives</vt:lpstr>
      <vt:lpstr>Design Approaches</vt:lpstr>
      <vt:lpstr>Outline of the ER Model</vt:lpstr>
      <vt:lpstr>ER model -- Database Modeling</vt:lpstr>
      <vt:lpstr>Entity Sets</vt:lpstr>
      <vt:lpstr>PowerPoint Presentation</vt:lpstr>
      <vt:lpstr>Entity Sets -- instructor and student</vt:lpstr>
      <vt:lpstr>Representing Entity sets in ER Diagram</vt:lpstr>
      <vt:lpstr>Relationship Sets</vt:lpstr>
      <vt:lpstr>Relationship Sets (Cont.)</vt:lpstr>
      <vt:lpstr>Representing Relationship  Sets via ER Diagrams </vt:lpstr>
      <vt:lpstr>Relationship Sets (Cont.)</vt:lpstr>
      <vt:lpstr>Relationship Sets with Attributes</vt:lpstr>
      <vt:lpstr>Roles</vt:lpstr>
      <vt:lpstr>PowerPoint Presentation</vt:lpstr>
      <vt:lpstr>Degree of a Relationship Set</vt:lpstr>
      <vt:lpstr>Non-binary Relationship Sets</vt:lpstr>
      <vt:lpstr>Complex Attributes</vt:lpstr>
      <vt:lpstr>Composite Attributes</vt:lpstr>
      <vt:lpstr>Representing Complex Attributes  in ER Diagram</vt:lpstr>
      <vt:lpstr>Mapping Cardinality Constraints</vt:lpstr>
      <vt:lpstr>Mapping Cardinalities</vt:lpstr>
      <vt:lpstr>Mapping Cardinalities </vt:lpstr>
      <vt:lpstr>Representing Cardinality Constraints in ER Diagram</vt:lpstr>
      <vt:lpstr>One-to-Many Relationship</vt:lpstr>
      <vt:lpstr>Many-to-One Relationships</vt:lpstr>
      <vt:lpstr>Many-to-Many Relationship</vt:lpstr>
      <vt:lpstr>Total and Partial Participation</vt:lpstr>
      <vt:lpstr>Notation for Expressing More Complex Constraints</vt:lpstr>
      <vt:lpstr>Primary Key</vt:lpstr>
      <vt:lpstr>Primary key for Entity Sets</vt:lpstr>
      <vt:lpstr>Primary Key for Relationship Sets</vt:lpstr>
      <vt:lpstr>Choice of Primary key for Binary Relationship</vt:lpstr>
      <vt:lpstr>Weak Entity Sets</vt:lpstr>
      <vt:lpstr>Weak Entity Sets (Cont.)</vt:lpstr>
      <vt:lpstr>Weak Entity Sets (Cont.)</vt:lpstr>
      <vt:lpstr>Expressing Weak Entity Sets</vt:lpstr>
      <vt:lpstr>Redundant Attributes</vt:lpstr>
      <vt:lpstr>E-R Diagram for a University Enterprise</vt:lpstr>
      <vt:lpstr>Reduction to Relation Schemas</vt:lpstr>
      <vt:lpstr>Reduction to Relation Schemas</vt:lpstr>
      <vt:lpstr>Representing Entity Sets</vt:lpstr>
      <vt:lpstr>Representation of Entity Sets with Composite Attributes</vt:lpstr>
      <vt:lpstr>Representation of Entity Sets with Multivalued Attributes</vt:lpstr>
      <vt:lpstr>Representing Relationship Sets</vt:lpstr>
      <vt:lpstr>Redundancy of Schemas</vt:lpstr>
      <vt:lpstr>PowerPoint Presentation</vt:lpstr>
      <vt:lpstr>Redundancy of Schemas (Cont.)</vt:lpstr>
      <vt:lpstr>Redundancy of Schemas (Cont.)</vt:lpstr>
      <vt:lpstr>Extended E-R Features</vt:lpstr>
      <vt:lpstr>Specialization</vt:lpstr>
      <vt:lpstr>Specialization Example</vt:lpstr>
      <vt:lpstr>Representing Specialization via Schemas</vt:lpstr>
      <vt:lpstr>Representing Specialization as Schemas (Cont.)</vt:lpstr>
      <vt:lpstr>Generalization</vt:lpstr>
      <vt:lpstr>Completeness constraint</vt:lpstr>
      <vt:lpstr>Aggregation</vt:lpstr>
      <vt:lpstr>Aggregation (Cont.)</vt:lpstr>
      <vt:lpstr>Aggregation (Cont.)</vt:lpstr>
      <vt:lpstr>Reduction to Relational Schemas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Shiraz Khurana</cp:lastModifiedBy>
  <cp:revision>512</cp:revision>
  <cp:lastPrinted>1999-06-28T19:27:31Z</cp:lastPrinted>
  <dcterms:created xsi:type="dcterms:W3CDTF">2009-12-21T15:40:22Z</dcterms:created>
  <dcterms:modified xsi:type="dcterms:W3CDTF">2026-08-31T05:39:40Z</dcterms:modified>
</cp:coreProperties>
</file>